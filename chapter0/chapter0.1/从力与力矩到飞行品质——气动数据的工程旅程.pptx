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71" r:id="rId3"/>
    <p:sldId id="270" r:id="rId4"/>
    <p:sldId id="257" r:id="rId5"/>
    <p:sldId id="260" r:id="rId6"/>
    <p:sldId id="263" r:id="rId7"/>
    <p:sldId id="261" r:id="rId8"/>
    <p:sldId id="264" r:id="rId9"/>
    <p:sldId id="267" r:id="rId10"/>
    <p:sldId id="268" r:id="rId11"/>
    <p:sldId id="272" r:id="rId12"/>
    <p:sldId id="269" r:id="rId1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070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37164" autoAdjust="0"/>
  </p:normalViewPr>
  <p:slideViewPr>
    <p:cSldViewPr snapToGrid="0">
      <p:cViewPr>
        <p:scale>
          <a:sx n="66" d="100"/>
          <a:sy n="66" d="100"/>
        </p:scale>
        <p:origin x="3336" y="-138"/>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98061A-F1F4-4125-873B-5D2340B7D694}" type="datetimeFigureOut">
              <a:rPr lang="zh-CN" altLang="en-US" smtClean="0"/>
              <a:t>2026/5/5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41D428-2BB2-487D-81A7-DE2436DBCA3D}" type="slidenum">
              <a:rPr lang="zh-CN" altLang="en-US" smtClean="0"/>
              <a:t>‹#›</a:t>
            </a:fld>
            <a:endParaRPr lang="zh-CN" altLang="en-US"/>
          </a:p>
        </p:txBody>
      </p:sp>
    </p:spTree>
    <p:extLst>
      <p:ext uri="{BB962C8B-B14F-4D97-AF65-F5344CB8AC3E}">
        <p14:creationId xmlns:p14="http://schemas.microsoft.com/office/powerpoint/2010/main" val="24386285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kern="1200" dirty="0">
                <a:solidFill>
                  <a:schemeClr val="tx1"/>
                </a:solidFill>
                <a:effectLst/>
                <a:latin typeface="+mn-lt"/>
                <a:ea typeface="+mn-ea"/>
                <a:cs typeface="+mn-cs"/>
              </a:rPr>
              <a:t>大家好，欢迎来到</a:t>
            </a:r>
            <a:r>
              <a:rPr lang="en-US" altLang="zh-CN" sz="1200" b="0"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从“零”开始的气动仿真工程师</a:t>
            </a:r>
            <a:r>
              <a:rPr lang="en-US" altLang="zh-CN" sz="1200" b="0"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系列教程。</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我是酸沙柠檬。</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从这一节开始，我会从工程应用的角度出发，系统地分享飞行器气动仿真的基本方法和工程分析思路。</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今天是这个系列的</a:t>
            </a:r>
            <a:r>
              <a:rPr lang="zh-CN" altLang="en-US" sz="1200" b="0" kern="1200">
                <a:solidFill>
                  <a:schemeClr val="tx1"/>
                </a:solidFill>
                <a:effectLst/>
                <a:latin typeface="+mn-lt"/>
                <a:ea typeface="+mn-ea"/>
                <a:cs typeface="+mn-cs"/>
              </a:rPr>
              <a:t>第一节</a:t>
            </a:r>
            <a:endParaRPr lang="zh-CN" altLang="en-US" dirty="0"/>
          </a:p>
        </p:txBody>
      </p:sp>
      <p:sp>
        <p:nvSpPr>
          <p:cNvPr id="4" name="灯片编号占位符 3"/>
          <p:cNvSpPr>
            <a:spLocks noGrp="1"/>
          </p:cNvSpPr>
          <p:nvPr>
            <p:ph type="sldNum" sz="quarter" idx="5"/>
          </p:nvPr>
        </p:nvSpPr>
        <p:spPr/>
        <p:txBody>
          <a:bodyPr/>
          <a:lstStyle/>
          <a:p>
            <a:fld id="{5041D428-2BB2-487D-81A7-DE2436DBCA3D}" type="slidenum">
              <a:rPr lang="zh-CN" altLang="en-US" smtClean="0"/>
              <a:t>1</a:t>
            </a:fld>
            <a:endParaRPr lang="zh-CN" altLang="en-US"/>
          </a:p>
        </p:txBody>
      </p:sp>
    </p:spTree>
    <p:extLst>
      <p:ext uri="{BB962C8B-B14F-4D97-AF65-F5344CB8AC3E}">
        <p14:creationId xmlns:p14="http://schemas.microsoft.com/office/powerpoint/2010/main" val="9907853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A7ED5-BEAC-CAA9-DEFD-8F7197AB036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DE38211-9A2C-86D2-98DB-0D1DEBBCC5A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9925649-950A-E220-A241-B7B6D663A7C4}"/>
              </a:ext>
            </a:extLst>
          </p:cNvPr>
          <p:cNvSpPr>
            <a:spLocks noGrp="1"/>
          </p:cNvSpPr>
          <p:nvPr>
            <p:ph type="body" idx="1"/>
          </p:nvPr>
        </p:nvSpPr>
        <p:spPr/>
        <p:txBody>
          <a:bodyPr/>
          <a:lstStyle/>
          <a:p>
            <a:r>
              <a:rPr lang="zh-CN" altLang="en-US" sz="1200" b="0" kern="1200" dirty="0">
                <a:solidFill>
                  <a:schemeClr val="tx1"/>
                </a:solidFill>
                <a:effectLst/>
                <a:latin typeface="+mn-lt"/>
                <a:ea typeface="+mn-ea"/>
                <a:cs typeface="+mn-cs"/>
              </a:rPr>
              <a:t>在开始之前，先简单介绍一下我自己。</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我是酸沙柠檬，西北工业大学飞行器设计专业硕士毕业，目前在国内某 </a:t>
            </a:r>
            <a:r>
              <a:rPr lang="en-US" altLang="zh-CN" sz="1200" b="0" kern="1200" dirty="0">
                <a:solidFill>
                  <a:schemeClr val="tx1"/>
                </a:solidFill>
                <a:effectLst/>
                <a:latin typeface="+mn-lt"/>
                <a:ea typeface="+mn-ea"/>
                <a:cs typeface="+mn-cs"/>
              </a:rPr>
              <a:t>eVTOL </a:t>
            </a:r>
            <a:r>
              <a:rPr lang="zh-CN" altLang="en-US" sz="1200" b="0" kern="1200" dirty="0">
                <a:solidFill>
                  <a:schemeClr val="tx1"/>
                </a:solidFill>
                <a:effectLst/>
                <a:latin typeface="+mn-lt"/>
                <a:ea typeface="+mn-ea"/>
                <a:cs typeface="+mn-cs"/>
              </a:rPr>
              <a:t>公司从事飞行器设计与载荷分析相关工作。</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到目前为止，我大概有五年的飞行器设计与气动仿真经验。</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主要做过的方向包括：</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固定翼无人机总体设计与气动分析、变体飞行器及各类飞行器空投仿真、流致噪声分析，以及一些工程型号中的气动载荷评估工作。</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FE5F96AB-BD11-DB25-EBBE-B41F316C8EB2}"/>
              </a:ext>
            </a:extLst>
          </p:cNvPr>
          <p:cNvSpPr>
            <a:spLocks noGrp="1"/>
          </p:cNvSpPr>
          <p:nvPr>
            <p:ph type="sldNum" sz="quarter" idx="5"/>
          </p:nvPr>
        </p:nvSpPr>
        <p:spPr/>
        <p:txBody>
          <a:bodyPr/>
          <a:lstStyle/>
          <a:p>
            <a:fld id="{B3D1E3EC-79D5-41CA-809C-A24D088FFF9A}" type="slidenum">
              <a:rPr lang="zh-CN" altLang="en-US" smtClean="0"/>
              <a:t>2</a:t>
            </a:fld>
            <a:endParaRPr lang="zh-CN" altLang="en-US"/>
          </a:p>
        </p:txBody>
      </p:sp>
    </p:spTree>
    <p:extLst>
      <p:ext uri="{BB962C8B-B14F-4D97-AF65-F5344CB8AC3E}">
        <p14:creationId xmlns:p14="http://schemas.microsoft.com/office/powerpoint/2010/main" val="40649295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kern="1200" dirty="0">
                <a:solidFill>
                  <a:schemeClr val="tx1"/>
                </a:solidFill>
                <a:effectLst/>
                <a:latin typeface="+mn-lt"/>
                <a:ea typeface="+mn-ea"/>
                <a:cs typeface="+mn-cs"/>
              </a:rPr>
              <a:t>这个教程大致会分成几个部分。</a:t>
            </a:r>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第一部分，我们会介绍飞行器本体气动性能的评估。  </a:t>
            </a:r>
          </a:p>
          <a:p>
            <a:r>
              <a:rPr lang="zh-CN" altLang="en-US" sz="1200" b="0" kern="1200" dirty="0">
                <a:solidFill>
                  <a:schemeClr val="tx1"/>
                </a:solidFill>
                <a:effectLst/>
                <a:latin typeface="+mn-lt"/>
                <a:ea typeface="+mn-ea"/>
                <a:cs typeface="+mn-cs"/>
              </a:rPr>
              <a:t>也就是不偏舵状态下飞行器的升力、阻力、力矩这些最基础、最重要的气动数据如何获得，如何分析。</a:t>
            </a:r>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第二部分，我们会介绍飞行器操纵效能。  </a:t>
            </a:r>
          </a:p>
          <a:p>
            <a:r>
              <a:rPr lang="zh-CN" altLang="en-US" sz="1200" b="0" kern="1200" dirty="0">
                <a:solidFill>
                  <a:schemeClr val="tx1"/>
                </a:solidFill>
                <a:effectLst/>
                <a:latin typeface="+mn-lt"/>
                <a:ea typeface="+mn-ea"/>
                <a:cs typeface="+mn-cs"/>
              </a:rPr>
              <a:t>比如升降舵、方向舵、副翼偏转之后，飞行器力和力矩会发生什么变化，以及这些变化如何反映飞行器的操纵能力。</a:t>
            </a:r>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第三部分，我们会进入飞行器动稳定性分析。  </a:t>
            </a:r>
          </a:p>
          <a:p>
            <a:r>
              <a:rPr lang="zh-CN" altLang="en-US" sz="1200" b="0" kern="1200" dirty="0">
                <a:solidFill>
                  <a:schemeClr val="tx1"/>
                </a:solidFill>
                <a:effectLst/>
                <a:latin typeface="+mn-lt"/>
                <a:ea typeface="+mn-ea"/>
                <a:cs typeface="+mn-cs"/>
              </a:rPr>
              <a:t>这里会涉及动导数、阻尼导数等内容，它们对飞行品质、控制律设计和飞行动力学建模都非常重要。</a:t>
            </a:r>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第四部分，我们会讨论飞行器动力系统相关的气动问题。  </a:t>
            </a:r>
          </a:p>
          <a:p>
            <a:r>
              <a:rPr lang="zh-CN" altLang="en-US" sz="1200" b="0" kern="1200" dirty="0">
                <a:solidFill>
                  <a:schemeClr val="tx1"/>
                </a:solidFill>
                <a:effectLst/>
                <a:latin typeface="+mn-lt"/>
                <a:ea typeface="+mn-ea"/>
                <a:cs typeface="+mn-cs"/>
              </a:rPr>
              <a:t>比如螺旋桨滑流、旋翼</a:t>
            </a:r>
            <a:r>
              <a:rPr lang="en-US" altLang="zh-CN" sz="1200" b="0"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机翼耦合，以及动力系统对全机气动性能的影响。</a:t>
            </a:r>
          </a:p>
          <a:p>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这个教程主要面向几类同学：</a:t>
            </a:r>
          </a:p>
          <a:p>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航空航天相关专业的本科生、研究生，以及刚进入行业的气动仿真工程师。当然，如果你只是对飞行器和 </a:t>
            </a:r>
            <a:r>
              <a:rPr lang="en-US" altLang="zh-CN" sz="1200" b="0" kern="1200" dirty="0">
                <a:solidFill>
                  <a:schemeClr val="tx1"/>
                </a:solidFill>
                <a:effectLst/>
                <a:latin typeface="+mn-lt"/>
                <a:ea typeface="+mn-ea"/>
                <a:cs typeface="+mn-cs"/>
              </a:rPr>
              <a:t>CFD </a:t>
            </a:r>
            <a:r>
              <a:rPr lang="zh-CN" altLang="en-US" sz="1200" b="0" kern="1200" dirty="0">
                <a:solidFill>
                  <a:schemeClr val="tx1"/>
                </a:solidFill>
                <a:effectLst/>
                <a:latin typeface="+mn-lt"/>
                <a:ea typeface="+mn-ea"/>
                <a:cs typeface="+mn-cs"/>
              </a:rPr>
              <a:t>感兴趣，也非常欢迎一起学习。</a:t>
            </a:r>
          </a:p>
          <a:p>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本教程需要的前置主要包括两个方面：</a:t>
            </a:r>
          </a:p>
          <a:p>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基本的空气动力学知识和一点点 </a:t>
            </a:r>
            <a:r>
              <a:rPr lang="en-US" altLang="zh-CN" sz="1200" b="0" kern="1200" dirty="0">
                <a:solidFill>
                  <a:schemeClr val="tx1"/>
                </a:solidFill>
                <a:effectLst/>
                <a:latin typeface="+mn-lt"/>
                <a:ea typeface="+mn-ea"/>
                <a:cs typeface="+mn-cs"/>
              </a:rPr>
              <a:t>CFD </a:t>
            </a:r>
            <a:r>
              <a:rPr lang="zh-CN" altLang="en-US" sz="1200" b="0" kern="1200" dirty="0">
                <a:solidFill>
                  <a:schemeClr val="tx1"/>
                </a:solidFill>
                <a:effectLst/>
                <a:latin typeface="+mn-lt"/>
                <a:ea typeface="+mn-ea"/>
                <a:cs typeface="+mn-cs"/>
              </a:rPr>
              <a:t>基础。</a:t>
            </a:r>
          </a:p>
          <a:p>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不过需要提前说明的是，本系列课程不会重点讲网格绘制和网格质量评估。因为网格生成本身就是一个很大的专题，如果展开讲，会占用大量篇幅。</a:t>
            </a:r>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在后续案例中，我会尽量公开演示用的模型、网格、算例配置，以及可对比的计算结果。这样大家可以把重点放在气动仿真的工程逻辑、数据分析和结果解读上。</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B3D1E3EC-79D5-41CA-809C-A24D088FFF9A}" type="slidenum">
              <a:rPr lang="zh-CN" altLang="en-US" smtClean="0"/>
              <a:t>3</a:t>
            </a:fld>
            <a:endParaRPr lang="zh-CN" altLang="en-US"/>
          </a:p>
        </p:txBody>
      </p:sp>
    </p:spTree>
    <p:extLst>
      <p:ext uri="{BB962C8B-B14F-4D97-AF65-F5344CB8AC3E}">
        <p14:creationId xmlns:p14="http://schemas.microsoft.com/office/powerpoint/2010/main" val="27028359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kern="1200" dirty="0">
                <a:solidFill>
                  <a:schemeClr val="tx1"/>
                </a:solidFill>
                <a:effectLst/>
                <a:latin typeface="+mn-lt"/>
                <a:ea typeface="+mn-ea"/>
                <a:cs typeface="+mn-cs"/>
              </a:rPr>
              <a:t>如果你想在学习这个系列之前，补充一些空气动力学和飞行力学基础，我这里推荐几本教材和相关课程。</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空气动力学方面，推荐的是这本最经典的空气动力学基础，是一本英文教材。</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飞行力学方面，推荐的是这本稳定性与控制，他有对应的中文翻译版。</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如果直接啃英文教材有困难，也可以配合一些公开视频课程一起学习。</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好了，闲话少说，我们进入今天的正题。</a:t>
            </a:r>
          </a:p>
          <a:p>
            <a:endParaRPr lang="zh-CN" altLang="en-US" dirty="0"/>
          </a:p>
        </p:txBody>
      </p:sp>
      <p:sp>
        <p:nvSpPr>
          <p:cNvPr id="4" name="灯片编号占位符 3"/>
          <p:cNvSpPr>
            <a:spLocks noGrp="1"/>
          </p:cNvSpPr>
          <p:nvPr>
            <p:ph type="sldNum" sz="quarter" idx="5"/>
          </p:nvPr>
        </p:nvSpPr>
        <p:spPr/>
        <p:txBody>
          <a:bodyPr/>
          <a:lstStyle/>
          <a:p>
            <a:fld id="{5041D428-2BB2-487D-81A7-DE2436DBCA3D}" type="slidenum">
              <a:rPr lang="zh-CN" altLang="en-US" smtClean="0"/>
              <a:t>4</a:t>
            </a:fld>
            <a:endParaRPr lang="zh-CN" altLang="en-US"/>
          </a:p>
        </p:txBody>
      </p:sp>
    </p:spTree>
    <p:extLst>
      <p:ext uri="{BB962C8B-B14F-4D97-AF65-F5344CB8AC3E}">
        <p14:creationId xmlns:p14="http://schemas.microsoft.com/office/powerpoint/2010/main" val="16152954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kern="1200" dirty="0">
                <a:solidFill>
                  <a:schemeClr val="tx1"/>
                </a:solidFill>
                <a:effectLst/>
                <a:latin typeface="+mn-lt"/>
                <a:ea typeface="+mn-ea"/>
                <a:cs typeface="+mn-cs"/>
              </a:rPr>
              <a:t>从牛顿、欧拉，到普朗特，再到现代 </a:t>
            </a:r>
            <a:r>
              <a:rPr lang="en-US" altLang="zh-CN" sz="1200" b="0" kern="1200" dirty="0">
                <a:solidFill>
                  <a:schemeClr val="tx1"/>
                </a:solidFill>
                <a:effectLst/>
                <a:latin typeface="+mn-lt"/>
                <a:ea typeface="+mn-ea"/>
                <a:cs typeface="+mn-cs"/>
              </a:rPr>
              <a:t>CFD</a:t>
            </a:r>
            <a:r>
              <a:rPr lang="zh-CN" altLang="en-US" sz="1200" b="0" kern="1200" dirty="0">
                <a:solidFill>
                  <a:schemeClr val="tx1"/>
                </a:solidFill>
                <a:effectLst/>
                <a:latin typeface="+mn-lt"/>
                <a:ea typeface="+mn-ea"/>
                <a:cs typeface="+mn-cs"/>
              </a:rPr>
              <a:t>，人类花了几百年的时间，才逐渐建立起描述流体运动和计算飞行器受力的方法。</a:t>
            </a:r>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即便到了今天，我们想相对准确地计算一架飞行器的升力、阻力和力矩，往往需要使用高性能工作站，进行数小时甚至更长时间的计算。</a:t>
            </a:r>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那么</a:t>
            </a:r>
            <a:r>
              <a:rPr lang="zh-CN" altLang="en-US" sz="1200" b="1" kern="1200" dirty="0">
                <a:solidFill>
                  <a:schemeClr val="tx1"/>
                </a:solidFill>
                <a:effectLst/>
                <a:latin typeface="+mn-lt"/>
                <a:ea typeface="+mn-ea"/>
                <a:cs typeface="+mn-cs"/>
              </a:rPr>
              <a:t>我们为什么要花这么大的代价去计算飞机的升力、阻力和力矩？</a:t>
            </a:r>
            <a:r>
              <a:rPr lang="zh-CN" altLang="en-US" sz="1200" b="0" kern="1200" dirty="0">
                <a:solidFill>
                  <a:schemeClr val="tx1"/>
                </a:solidFill>
                <a:effectLst/>
                <a:latin typeface="+mn-lt"/>
                <a:ea typeface="+mn-ea"/>
                <a:cs typeface="+mn-cs"/>
              </a:rPr>
              <a:t>知道这些数据之后，又能做什么？</a:t>
            </a:r>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这是很多刚开始接触气动仿真的同学都会遇到的问题。如果只是看一张云图、看一个压力分布，可能会觉得 </a:t>
            </a:r>
            <a:r>
              <a:rPr lang="en-US" altLang="zh-CN" sz="1200" b="0" kern="1200" dirty="0">
                <a:solidFill>
                  <a:schemeClr val="tx1"/>
                </a:solidFill>
                <a:effectLst/>
                <a:latin typeface="+mn-lt"/>
                <a:ea typeface="+mn-ea"/>
                <a:cs typeface="+mn-cs"/>
              </a:rPr>
              <a:t>CFD </a:t>
            </a:r>
            <a:r>
              <a:rPr lang="zh-CN" altLang="en-US" sz="1200" b="0" kern="1200" dirty="0">
                <a:solidFill>
                  <a:schemeClr val="tx1"/>
                </a:solidFill>
                <a:effectLst/>
                <a:latin typeface="+mn-lt"/>
                <a:ea typeface="+mn-ea"/>
                <a:cs typeface="+mn-cs"/>
              </a:rPr>
              <a:t>很酷；但是在工程上，仿真结果不能只停留在“好看”这个层面。</a:t>
            </a:r>
          </a:p>
          <a:p>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我们真正关心的是：</a:t>
            </a:r>
          </a:p>
          <a:p>
            <a:r>
              <a:rPr lang="zh-CN" altLang="en-US" sz="1200" b="0" kern="1200" dirty="0">
                <a:solidFill>
                  <a:schemeClr val="tx1"/>
                </a:solidFill>
                <a:effectLst/>
                <a:latin typeface="+mn-lt"/>
                <a:ea typeface="+mn-ea"/>
                <a:cs typeface="+mn-cs"/>
              </a:rPr>
              <a:t>这些力和力矩，如何影响飞行器的飞行性能？  </a:t>
            </a:r>
          </a:p>
          <a:p>
            <a:r>
              <a:rPr lang="zh-CN" altLang="en-US" sz="1200" b="0" kern="1200" dirty="0">
                <a:solidFill>
                  <a:schemeClr val="tx1"/>
                </a:solidFill>
                <a:effectLst/>
                <a:latin typeface="+mn-lt"/>
                <a:ea typeface="+mn-ea"/>
                <a:cs typeface="+mn-cs"/>
              </a:rPr>
              <a:t>如何影响飞机能不能飞稳、飞远、飞快？  </a:t>
            </a:r>
          </a:p>
          <a:p>
            <a:r>
              <a:rPr lang="zh-CN" altLang="en-US" sz="1200" b="0" kern="1200" dirty="0">
                <a:solidFill>
                  <a:schemeClr val="tx1"/>
                </a:solidFill>
                <a:effectLst/>
                <a:latin typeface="+mn-lt"/>
                <a:ea typeface="+mn-ea"/>
                <a:cs typeface="+mn-cs"/>
              </a:rPr>
              <a:t>如何影响舵面是否能控制飞机？  </a:t>
            </a:r>
          </a:p>
          <a:p>
            <a:r>
              <a:rPr lang="zh-CN" altLang="en-US" sz="1200" b="0" kern="1200" dirty="0">
                <a:solidFill>
                  <a:schemeClr val="tx1"/>
                </a:solidFill>
                <a:effectLst/>
                <a:latin typeface="+mn-lt"/>
                <a:ea typeface="+mn-ea"/>
                <a:cs typeface="+mn-cs"/>
              </a:rPr>
              <a:t>如何影响后续的飞控设计、载荷分析和总体设计？</a:t>
            </a:r>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这才是气动仿真的工程价值。</a:t>
            </a:r>
          </a:p>
          <a:p>
            <a:endParaRPr lang="zh-CN" altLang="en-US" dirty="0"/>
          </a:p>
        </p:txBody>
      </p:sp>
      <p:sp>
        <p:nvSpPr>
          <p:cNvPr id="4" name="灯片编号占位符 3"/>
          <p:cNvSpPr>
            <a:spLocks noGrp="1"/>
          </p:cNvSpPr>
          <p:nvPr>
            <p:ph type="sldNum" sz="quarter" idx="5"/>
          </p:nvPr>
        </p:nvSpPr>
        <p:spPr/>
        <p:txBody>
          <a:bodyPr/>
          <a:lstStyle/>
          <a:p>
            <a:fld id="{5041D428-2BB2-487D-81A7-DE2436DBCA3D}" type="slidenum">
              <a:rPr lang="zh-CN" altLang="en-US" smtClean="0"/>
              <a:t>5</a:t>
            </a:fld>
            <a:endParaRPr lang="zh-CN" altLang="en-US"/>
          </a:p>
        </p:txBody>
      </p:sp>
    </p:spTree>
    <p:extLst>
      <p:ext uri="{BB962C8B-B14F-4D97-AF65-F5344CB8AC3E}">
        <p14:creationId xmlns:p14="http://schemas.microsoft.com/office/powerpoint/2010/main" val="38559524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kern="1200" dirty="0">
                <a:solidFill>
                  <a:schemeClr val="tx1"/>
                </a:solidFill>
                <a:effectLst/>
                <a:latin typeface="+mn-lt"/>
                <a:ea typeface="+mn-ea"/>
                <a:cs typeface="+mn-cs"/>
              </a:rPr>
              <a:t>现实中的飞行器形式非常多。</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有战斗机、运输机、民航客机、直升机，也有无人机、多旋翼和 </a:t>
            </a:r>
            <a:r>
              <a:rPr lang="en-US" altLang="zh-CN" sz="1200" b="0" kern="1200" dirty="0">
                <a:solidFill>
                  <a:schemeClr val="tx1"/>
                </a:solidFill>
                <a:effectLst/>
                <a:latin typeface="+mn-lt"/>
                <a:ea typeface="+mn-ea"/>
                <a:cs typeface="+mn-cs"/>
              </a:rPr>
              <a:t>eVTOL </a:t>
            </a:r>
            <a:r>
              <a:rPr lang="zh-CN" altLang="en-US" sz="1200" b="0" kern="1200" dirty="0">
                <a:solidFill>
                  <a:schemeClr val="tx1"/>
                </a:solidFill>
                <a:effectLst/>
                <a:latin typeface="+mn-lt"/>
                <a:ea typeface="+mn-ea"/>
                <a:cs typeface="+mn-cs"/>
              </a:rPr>
              <a:t>飞行器。</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它们的构型差异很大，飞行方式也不完全一样。</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但是从飞行动力学的角度看，在很多工程分析中，我们可以先把飞行器抽象成一个刚体。</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刚体的运动由什么决定？</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答案是：</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**作用在刚体上的合外力和合外力矩。**</a:t>
            </a:r>
            <a:endParaRPr lang="zh-CN" altLang="en-US" sz="1200" b="0" kern="1200" dirty="0">
              <a:solidFill>
                <a:schemeClr val="tx1"/>
              </a:solidFill>
              <a:effectLst/>
              <a:latin typeface="+mn-lt"/>
              <a:ea typeface="+mn-ea"/>
              <a:cs typeface="+mn-cs"/>
            </a:endParaRP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对于飞行器来说，这些外力和外力矩主要来自几个方面：</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气动力、推力、重力，以及在某些情况下的接触力或其他外部载荷。</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其中，气动力和气动力矩是飞行器在空气中运动时最核心的受力来源之一。</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举一个比较直观的例子：眼镜蛇机动。</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飞机在进行眼镜蛇机动时，会在抬头力矩的作用下快速增大迎角。随着迎角增大，飞机的迎风面积和分离流动都会显著变化，阻力迅速增加，飞行器因此快速减速。</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随后，飞机又需要通过低头力矩恢复到正常飞行姿态。</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在这个过程中，飞机是否能够抬头、抬头速度有多快、阻力能增加到什么程度、最终能不能恢复平飞，本质上都和气动力、气动力矩密切相关。</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所以，气动仿真并不是单纯为了得到几个系数，而是为了回答飞行器运动和性能问题。</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5041D428-2BB2-487D-81A7-DE2436DBCA3D}" type="slidenum">
              <a:rPr lang="zh-CN" altLang="en-US" smtClean="0"/>
              <a:t>6</a:t>
            </a:fld>
            <a:endParaRPr lang="zh-CN" altLang="en-US"/>
          </a:p>
        </p:txBody>
      </p:sp>
    </p:spTree>
    <p:extLst>
      <p:ext uri="{BB962C8B-B14F-4D97-AF65-F5344CB8AC3E}">
        <p14:creationId xmlns:p14="http://schemas.microsoft.com/office/powerpoint/2010/main" val="29022641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kern="1200" dirty="0">
                <a:solidFill>
                  <a:schemeClr val="tx1"/>
                </a:solidFill>
                <a:effectLst/>
                <a:latin typeface="+mn-lt"/>
                <a:ea typeface="+mn-ea"/>
                <a:cs typeface="+mn-cs"/>
              </a:rPr>
              <a:t>那么，气动仿真结果和飞行器性能之间到底如何联系起来呢？</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在工程上，我们可以先把飞行器性能分成三个方面来看：</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第一，</a:t>
            </a:r>
            <a:r>
              <a:rPr lang="zh-CN" altLang="en-US" sz="1200" b="1" kern="1200" dirty="0">
                <a:solidFill>
                  <a:schemeClr val="tx1"/>
                </a:solidFill>
                <a:effectLst/>
                <a:latin typeface="+mn-lt"/>
                <a:ea typeface="+mn-ea"/>
                <a:cs typeface="+mn-cs"/>
              </a:rPr>
              <a:t>**配平与稳态保持能力**</a:t>
            </a:r>
            <a:r>
              <a:rPr lang="zh-CN" altLang="en-US" sz="1200" b="0" kern="1200" dirty="0">
                <a:solidFill>
                  <a:schemeClr val="tx1"/>
                </a:solidFill>
                <a:effectLst/>
                <a:latin typeface="+mn-lt"/>
                <a:ea typeface="+mn-ea"/>
                <a:cs typeface="+mn-cs"/>
              </a:rPr>
              <a:t>。  </a:t>
            </a:r>
          </a:p>
          <a:p>
            <a:r>
              <a:rPr lang="zh-CN" altLang="en-US" sz="1200" b="0" kern="1200" dirty="0">
                <a:solidFill>
                  <a:schemeClr val="tx1"/>
                </a:solidFill>
                <a:effectLst/>
                <a:latin typeface="+mn-lt"/>
                <a:ea typeface="+mn-ea"/>
                <a:cs typeface="+mn-cs"/>
              </a:rPr>
              <a:t>也就是飞机能不能在某个速度、高度和姿态下稳定地飞行。</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第二，</a:t>
            </a:r>
            <a:r>
              <a:rPr lang="zh-CN" altLang="en-US" sz="1200" b="1" kern="1200" dirty="0">
                <a:solidFill>
                  <a:schemeClr val="tx1"/>
                </a:solidFill>
                <a:effectLst/>
                <a:latin typeface="+mn-lt"/>
                <a:ea typeface="+mn-ea"/>
                <a:cs typeface="+mn-cs"/>
              </a:rPr>
              <a:t>**操纵与机动能力**</a:t>
            </a:r>
            <a:r>
              <a:rPr lang="zh-CN" altLang="en-US" sz="1200" b="0" kern="1200" dirty="0">
                <a:solidFill>
                  <a:schemeClr val="tx1"/>
                </a:solidFill>
                <a:effectLst/>
                <a:latin typeface="+mn-lt"/>
                <a:ea typeface="+mn-ea"/>
                <a:cs typeface="+mn-cs"/>
              </a:rPr>
              <a:t>。  </a:t>
            </a:r>
          </a:p>
          <a:p>
            <a:r>
              <a:rPr lang="zh-CN" altLang="en-US" sz="1200" b="0" kern="1200" dirty="0">
                <a:solidFill>
                  <a:schemeClr val="tx1"/>
                </a:solidFill>
                <a:effectLst/>
                <a:latin typeface="+mn-lt"/>
                <a:ea typeface="+mn-ea"/>
                <a:cs typeface="+mn-cs"/>
              </a:rPr>
              <a:t>也就是飞行员或者飞控系统通过舵面、推力等控制输入，能不能有效改变飞机姿态和轨迹。</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第三，</a:t>
            </a:r>
            <a:r>
              <a:rPr lang="zh-CN" altLang="en-US" sz="1200" b="1" kern="1200" dirty="0">
                <a:solidFill>
                  <a:schemeClr val="tx1"/>
                </a:solidFill>
                <a:effectLst/>
                <a:latin typeface="+mn-lt"/>
                <a:ea typeface="+mn-ea"/>
                <a:cs typeface="+mn-cs"/>
              </a:rPr>
              <a:t>**稳定性与抗扰能力**</a:t>
            </a:r>
            <a:r>
              <a:rPr lang="zh-CN" altLang="en-US" sz="1200" b="0" kern="1200" dirty="0">
                <a:solidFill>
                  <a:schemeClr val="tx1"/>
                </a:solidFill>
                <a:effectLst/>
                <a:latin typeface="+mn-lt"/>
                <a:ea typeface="+mn-ea"/>
                <a:cs typeface="+mn-cs"/>
              </a:rPr>
              <a:t>。  </a:t>
            </a:r>
          </a:p>
          <a:p>
            <a:r>
              <a:rPr lang="zh-CN" altLang="en-US" sz="1200" b="0" kern="1200" dirty="0">
                <a:solidFill>
                  <a:schemeClr val="tx1"/>
                </a:solidFill>
                <a:effectLst/>
                <a:latin typeface="+mn-lt"/>
                <a:ea typeface="+mn-ea"/>
                <a:cs typeface="+mn-cs"/>
              </a:rPr>
              <a:t>也就是飞机受到突风、姿态扰动或者速度扰动之后，有没有恢复趋势，以及恢复过程是否可接受。</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这三个方面分别对应着气动数据中的不同内容。</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配平与稳态保持能力，主要和飞行效率、升阻比、平衡点附近的力矩特性有关。</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操纵与机动能力，主要和控制面的操纵效能有关。</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稳定性与抗扰能力，则和静稳定性、动导数以及气动阻尼等参数有关。</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接下来，我们就按照这三个方面，逐一看一下气动仿真数据在工程中是如何发挥作用的。</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5041D428-2BB2-487D-81A7-DE2436DBCA3D}" type="slidenum">
              <a:rPr lang="zh-CN" altLang="en-US" smtClean="0"/>
              <a:t>7</a:t>
            </a:fld>
            <a:endParaRPr lang="zh-CN" altLang="en-US"/>
          </a:p>
        </p:txBody>
      </p:sp>
    </p:spTree>
    <p:extLst>
      <p:ext uri="{BB962C8B-B14F-4D97-AF65-F5344CB8AC3E}">
        <p14:creationId xmlns:p14="http://schemas.microsoft.com/office/powerpoint/2010/main" val="11696330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kern="1200" dirty="0">
                <a:solidFill>
                  <a:schemeClr val="tx1"/>
                </a:solidFill>
                <a:effectLst/>
                <a:latin typeface="+mn-lt"/>
                <a:ea typeface="+mn-ea"/>
                <a:cs typeface="+mn-cs"/>
              </a:rPr>
              <a:t>首先来看第一个问题：</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**飞行器的配平与稳态保持能力。**</a:t>
            </a:r>
            <a:endParaRPr lang="zh-CN" altLang="en-US" sz="1200" b="0" kern="1200" dirty="0">
              <a:solidFill>
                <a:schemeClr val="tx1"/>
              </a:solidFill>
              <a:effectLst/>
              <a:latin typeface="+mn-lt"/>
              <a:ea typeface="+mn-ea"/>
              <a:cs typeface="+mn-cs"/>
            </a:endParaRP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所谓配平，可以简单理解为：</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在某一个飞行状态下，飞行器受到的力和力矩达到平衡，飞机能够保持这个状态持续飞行。</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对于纵向配平来说，一个非常重要的条件是俯仰力矩为零。</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现在我们看这样一组气动数据。</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图中给出了某飞行器的俯仰力矩系数、升力系数和升阻比随迎角变化的曲线。</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从俯仰力矩曲线中可以看到，在迎角大约为 </a:t>
            </a:r>
            <a:r>
              <a:rPr lang="en-US" altLang="zh-CN" sz="1200" b="0" kern="1200" dirty="0">
                <a:solidFill>
                  <a:schemeClr val="tx1"/>
                </a:solidFill>
                <a:effectLst/>
                <a:latin typeface="+mn-lt"/>
                <a:ea typeface="+mn-ea"/>
                <a:cs typeface="+mn-cs"/>
              </a:rPr>
              <a:t>0.8° </a:t>
            </a:r>
            <a:r>
              <a:rPr lang="zh-CN" altLang="en-US" sz="1200" b="0" kern="1200" dirty="0">
                <a:solidFill>
                  <a:schemeClr val="tx1"/>
                </a:solidFill>
                <a:effectLst/>
                <a:latin typeface="+mn-lt"/>
                <a:ea typeface="+mn-ea"/>
                <a:cs typeface="+mn-cs"/>
              </a:rPr>
              <a:t>时，俯仰力矩系数为零。</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这说明在当前构型和当前舵面状态下，飞机在大约 </a:t>
            </a:r>
            <a:r>
              <a:rPr lang="en-US" altLang="zh-CN" sz="1200" b="0" kern="1200" dirty="0">
                <a:solidFill>
                  <a:schemeClr val="tx1"/>
                </a:solidFill>
                <a:effectLst/>
                <a:latin typeface="+mn-lt"/>
                <a:ea typeface="+mn-ea"/>
                <a:cs typeface="+mn-cs"/>
              </a:rPr>
              <a:t>0.8° </a:t>
            </a:r>
            <a:r>
              <a:rPr lang="zh-CN" altLang="en-US" sz="1200" b="0" kern="1200" dirty="0">
                <a:solidFill>
                  <a:schemeClr val="tx1"/>
                </a:solidFill>
                <a:effectLst/>
                <a:latin typeface="+mn-lt"/>
                <a:ea typeface="+mn-ea"/>
                <a:cs typeface="+mn-cs"/>
              </a:rPr>
              <a:t>迎角附近可以实现纵向力矩平衡。</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此时，飞行器的升力系数大约为：</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a:t>
            </a:r>
            <a:r>
              <a:rPr lang="en-US" altLang="zh-CN" sz="1200" b="1" kern="1200" dirty="0">
                <a:solidFill>
                  <a:schemeClr val="tx1"/>
                </a:solidFill>
                <a:effectLst/>
                <a:latin typeface="+mn-lt"/>
                <a:ea typeface="+mn-ea"/>
                <a:cs typeface="+mn-cs"/>
              </a:rPr>
              <a:t>CL = 0.68**</a:t>
            </a:r>
            <a:endParaRPr lang="zh-CN" altLang="en-US" sz="1200" b="0" kern="1200" dirty="0">
              <a:solidFill>
                <a:schemeClr val="tx1"/>
              </a:solidFill>
              <a:effectLst/>
              <a:latin typeface="+mn-lt"/>
              <a:ea typeface="+mn-ea"/>
              <a:cs typeface="+mn-cs"/>
            </a:endParaRP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升阻比为：</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a:t>
            </a:r>
            <a:r>
              <a:rPr lang="en-US" altLang="zh-CN" sz="1200" b="1" kern="1200" dirty="0">
                <a:solidFill>
                  <a:schemeClr val="tx1"/>
                </a:solidFill>
                <a:effectLst/>
                <a:latin typeface="+mn-lt"/>
                <a:ea typeface="+mn-ea"/>
                <a:cs typeface="+mn-cs"/>
              </a:rPr>
              <a:t>K = L / D = 7.12**</a:t>
            </a:r>
            <a:endParaRPr lang="zh-CN" altLang="en-US" sz="1200" b="0" kern="1200" dirty="0">
              <a:solidFill>
                <a:schemeClr val="tx1"/>
              </a:solidFill>
              <a:effectLst/>
              <a:latin typeface="+mn-lt"/>
              <a:ea typeface="+mn-ea"/>
              <a:cs typeface="+mn-cs"/>
            </a:endParaRP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接下来，我们进一步看这个气动状态对应什么样的实际飞行能力。</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假设飞行器此时以：</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马赫数 </a:t>
            </a:r>
            <a:r>
              <a:rPr lang="en-US" altLang="zh-CN" sz="1200" b="0" kern="1200" dirty="0">
                <a:solidFill>
                  <a:schemeClr val="tx1"/>
                </a:solidFill>
                <a:effectLst/>
                <a:latin typeface="+mn-lt"/>
                <a:ea typeface="+mn-ea"/>
                <a:cs typeface="+mn-cs"/>
              </a:rPr>
              <a:t>Ma = 0.1</a:t>
            </a:r>
            <a:r>
              <a:rPr lang="zh-CN" altLang="en-US" sz="1200" b="0" kern="1200" dirty="0">
                <a:solidFill>
                  <a:schemeClr val="tx1"/>
                </a:solidFill>
                <a:effectLst/>
                <a:latin typeface="+mn-lt"/>
                <a:ea typeface="+mn-ea"/>
                <a:cs typeface="+mn-cs"/>
              </a:rPr>
              <a:t>，  </a:t>
            </a:r>
          </a:p>
          <a:p>
            <a:r>
              <a:rPr lang="zh-CN" altLang="en-US" sz="1200" b="0" kern="1200" dirty="0">
                <a:solidFill>
                  <a:schemeClr val="tx1"/>
                </a:solidFill>
                <a:effectLst/>
                <a:latin typeface="+mn-lt"/>
                <a:ea typeface="+mn-ea"/>
                <a:cs typeface="+mn-cs"/>
              </a:rPr>
              <a:t>飞行高度 </a:t>
            </a:r>
            <a:r>
              <a:rPr lang="en-US" altLang="zh-CN" sz="1200" b="0" kern="1200" dirty="0">
                <a:solidFill>
                  <a:schemeClr val="tx1"/>
                </a:solidFill>
                <a:effectLst/>
                <a:latin typeface="+mn-lt"/>
                <a:ea typeface="+mn-ea"/>
                <a:cs typeface="+mn-cs"/>
              </a:rPr>
              <a:t>H = 1.4 km</a:t>
            </a:r>
            <a:r>
              <a:rPr lang="zh-CN" altLang="en-US" sz="1200" b="0" kern="1200" dirty="0">
                <a:solidFill>
                  <a:schemeClr val="tx1"/>
                </a:solidFill>
                <a:effectLst/>
                <a:latin typeface="+mn-lt"/>
                <a:ea typeface="+mn-ea"/>
                <a:cs typeface="+mn-cs"/>
              </a:rPr>
              <a:t>，  </a:t>
            </a:r>
          </a:p>
          <a:p>
            <a:r>
              <a:rPr lang="zh-CN" altLang="en-US" sz="1200" b="0" kern="1200" dirty="0">
                <a:solidFill>
                  <a:schemeClr val="tx1"/>
                </a:solidFill>
                <a:effectLst/>
                <a:latin typeface="+mn-lt"/>
                <a:ea typeface="+mn-ea"/>
                <a:cs typeface="+mn-cs"/>
              </a:rPr>
              <a:t>参考面积 </a:t>
            </a:r>
            <a:r>
              <a:rPr lang="en-US" altLang="zh-CN" sz="1200" b="0" kern="1200" dirty="0">
                <a:solidFill>
                  <a:schemeClr val="tx1"/>
                </a:solidFill>
                <a:effectLst/>
                <a:latin typeface="+mn-lt"/>
                <a:ea typeface="+mn-ea"/>
                <a:cs typeface="+mn-cs"/>
              </a:rPr>
              <a:t>S = 4.991 m²  </a:t>
            </a:r>
          </a:p>
          <a:p>
            <a:br>
              <a:rPr lang="en-US" altLang="zh-CN" sz="1200" b="0" kern="1200" dirty="0">
                <a:solidFill>
                  <a:schemeClr val="tx1"/>
                </a:solidFill>
                <a:effectLst/>
                <a:latin typeface="+mn-lt"/>
                <a:ea typeface="+mn-ea"/>
                <a:cs typeface="+mn-cs"/>
              </a:rPr>
            </a:br>
            <a:endParaRPr lang="en-US" altLang="zh-CN"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进行飞行。</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根据标准大气条件，</a:t>
            </a:r>
            <a:r>
              <a:rPr lang="en-US" altLang="zh-CN" sz="1200" b="0" kern="1200" dirty="0">
                <a:solidFill>
                  <a:schemeClr val="tx1"/>
                </a:solidFill>
                <a:effectLst/>
                <a:latin typeface="+mn-lt"/>
                <a:ea typeface="+mn-ea"/>
                <a:cs typeface="+mn-cs"/>
              </a:rPr>
              <a:t>1.4 km </a:t>
            </a:r>
            <a:r>
              <a:rPr lang="zh-CN" altLang="en-US" sz="1200" b="0" kern="1200" dirty="0">
                <a:solidFill>
                  <a:schemeClr val="tx1"/>
                </a:solidFill>
                <a:effectLst/>
                <a:latin typeface="+mn-lt"/>
                <a:ea typeface="+mn-ea"/>
                <a:cs typeface="+mn-cs"/>
              </a:rPr>
              <a:t>高度附近的大气密度约为：</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en-US" altLang="zh-CN" sz="1200" b="0" kern="1200" dirty="0">
                <a:solidFill>
                  <a:schemeClr val="tx1"/>
                </a:solidFill>
                <a:effectLst/>
                <a:latin typeface="+mn-lt"/>
                <a:ea typeface="+mn-ea"/>
                <a:cs typeface="+mn-cs"/>
              </a:rPr>
              <a:t>ρ = 1.069 kg/m³</a:t>
            </a:r>
          </a:p>
          <a:p>
            <a:br>
              <a:rPr lang="en-US" altLang="zh-CN" sz="1200" b="0" kern="1200" dirty="0">
                <a:solidFill>
                  <a:schemeClr val="tx1"/>
                </a:solidFill>
                <a:effectLst/>
                <a:latin typeface="+mn-lt"/>
                <a:ea typeface="+mn-ea"/>
                <a:cs typeface="+mn-cs"/>
              </a:rPr>
            </a:br>
            <a:endParaRPr lang="en-US" altLang="zh-CN"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声速约为：</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en-US" altLang="zh-CN" sz="1200" b="0" kern="1200" dirty="0">
                <a:solidFill>
                  <a:schemeClr val="tx1"/>
                </a:solidFill>
                <a:effectLst/>
                <a:latin typeface="+mn-lt"/>
                <a:ea typeface="+mn-ea"/>
                <a:cs typeface="+mn-cs"/>
              </a:rPr>
              <a:t>a = 334.879 m/s</a:t>
            </a:r>
          </a:p>
          <a:p>
            <a:br>
              <a:rPr lang="en-US" altLang="zh-CN" sz="1200" b="0" kern="1200" dirty="0">
                <a:solidFill>
                  <a:schemeClr val="tx1"/>
                </a:solidFill>
                <a:effectLst/>
                <a:latin typeface="+mn-lt"/>
                <a:ea typeface="+mn-ea"/>
                <a:cs typeface="+mn-cs"/>
              </a:rPr>
            </a:br>
            <a:endParaRPr lang="en-US" altLang="zh-CN"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因此飞行速度为：</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en-US" altLang="zh-CN" sz="1200" b="0" kern="1200" dirty="0">
                <a:solidFill>
                  <a:schemeClr val="tx1"/>
                </a:solidFill>
                <a:effectLst/>
                <a:latin typeface="+mn-lt"/>
                <a:ea typeface="+mn-ea"/>
                <a:cs typeface="+mn-cs"/>
              </a:rPr>
              <a:t>V = Ma × a = 33.488 m/s</a:t>
            </a:r>
          </a:p>
          <a:p>
            <a:br>
              <a:rPr lang="en-US" altLang="zh-CN" sz="1200" b="0" kern="1200" dirty="0">
                <a:solidFill>
                  <a:schemeClr val="tx1"/>
                </a:solidFill>
                <a:effectLst/>
                <a:latin typeface="+mn-lt"/>
                <a:ea typeface="+mn-ea"/>
                <a:cs typeface="+mn-cs"/>
              </a:rPr>
            </a:br>
            <a:endParaRPr lang="en-US" altLang="zh-CN"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此时升力可以通过公式计算：</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en-US" altLang="zh-CN" sz="1200" b="0" kern="1200" dirty="0">
                <a:solidFill>
                  <a:schemeClr val="tx1"/>
                </a:solidFill>
                <a:effectLst/>
                <a:latin typeface="+mn-lt"/>
                <a:ea typeface="+mn-ea"/>
                <a:cs typeface="+mn-cs"/>
              </a:rPr>
              <a:t>L = 1/2 · ρ · V² · S · CL</a:t>
            </a:r>
          </a:p>
          <a:p>
            <a:br>
              <a:rPr lang="en-US" altLang="zh-CN" sz="1200" b="0" kern="1200" dirty="0">
                <a:solidFill>
                  <a:schemeClr val="tx1"/>
                </a:solidFill>
                <a:effectLst/>
                <a:latin typeface="+mn-lt"/>
                <a:ea typeface="+mn-ea"/>
                <a:cs typeface="+mn-cs"/>
              </a:rPr>
            </a:br>
            <a:endParaRPr lang="en-US" altLang="zh-CN"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代入这些参数之后，可以得到升力大约为：</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a:t>
            </a:r>
            <a:r>
              <a:rPr lang="en-US" altLang="zh-CN" sz="1200" b="1" kern="1200" dirty="0">
                <a:solidFill>
                  <a:schemeClr val="tx1"/>
                </a:solidFill>
                <a:effectLst/>
                <a:latin typeface="+mn-lt"/>
                <a:ea typeface="+mn-ea"/>
                <a:cs typeface="+mn-cs"/>
              </a:rPr>
              <a:t>L ≈ 2034 N**</a:t>
            </a:r>
            <a:endParaRPr lang="zh-CN" altLang="en-US" sz="1200" b="0" kern="1200" dirty="0">
              <a:solidFill>
                <a:schemeClr val="tx1"/>
              </a:solidFill>
              <a:effectLst/>
              <a:latin typeface="+mn-lt"/>
              <a:ea typeface="+mn-ea"/>
              <a:cs typeface="+mn-cs"/>
            </a:endParaRP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如果飞机在这个状态下进行平飞，那么升力应当等于重量。</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也就是说，在这个速度、高度和迎角条件下，这架飞行器能够平衡的重量大约就是 </a:t>
            </a:r>
            <a:r>
              <a:rPr lang="en-US" altLang="zh-CN" sz="1200" b="0" kern="1200" dirty="0">
                <a:solidFill>
                  <a:schemeClr val="tx1"/>
                </a:solidFill>
                <a:effectLst/>
                <a:latin typeface="+mn-lt"/>
                <a:ea typeface="+mn-ea"/>
                <a:cs typeface="+mn-cs"/>
              </a:rPr>
              <a:t>2034 N</a:t>
            </a:r>
            <a:r>
              <a:rPr lang="zh-CN" altLang="en-US" sz="1200" b="0" kern="1200" dirty="0">
                <a:solidFill>
                  <a:schemeClr val="tx1"/>
                </a:solidFill>
                <a:effectLst/>
                <a:latin typeface="+mn-lt"/>
                <a:ea typeface="+mn-ea"/>
                <a:cs typeface="+mn-cs"/>
              </a:rPr>
              <a:t>。</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如果实际重量明显大于这个数值，那么在不改变速度、迎角或推力状态的情况下，升力不足，飞行器就会有下降趋势。</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随着高度降低，空气密度增加，在其他条件相近的情况下，升力会增大，直到再次达到新的平衡。</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反过来，如果飞行器重量减小，而仍然保持类似速度和气动状态，升力相对偏大，飞机就会有上升趋势。</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我们平时乘坐民航客机时，经常会发现飞机进入巡航后并不是一直保持完全固定的高度，而是可能进行阶段性的爬升。一个重要原因就是燃油不断消耗，飞机重量减小，为了保持更优的巡航效率，飞机会逐步调整到新的飞行高度。</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这说明什么？</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说明气动仿真提供的升力系数、阻力系数、升阻比，并不是孤立的数字，而是会直接进入飞行力学和飞行性能计算。</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比如在实际工程中，飞行器的配平点计算是一个非常基础但非常重要的问题。</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后续的控制律设计、性能计算、载荷计算，往往都要建立在配平状态的基础上。</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在工程软件中，比如 </a:t>
            </a:r>
            <a:r>
              <a:rPr lang="en-US" altLang="zh-CN" sz="1200" b="0" kern="1200" dirty="0">
                <a:solidFill>
                  <a:schemeClr val="tx1"/>
                </a:solidFill>
                <a:effectLst/>
                <a:latin typeface="+mn-lt"/>
                <a:ea typeface="+mn-ea"/>
                <a:cs typeface="+mn-cs"/>
              </a:rPr>
              <a:t>MATLAB</a:t>
            </a:r>
            <a:r>
              <a:rPr lang="zh-CN" altLang="en-US" sz="1200" b="0" kern="1200" dirty="0">
                <a:solidFill>
                  <a:schemeClr val="tx1"/>
                </a:solidFill>
                <a:effectLst/>
                <a:latin typeface="+mn-lt"/>
                <a:ea typeface="+mn-ea"/>
                <a:cs typeface="+mn-cs"/>
              </a:rPr>
              <a:t>，可以使用 </a:t>
            </a:r>
            <a:r>
              <a:rPr lang="en-US" altLang="zh-CN" sz="1200" b="0" kern="1200" dirty="0" err="1">
                <a:solidFill>
                  <a:schemeClr val="tx1"/>
                </a:solidFill>
                <a:effectLst/>
                <a:latin typeface="+mn-lt"/>
                <a:ea typeface="+mn-ea"/>
                <a:cs typeface="+mn-cs"/>
              </a:rPr>
              <a:t>findop</a:t>
            </a:r>
            <a:r>
              <a:rPr lang="en-US" altLang="zh-CN" sz="1200" b="0" kern="1200" dirty="0">
                <a:solidFill>
                  <a:schemeClr val="tx1"/>
                </a:solidFill>
                <a:effectLst/>
                <a:latin typeface="+mn-lt"/>
                <a:ea typeface="+mn-ea"/>
                <a:cs typeface="+mn-cs"/>
              </a:rPr>
              <a:t> </a:t>
            </a:r>
            <a:r>
              <a:rPr lang="zh-CN" altLang="en-US" sz="1200" b="0" kern="1200" dirty="0">
                <a:solidFill>
                  <a:schemeClr val="tx1"/>
                </a:solidFill>
                <a:effectLst/>
                <a:latin typeface="+mn-lt"/>
                <a:ea typeface="+mn-ea"/>
                <a:cs typeface="+mn-cs"/>
              </a:rPr>
              <a:t>等工具进行配平点搜索。</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继续看这个例子。</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在配平点附近，我们知道升阻比为 </a:t>
            </a:r>
            <a:r>
              <a:rPr lang="en-US" altLang="zh-CN" sz="1200" b="0" kern="1200" dirty="0">
                <a:solidFill>
                  <a:schemeClr val="tx1"/>
                </a:solidFill>
                <a:effectLst/>
                <a:latin typeface="+mn-lt"/>
                <a:ea typeface="+mn-ea"/>
                <a:cs typeface="+mn-cs"/>
              </a:rPr>
              <a:t>7.12</a:t>
            </a:r>
            <a:r>
              <a:rPr lang="zh-CN" altLang="en-US" sz="1200" b="0" kern="1200" dirty="0">
                <a:solidFill>
                  <a:schemeClr val="tx1"/>
                </a:solidFill>
                <a:effectLst/>
                <a:latin typeface="+mn-lt"/>
                <a:ea typeface="+mn-ea"/>
                <a:cs typeface="+mn-cs"/>
              </a:rPr>
              <a:t>。</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如果再结合动力系统参数，比如燃油消耗率，就可以利用布雷盖航程公式对最大航程进行估算。</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假设这架飞行器携带 </a:t>
            </a:r>
            <a:r>
              <a:rPr lang="en-US" altLang="zh-CN" sz="1200" b="0" kern="1200" dirty="0">
                <a:solidFill>
                  <a:schemeClr val="tx1"/>
                </a:solidFill>
                <a:effectLst/>
                <a:latin typeface="+mn-lt"/>
                <a:ea typeface="+mn-ea"/>
                <a:cs typeface="+mn-cs"/>
              </a:rPr>
              <a:t>10% </a:t>
            </a:r>
            <a:r>
              <a:rPr lang="zh-CN" altLang="en-US" sz="1200" b="0" kern="1200" dirty="0">
                <a:solidFill>
                  <a:schemeClr val="tx1"/>
                </a:solidFill>
                <a:effectLst/>
                <a:latin typeface="+mn-lt"/>
                <a:ea typeface="+mn-ea"/>
                <a:cs typeface="+mn-cs"/>
              </a:rPr>
              <a:t>燃油，燃油消耗率按照 </a:t>
            </a:r>
            <a:r>
              <a:rPr lang="en-US" altLang="zh-CN" sz="1200" b="0" kern="1200" dirty="0">
                <a:solidFill>
                  <a:schemeClr val="tx1"/>
                </a:solidFill>
                <a:effectLst/>
                <a:latin typeface="+mn-lt"/>
                <a:ea typeface="+mn-ea"/>
                <a:cs typeface="+mn-cs"/>
              </a:rPr>
              <a:t>0.12 kg/(</a:t>
            </a:r>
            <a:r>
              <a:rPr lang="en-US" altLang="zh-CN" sz="1200" b="0" kern="1200" dirty="0" err="1">
                <a:solidFill>
                  <a:schemeClr val="tx1"/>
                </a:solidFill>
                <a:effectLst/>
                <a:latin typeface="+mn-lt"/>
                <a:ea typeface="+mn-ea"/>
                <a:cs typeface="+mn-cs"/>
              </a:rPr>
              <a:t>N·h</a:t>
            </a:r>
            <a:r>
              <a:rPr lang="en-US" altLang="zh-CN" sz="1200" b="0" kern="1200" dirty="0">
                <a:solidFill>
                  <a:schemeClr val="tx1"/>
                </a:solidFill>
                <a:effectLst/>
                <a:latin typeface="+mn-lt"/>
                <a:ea typeface="+mn-ea"/>
                <a:cs typeface="+mn-cs"/>
              </a:rPr>
              <a:t>) </a:t>
            </a:r>
            <a:r>
              <a:rPr lang="zh-CN" altLang="en-US" sz="1200" b="0" kern="1200" dirty="0">
                <a:solidFill>
                  <a:schemeClr val="tx1"/>
                </a:solidFill>
                <a:effectLst/>
                <a:latin typeface="+mn-lt"/>
                <a:ea typeface="+mn-ea"/>
                <a:cs typeface="+mn-cs"/>
              </a:rPr>
              <a:t>估算，那么可以得到最大航程约为：</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a:t>
            </a:r>
            <a:r>
              <a:rPr lang="en-US" altLang="zh-CN" sz="1200" b="1" kern="1200" dirty="0">
                <a:solidFill>
                  <a:schemeClr val="tx1"/>
                </a:solidFill>
                <a:effectLst/>
                <a:latin typeface="+mn-lt"/>
                <a:ea typeface="+mn-ea"/>
                <a:cs typeface="+mn-cs"/>
              </a:rPr>
              <a:t>76.8 km**</a:t>
            </a:r>
            <a:endParaRPr lang="zh-CN" altLang="en-US" sz="1200" b="0" kern="1200" dirty="0">
              <a:solidFill>
                <a:schemeClr val="tx1"/>
              </a:solidFill>
              <a:effectLst/>
              <a:latin typeface="+mn-lt"/>
              <a:ea typeface="+mn-ea"/>
              <a:cs typeface="+mn-cs"/>
            </a:endParaRP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当然，这里只是一个简化估算，目的是说明：</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气动仿真给出的升阻比，可以进一步转化为航程、续航时间等飞行性能指标。</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说到布雷盖航程公式，我想补充一个工程上的小例子。</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熟悉飞行力学的同学应该知道，布雷盖航程公式中出现的对数项，本质上来自燃油飞机在飞行过程中质量不断减小，对质量微元积分后得到的结果。</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也就是说，这个公式背后有它适用的物理前提。</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如果我们面对的是纯电飞机，或者质量在飞行过程中变化不明显的飞行器，就不能简单照搬燃油飞机的分析思路。</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之前我就遇到过类似情况：有同事按照传统燃油飞机控制系统设计的思路，要求我们提供巡航阶段的爬升率。但对于某些非燃油飞行器来说，这个问题本身就不成立。</a:t>
            </a:r>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这个例子想说明的是：</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工程中不能只会套公式，更要理解公式背后的物理含义和适用范围。</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这也是我们做气动仿真和飞行性能分析时非常重要的一点。</a:t>
            </a:r>
          </a:p>
          <a:p>
            <a:endParaRPr lang="zh-CN" altLang="en-US" dirty="0"/>
          </a:p>
        </p:txBody>
      </p:sp>
      <p:sp>
        <p:nvSpPr>
          <p:cNvPr id="4" name="灯片编号占位符 3"/>
          <p:cNvSpPr>
            <a:spLocks noGrp="1"/>
          </p:cNvSpPr>
          <p:nvPr>
            <p:ph type="sldNum" sz="quarter" idx="5"/>
          </p:nvPr>
        </p:nvSpPr>
        <p:spPr/>
        <p:txBody>
          <a:bodyPr/>
          <a:lstStyle/>
          <a:p>
            <a:fld id="{5041D428-2BB2-487D-81A7-DE2436DBCA3D}" type="slidenum">
              <a:rPr lang="zh-CN" altLang="en-US" smtClean="0"/>
              <a:t>8</a:t>
            </a:fld>
            <a:endParaRPr lang="zh-CN" altLang="en-US"/>
          </a:p>
        </p:txBody>
      </p:sp>
    </p:spTree>
    <p:extLst>
      <p:ext uri="{BB962C8B-B14F-4D97-AF65-F5344CB8AC3E}">
        <p14:creationId xmlns:p14="http://schemas.microsoft.com/office/powerpoint/2010/main" val="17884966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kern="1200" dirty="0">
                <a:solidFill>
                  <a:schemeClr val="tx1"/>
                </a:solidFill>
                <a:effectLst/>
                <a:latin typeface="+mn-lt"/>
                <a:ea typeface="+mn-ea"/>
                <a:cs typeface="+mn-cs"/>
              </a:rPr>
              <a:t>接下来，我们看第二个方面：</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**飞行器的操纵与机动能力。**</a:t>
            </a:r>
            <a:endParaRPr lang="zh-CN" altLang="en-US" sz="1200" b="0" kern="1200" dirty="0">
              <a:solidFill>
                <a:schemeClr val="tx1"/>
              </a:solidFill>
              <a:effectLst/>
              <a:latin typeface="+mn-lt"/>
              <a:ea typeface="+mn-ea"/>
              <a:cs typeface="+mn-cs"/>
            </a:endParaRP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如果说配平回答的是“飞机能不能在某个状态下稳定飞”，那么操纵性回答的就是：</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**飞机能不能按照我们的意图改变飞行状态。**</a:t>
            </a:r>
            <a:endParaRPr lang="zh-CN" altLang="en-US" sz="1200" b="0" kern="1200" dirty="0">
              <a:solidFill>
                <a:schemeClr val="tx1"/>
              </a:solidFill>
              <a:effectLst/>
              <a:latin typeface="+mn-lt"/>
              <a:ea typeface="+mn-ea"/>
              <a:cs typeface="+mn-cs"/>
            </a:endParaRP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比如能不能抬头、低头，能不能滚转，能不能偏航，能不能快速进入机动动作。</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飞行器的主要操纵方向通常包括三个：</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俯仰、滚转和偏航。</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对应的典型操纵面包括：</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用于控制俯仰的升降舵，或者鸭式布局中的鸭翼；  </a:t>
            </a:r>
          </a:p>
          <a:p>
            <a:r>
              <a:rPr lang="zh-CN" altLang="en-US" sz="1200" b="0" kern="1200" dirty="0">
                <a:solidFill>
                  <a:schemeClr val="tx1"/>
                </a:solidFill>
                <a:effectLst/>
                <a:latin typeface="+mn-lt"/>
                <a:ea typeface="+mn-ea"/>
                <a:cs typeface="+mn-cs"/>
              </a:rPr>
              <a:t>用于控制偏航的方向舵，或者全动垂尾；  </a:t>
            </a:r>
          </a:p>
          <a:p>
            <a:r>
              <a:rPr lang="zh-CN" altLang="en-US" sz="1200" b="0" kern="1200" dirty="0">
                <a:solidFill>
                  <a:schemeClr val="tx1"/>
                </a:solidFill>
                <a:effectLst/>
                <a:latin typeface="+mn-lt"/>
                <a:ea typeface="+mn-ea"/>
                <a:cs typeface="+mn-cs"/>
              </a:rPr>
              <a:t>用于控制滚转的副翼；  </a:t>
            </a:r>
          </a:p>
          <a:p>
            <a:r>
              <a:rPr lang="zh-CN" altLang="en-US" sz="1200" b="0" kern="1200" dirty="0">
                <a:solidFill>
                  <a:schemeClr val="tx1"/>
                </a:solidFill>
                <a:effectLst/>
                <a:latin typeface="+mn-lt"/>
                <a:ea typeface="+mn-ea"/>
                <a:cs typeface="+mn-cs"/>
              </a:rPr>
              <a:t>此外还有前缘缝翼、襟翼等增升装置，以及减速板等辅助操纵面。</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这里我们以类似现代战斗机的构型为例，简单认识一下这些主要舵面。</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需要说明的是，这里主要是为了说明舵面功能和工程分析方法，并不讨论具体型号的真实气动特性。</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那么，舵面为什么能控制飞机？</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本质上是因为：</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**舵面偏转改变了局部流场和压力分布，从而改变了气动力；而这些气动力由于作用点远离飞机质心，会产生相应的控制力矩。**</a:t>
            </a:r>
            <a:endParaRPr lang="zh-CN" altLang="en-US" sz="1200" b="0" kern="1200" dirty="0">
              <a:solidFill>
                <a:schemeClr val="tx1"/>
              </a:solidFill>
              <a:effectLst/>
              <a:latin typeface="+mn-lt"/>
              <a:ea typeface="+mn-ea"/>
              <a:cs typeface="+mn-cs"/>
            </a:endParaRP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比如升降舵偏转后，会改变尾部或者控制面区域的气动力。由于这个力通常距离飞机重心较远，所以哪怕力的增量不是特别大，也可能产生较大的俯仰力矩。</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这就是舵面操纵的基本原理。</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接下来我们看一个具体例子。</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图中给出了某型飞行器在不同升降舵偏角下，俯仰力矩系数随迎角变化的曲线。</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当舵面偏角为 </a:t>
            </a:r>
            <a:r>
              <a:rPr lang="en-US" altLang="zh-CN" sz="1200" b="0" kern="1200" dirty="0">
                <a:solidFill>
                  <a:schemeClr val="tx1"/>
                </a:solidFill>
                <a:effectLst/>
                <a:latin typeface="+mn-lt"/>
                <a:ea typeface="+mn-ea"/>
                <a:cs typeface="+mn-cs"/>
              </a:rPr>
              <a:t>0° </a:t>
            </a:r>
            <a:r>
              <a:rPr lang="zh-CN" altLang="en-US" sz="1200" b="0" kern="1200" dirty="0">
                <a:solidFill>
                  <a:schemeClr val="tx1"/>
                </a:solidFill>
                <a:effectLst/>
                <a:latin typeface="+mn-lt"/>
                <a:ea typeface="+mn-ea"/>
                <a:cs typeface="+mn-cs"/>
              </a:rPr>
              <a:t>时，飞行器的平衡迎角大约为：</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a:t>
            </a:r>
            <a:r>
              <a:rPr lang="en-US" altLang="zh-CN" sz="1200" b="1" kern="1200" dirty="0">
                <a:solidFill>
                  <a:schemeClr val="tx1"/>
                </a:solidFill>
                <a:effectLst/>
                <a:latin typeface="+mn-lt"/>
                <a:ea typeface="+mn-ea"/>
                <a:cs typeface="+mn-cs"/>
              </a:rPr>
              <a:t>3.4°**</a:t>
            </a:r>
            <a:endParaRPr lang="zh-CN" altLang="en-US" sz="1200" b="0" kern="1200" dirty="0">
              <a:solidFill>
                <a:schemeClr val="tx1"/>
              </a:solidFill>
              <a:effectLst/>
              <a:latin typeface="+mn-lt"/>
              <a:ea typeface="+mn-ea"/>
              <a:cs typeface="+mn-cs"/>
            </a:endParaRP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也就是说，此时在 </a:t>
            </a:r>
            <a:r>
              <a:rPr lang="en-US" altLang="zh-CN" sz="1200" b="0" kern="1200" dirty="0">
                <a:solidFill>
                  <a:schemeClr val="tx1"/>
                </a:solidFill>
                <a:effectLst/>
                <a:latin typeface="+mn-lt"/>
                <a:ea typeface="+mn-ea"/>
                <a:cs typeface="+mn-cs"/>
              </a:rPr>
              <a:t>3.4° </a:t>
            </a:r>
            <a:r>
              <a:rPr lang="zh-CN" altLang="en-US" sz="1200" b="0" kern="1200" dirty="0">
                <a:solidFill>
                  <a:schemeClr val="tx1"/>
                </a:solidFill>
                <a:effectLst/>
                <a:latin typeface="+mn-lt"/>
                <a:ea typeface="+mn-ea"/>
                <a:cs typeface="+mn-cs"/>
              </a:rPr>
              <a:t>迎角附近，俯仰力矩为零，飞机可以实现纵向力矩平衡。</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当升降舵下偏 </a:t>
            </a:r>
            <a:r>
              <a:rPr lang="en-US" altLang="zh-CN" sz="1200" b="0" kern="1200" dirty="0">
                <a:solidFill>
                  <a:schemeClr val="tx1"/>
                </a:solidFill>
                <a:effectLst/>
                <a:latin typeface="+mn-lt"/>
                <a:ea typeface="+mn-ea"/>
                <a:cs typeface="+mn-cs"/>
              </a:rPr>
              <a:t>10° </a:t>
            </a:r>
            <a:r>
              <a:rPr lang="zh-CN" altLang="en-US" sz="1200" b="0" kern="1200" dirty="0">
                <a:solidFill>
                  <a:schemeClr val="tx1"/>
                </a:solidFill>
                <a:effectLst/>
                <a:latin typeface="+mn-lt"/>
                <a:ea typeface="+mn-ea"/>
                <a:cs typeface="+mn-cs"/>
              </a:rPr>
              <a:t>时，俯仰力矩曲线整体发生移动，新的平衡迎角变为：</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a:t>
            </a:r>
            <a:r>
              <a:rPr lang="en-US" altLang="zh-CN" sz="1200" b="1" kern="1200" dirty="0">
                <a:solidFill>
                  <a:schemeClr val="tx1"/>
                </a:solidFill>
                <a:effectLst/>
                <a:latin typeface="+mn-lt"/>
                <a:ea typeface="+mn-ea"/>
                <a:cs typeface="+mn-cs"/>
              </a:rPr>
              <a:t>1.6°**</a:t>
            </a:r>
            <a:endParaRPr lang="zh-CN" altLang="en-US" sz="1200" b="0" kern="1200" dirty="0">
              <a:solidFill>
                <a:schemeClr val="tx1"/>
              </a:solidFill>
              <a:effectLst/>
              <a:latin typeface="+mn-lt"/>
              <a:ea typeface="+mn-ea"/>
              <a:cs typeface="+mn-cs"/>
            </a:endParaRP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也就是说，舵面偏转改变了飞机的配平迎角。</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为了表征舵面对飞机姿态的影响能力，我们可以定义一个简单的工程参数，叫做：</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**操纵比。**</a:t>
            </a:r>
            <a:endParaRPr lang="zh-CN" altLang="en-US" sz="1200" b="0" kern="1200" dirty="0">
              <a:solidFill>
                <a:schemeClr val="tx1"/>
              </a:solidFill>
              <a:effectLst/>
              <a:latin typeface="+mn-lt"/>
              <a:ea typeface="+mn-ea"/>
              <a:cs typeface="+mn-cs"/>
            </a:endParaRP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这里的操纵比可以理解为：</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在稳态配平条件下，单位舵偏角能够带来的平衡迎角变化。</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从力矩平衡条件出发，有：</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en-US" altLang="zh-CN" sz="1200" b="0" kern="1200" dirty="0" err="1">
                <a:solidFill>
                  <a:schemeClr val="tx1"/>
                </a:solidFill>
                <a:effectLst/>
                <a:latin typeface="+mn-lt"/>
                <a:ea typeface="+mn-ea"/>
                <a:cs typeface="+mn-cs"/>
              </a:rPr>
              <a:t>dCm</a:t>
            </a:r>
            <a:r>
              <a:rPr lang="en-US" altLang="zh-CN" sz="1200" b="0" kern="1200" dirty="0">
                <a:solidFill>
                  <a:schemeClr val="tx1"/>
                </a:solidFill>
                <a:effectLst/>
                <a:latin typeface="+mn-lt"/>
                <a:ea typeface="+mn-ea"/>
                <a:cs typeface="+mn-cs"/>
              </a:rPr>
              <a:t> = Cmα · dα + </a:t>
            </a:r>
            <a:r>
              <a:rPr lang="en-US" altLang="zh-CN" sz="1200" b="0" kern="1200" dirty="0" err="1">
                <a:solidFill>
                  <a:schemeClr val="tx1"/>
                </a:solidFill>
                <a:effectLst/>
                <a:latin typeface="+mn-lt"/>
                <a:ea typeface="+mn-ea"/>
                <a:cs typeface="+mn-cs"/>
              </a:rPr>
              <a:t>Cmδ</a:t>
            </a:r>
            <a:r>
              <a:rPr lang="en-US" altLang="zh-CN" sz="1200" b="0" kern="1200" dirty="0">
                <a:solidFill>
                  <a:schemeClr val="tx1"/>
                </a:solidFill>
                <a:effectLst/>
                <a:latin typeface="+mn-lt"/>
                <a:ea typeface="+mn-ea"/>
                <a:cs typeface="+mn-cs"/>
              </a:rPr>
              <a:t> · </a:t>
            </a:r>
            <a:r>
              <a:rPr lang="en-US" altLang="zh-CN" sz="1200" b="0" kern="1200" dirty="0" err="1">
                <a:solidFill>
                  <a:schemeClr val="tx1"/>
                </a:solidFill>
                <a:effectLst/>
                <a:latin typeface="+mn-lt"/>
                <a:ea typeface="+mn-ea"/>
                <a:cs typeface="+mn-cs"/>
              </a:rPr>
              <a:t>dδ</a:t>
            </a:r>
            <a:r>
              <a:rPr lang="en-US" altLang="zh-CN" sz="1200" b="0" kern="1200" dirty="0">
                <a:solidFill>
                  <a:schemeClr val="tx1"/>
                </a:solidFill>
                <a:effectLst/>
                <a:latin typeface="+mn-lt"/>
                <a:ea typeface="+mn-ea"/>
                <a:cs typeface="+mn-cs"/>
              </a:rPr>
              <a:t> = 0</a:t>
            </a:r>
          </a:p>
          <a:p>
            <a:br>
              <a:rPr lang="en-US" altLang="zh-CN" sz="1200" b="0" kern="1200" dirty="0">
                <a:solidFill>
                  <a:schemeClr val="tx1"/>
                </a:solidFill>
                <a:effectLst/>
                <a:latin typeface="+mn-lt"/>
                <a:ea typeface="+mn-ea"/>
                <a:cs typeface="+mn-cs"/>
              </a:rPr>
            </a:br>
            <a:endParaRPr lang="en-US" altLang="zh-CN"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因此可以得到：</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en-US" altLang="zh-CN" sz="1200" b="0" kern="1200" dirty="0">
                <a:solidFill>
                  <a:schemeClr val="tx1"/>
                </a:solidFill>
                <a:effectLst/>
                <a:latin typeface="+mn-lt"/>
                <a:ea typeface="+mn-ea"/>
                <a:cs typeface="+mn-cs"/>
              </a:rPr>
              <a:t>dα / </a:t>
            </a:r>
            <a:r>
              <a:rPr lang="en-US" altLang="zh-CN" sz="1200" b="0" kern="1200" dirty="0" err="1">
                <a:solidFill>
                  <a:schemeClr val="tx1"/>
                </a:solidFill>
                <a:effectLst/>
                <a:latin typeface="+mn-lt"/>
                <a:ea typeface="+mn-ea"/>
                <a:cs typeface="+mn-cs"/>
              </a:rPr>
              <a:t>dδ</a:t>
            </a:r>
            <a:r>
              <a:rPr lang="en-US" altLang="zh-CN" sz="1200" b="0" kern="1200" dirty="0">
                <a:solidFill>
                  <a:schemeClr val="tx1"/>
                </a:solidFill>
                <a:effectLst/>
                <a:latin typeface="+mn-lt"/>
                <a:ea typeface="+mn-ea"/>
                <a:cs typeface="+mn-cs"/>
              </a:rPr>
              <a:t> = - </a:t>
            </a:r>
            <a:r>
              <a:rPr lang="en-US" altLang="zh-CN" sz="1200" b="0" kern="1200" dirty="0" err="1">
                <a:solidFill>
                  <a:schemeClr val="tx1"/>
                </a:solidFill>
                <a:effectLst/>
                <a:latin typeface="+mn-lt"/>
                <a:ea typeface="+mn-ea"/>
                <a:cs typeface="+mn-cs"/>
              </a:rPr>
              <a:t>Cmδ</a:t>
            </a:r>
            <a:r>
              <a:rPr lang="en-US" altLang="zh-CN" sz="1200" b="0" kern="1200" dirty="0">
                <a:solidFill>
                  <a:schemeClr val="tx1"/>
                </a:solidFill>
                <a:effectLst/>
                <a:latin typeface="+mn-lt"/>
                <a:ea typeface="+mn-ea"/>
                <a:cs typeface="+mn-cs"/>
              </a:rPr>
              <a:t> / Cmα</a:t>
            </a:r>
          </a:p>
          <a:p>
            <a:br>
              <a:rPr lang="en-US" altLang="zh-CN" sz="1200" b="0" kern="1200" dirty="0">
                <a:solidFill>
                  <a:schemeClr val="tx1"/>
                </a:solidFill>
                <a:effectLst/>
                <a:latin typeface="+mn-lt"/>
                <a:ea typeface="+mn-ea"/>
                <a:cs typeface="+mn-cs"/>
              </a:rPr>
            </a:br>
            <a:endParaRPr lang="en-US" altLang="zh-CN"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也就是说，操纵比本质上和俯仰力矩对舵偏角的导数、俯仰力矩对迎角的导数有关。</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对于当前这个例子，升降舵下偏 </a:t>
            </a:r>
            <a:r>
              <a:rPr lang="en-US" altLang="zh-CN" sz="1200" b="0" kern="1200" dirty="0">
                <a:solidFill>
                  <a:schemeClr val="tx1"/>
                </a:solidFill>
                <a:effectLst/>
                <a:latin typeface="+mn-lt"/>
                <a:ea typeface="+mn-ea"/>
                <a:cs typeface="+mn-cs"/>
              </a:rPr>
              <a:t>10° </a:t>
            </a:r>
            <a:r>
              <a:rPr lang="zh-CN" altLang="en-US" sz="1200" b="0" kern="1200" dirty="0">
                <a:solidFill>
                  <a:schemeClr val="tx1"/>
                </a:solidFill>
                <a:effectLst/>
                <a:latin typeface="+mn-lt"/>
                <a:ea typeface="+mn-ea"/>
                <a:cs typeface="+mn-cs"/>
              </a:rPr>
              <a:t>后，平衡迎角从 </a:t>
            </a:r>
            <a:r>
              <a:rPr lang="en-US" altLang="zh-CN" sz="1200" b="0" kern="1200" dirty="0">
                <a:solidFill>
                  <a:schemeClr val="tx1"/>
                </a:solidFill>
                <a:effectLst/>
                <a:latin typeface="+mn-lt"/>
                <a:ea typeface="+mn-ea"/>
                <a:cs typeface="+mn-cs"/>
              </a:rPr>
              <a:t>3.4° </a:t>
            </a:r>
            <a:r>
              <a:rPr lang="zh-CN" altLang="en-US" sz="1200" b="0" kern="1200" dirty="0">
                <a:solidFill>
                  <a:schemeClr val="tx1"/>
                </a:solidFill>
                <a:effectLst/>
                <a:latin typeface="+mn-lt"/>
                <a:ea typeface="+mn-ea"/>
                <a:cs typeface="+mn-cs"/>
              </a:rPr>
              <a:t>变为 </a:t>
            </a:r>
            <a:r>
              <a:rPr lang="en-US" altLang="zh-CN" sz="1200" b="0" kern="1200" dirty="0">
                <a:solidFill>
                  <a:schemeClr val="tx1"/>
                </a:solidFill>
                <a:effectLst/>
                <a:latin typeface="+mn-lt"/>
                <a:ea typeface="+mn-ea"/>
                <a:cs typeface="+mn-cs"/>
              </a:rPr>
              <a:t>1.6°</a:t>
            </a:r>
            <a:r>
              <a:rPr lang="zh-CN" altLang="en-US" sz="1200" b="0" kern="1200" dirty="0">
                <a:solidFill>
                  <a:schemeClr val="tx1"/>
                </a:solidFill>
                <a:effectLst/>
                <a:latin typeface="+mn-lt"/>
                <a:ea typeface="+mn-ea"/>
                <a:cs typeface="+mn-cs"/>
              </a:rPr>
              <a:t>。</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迎角变化量约为：</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en-US" altLang="zh-CN" sz="1200" b="0" kern="1200" dirty="0">
                <a:solidFill>
                  <a:schemeClr val="tx1"/>
                </a:solidFill>
                <a:effectLst/>
                <a:latin typeface="+mn-lt"/>
                <a:ea typeface="+mn-ea"/>
                <a:cs typeface="+mn-cs"/>
              </a:rPr>
              <a:t>Δα = 1.6° - 3.4° = -1.8°</a:t>
            </a:r>
          </a:p>
          <a:p>
            <a:br>
              <a:rPr lang="en-US" altLang="zh-CN" sz="1200" b="0" kern="1200" dirty="0">
                <a:solidFill>
                  <a:schemeClr val="tx1"/>
                </a:solidFill>
                <a:effectLst/>
                <a:latin typeface="+mn-lt"/>
                <a:ea typeface="+mn-ea"/>
                <a:cs typeface="+mn-cs"/>
              </a:rPr>
            </a:br>
            <a:endParaRPr lang="en-US" altLang="zh-CN"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舵偏角变化量为：</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en-US" altLang="zh-CN" sz="1200" b="0" kern="1200" dirty="0" err="1">
                <a:solidFill>
                  <a:schemeClr val="tx1"/>
                </a:solidFill>
                <a:effectLst/>
                <a:latin typeface="+mn-lt"/>
                <a:ea typeface="+mn-ea"/>
                <a:cs typeface="+mn-cs"/>
              </a:rPr>
              <a:t>Δδ</a:t>
            </a:r>
            <a:r>
              <a:rPr lang="en-US" altLang="zh-CN" sz="1200" b="0" kern="1200" dirty="0">
                <a:solidFill>
                  <a:schemeClr val="tx1"/>
                </a:solidFill>
                <a:effectLst/>
                <a:latin typeface="+mn-lt"/>
                <a:ea typeface="+mn-ea"/>
                <a:cs typeface="+mn-cs"/>
              </a:rPr>
              <a:t> = 10°</a:t>
            </a:r>
          </a:p>
          <a:p>
            <a:br>
              <a:rPr lang="en-US" altLang="zh-CN" sz="1200" b="0" kern="1200" dirty="0">
                <a:solidFill>
                  <a:schemeClr val="tx1"/>
                </a:solidFill>
                <a:effectLst/>
                <a:latin typeface="+mn-lt"/>
                <a:ea typeface="+mn-ea"/>
                <a:cs typeface="+mn-cs"/>
              </a:rPr>
            </a:br>
            <a:endParaRPr lang="en-US" altLang="zh-CN"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所以操纵比的大小约为：</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en-US" altLang="zh-CN" sz="1200" b="0" kern="1200" dirty="0">
                <a:solidFill>
                  <a:schemeClr val="tx1"/>
                </a:solidFill>
                <a:effectLst/>
                <a:latin typeface="+mn-lt"/>
                <a:ea typeface="+mn-ea"/>
                <a:cs typeface="+mn-cs"/>
              </a:rPr>
              <a:t>|Δα / </a:t>
            </a:r>
            <a:r>
              <a:rPr lang="en-US" altLang="zh-CN" sz="1200" b="0" kern="1200" dirty="0" err="1">
                <a:solidFill>
                  <a:schemeClr val="tx1"/>
                </a:solidFill>
                <a:effectLst/>
                <a:latin typeface="+mn-lt"/>
                <a:ea typeface="+mn-ea"/>
                <a:cs typeface="+mn-cs"/>
              </a:rPr>
              <a:t>Δδ</a:t>
            </a:r>
            <a:r>
              <a:rPr lang="en-US" altLang="zh-CN" sz="1200" b="0" kern="1200" dirty="0">
                <a:solidFill>
                  <a:schemeClr val="tx1"/>
                </a:solidFill>
                <a:effectLst/>
                <a:latin typeface="+mn-lt"/>
                <a:ea typeface="+mn-ea"/>
                <a:cs typeface="+mn-cs"/>
              </a:rPr>
              <a:t>| = 0.18</a:t>
            </a:r>
          </a:p>
          <a:p>
            <a:br>
              <a:rPr lang="en-US" altLang="zh-CN" sz="1200" b="0" kern="1200" dirty="0">
                <a:solidFill>
                  <a:schemeClr val="tx1"/>
                </a:solidFill>
                <a:effectLst/>
                <a:latin typeface="+mn-lt"/>
                <a:ea typeface="+mn-ea"/>
                <a:cs typeface="+mn-cs"/>
              </a:rPr>
            </a:br>
            <a:endParaRPr lang="en-US" altLang="zh-CN"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也就是说，在这个例子中，升降舵每偏转 </a:t>
            </a:r>
            <a:r>
              <a:rPr lang="en-US" altLang="zh-CN" sz="1200" b="0" kern="1200" dirty="0">
                <a:solidFill>
                  <a:schemeClr val="tx1"/>
                </a:solidFill>
                <a:effectLst/>
                <a:latin typeface="+mn-lt"/>
                <a:ea typeface="+mn-ea"/>
                <a:cs typeface="+mn-cs"/>
              </a:rPr>
              <a:t>1°</a:t>
            </a:r>
            <a:r>
              <a:rPr lang="zh-CN" altLang="en-US" sz="1200" b="0" kern="1200" dirty="0">
                <a:solidFill>
                  <a:schemeClr val="tx1"/>
                </a:solidFill>
                <a:effectLst/>
                <a:latin typeface="+mn-lt"/>
                <a:ea typeface="+mn-ea"/>
                <a:cs typeface="+mn-cs"/>
              </a:rPr>
              <a:t>，大约可以带来 </a:t>
            </a:r>
            <a:r>
              <a:rPr lang="en-US" altLang="zh-CN" sz="1200" b="0" kern="1200" dirty="0">
                <a:solidFill>
                  <a:schemeClr val="tx1"/>
                </a:solidFill>
                <a:effectLst/>
                <a:latin typeface="+mn-lt"/>
                <a:ea typeface="+mn-ea"/>
                <a:cs typeface="+mn-cs"/>
              </a:rPr>
              <a:t>0.18° </a:t>
            </a:r>
            <a:r>
              <a:rPr lang="zh-CN" altLang="en-US" sz="1200" b="0" kern="1200" dirty="0">
                <a:solidFill>
                  <a:schemeClr val="tx1"/>
                </a:solidFill>
                <a:effectLst/>
                <a:latin typeface="+mn-lt"/>
                <a:ea typeface="+mn-ea"/>
                <a:cs typeface="+mn-cs"/>
              </a:rPr>
              <a:t>的平衡迎角变化。</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当然，这只是一个比较粗略的参数。</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它忽略了飞行器的动态响应，只考虑了静态气动特性。</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所以它可以作为气动仿真工程师快速评估控制面操纵能力的一个指标，但不能完全代表飞机真实的机动性能。</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在更完整的飞行力学分析中，我们还会使用很多飞行品质指标，比如：</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控制预期参数 </a:t>
            </a:r>
            <a:r>
              <a:rPr lang="en-US" altLang="zh-CN" sz="1200" b="0" kern="1200" dirty="0">
                <a:solidFill>
                  <a:schemeClr val="tx1"/>
                </a:solidFill>
                <a:effectLst/>
                <a:latin typeface="+mn-lt"/>
                <a:ea typeface="+mn-ea"/>
                <a:cs typeface="+mn-cs"/>
              </a:rPr>
              <a:t>CAP</a:t>
            </a:r>
            <a:r>
              <a:rPr lang="zh-CN" altLang="en-US" sz="1200" b="0" kern="1200" dirty="0">
                <a:solidFill>
                  <a:schemeClr val="tx1"/>
                </a:solidFill>
                <a:effectLst/>
                <a:latin typeface="+mn-lt"/>
                <a:ea typeface="+mn-ea"/>
                <a:cs typeface="+mn-cs"/>
              </a:rPr>
              <a:t>、  </a:t>
            </a:r>
          </a:p>
          <a:p>
            <a:r>
              <a:rPr lang="zh-CN" altLang="en-US" sz="1200" b="0" kern="1200" dirty="0">
                <a:solidFill>
                  <a:schemeClr val="tx1"/>
                </a:solidFill>
                <a:effectLst/>
                <a:latin typeface="+mn-lt"/>
                <a:ea typeface="+mn-ea"/>
                <a:cs typeface="+mn-cs"/>
              </a:rPr>
              <a:t>敏捷性时间指标、  </a:t>
            </a:r>
          </a:p>
          <a:p>
            <a:r>
              <a:rPr lang="zh-CN" altLang="en-US" sz="1200" b="0" kern="1200" dirty="0">
                <a:solidFill>
                  <a:schemeClr val="tx1"/>
                </a:solidFill>
                <a:effectLst/>
                <a:latin typeface="+mn-lt"/>
                <a:ea typeface="+mn-ea"/>
                <a:cs typeface="+mn-cs"/>
              </a:rPr>
              <a:t>操纵裕度、  </a:t>
            </a:r>
          </a:p>
          <a:p>
            <a:r>
              <a:rPr lang="zh-CN" altLang="en-US" sz="1200" b="0" kern="1200" dirty="0">
                <a:solidFill>
                  <a:schemeClr val="tx1"/>
                </a:solidFill>
                <a:effectLst/>
                <a:latin typeface="+mn-lt"/>
                <a:ea typeface="+mn-ea"/>
                <a:cs typeface="+mn-cs"/>
              </a:rPr>
              <a:t>过载响应、  </a:t>
            </a:r>
          </a:p>
          <a:p>
            <a:r>
              <a:rPr lang="zh-CN" altLang="en-US" sz="1200" b="0" kern="1200" dirty="0">
                <a:solidFill>
                  <a:schemeClr val="tx1"/>
                </a:solidFill>
                <a:effectLst/>
                <a:latin typeface="+mn-lt"/>
                <a:ea typeface="+mn-ea"/>
                <a:cs typeface="+mn-cs"/>
              </a:rPr>
              <a:t>俯仰角速度响应等。</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这些指标会综合考虑气动特性、质量特性、惯量、飞控系统以及飞行状态。</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但是无论后续分析多复杂，最基础的数据来源仍然是气动仿真或风洞试验得到的舵效数据。</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所以我们做舵效仿真，本质上是在为后续的飞行力学建模和操纵性评价提供输入。</a:t>
            </a:r>
          </a:p>
          <a:p>
            <a:endParaRPr lang="zh-CN" altLang="en-US" dirty="0"/>
          </a:p>
        </p:txBody>
      </p:sp>
      <p:sp>
        <p:nvSpPr>
          <p:cNvPr id="4" name="灯片编号占位符 3"/>
          <p:cNvSpPr>
            <a:spLocks noGrp="1"/>
          </p:cNvSpPr>
          <p:nvPr>
            <p:ph type="sldNum" sz="quarter" idx="5"/>
          </p:nvPr>
        </p:nvSpPr>
        <p:spPr/>
        <p:txBody>
          <a:bodyPr/>
          <a:lstStyle/>
          <a:p>
            <a:fld id="{5041D428-2BB2-487D-81A7-DE2436DBCA3D}" type="slidenum">
              <a:rPr lang="zh-CN" altLang="en-US" smtClean="0"/>
              <a:t>9</a:t>
            </a:fld>
            <a:endParaRPr lang="zh-CN" altLang="en-US"/>
          </a:p>
        </p:txBody>
      </p:sp>
    </p:spTree>
    <p:extLst>
      <p:ext uri="{BB962C8B-B14F-4D97-AF65-F5344CB8AC3E}">
        <p14:creationId xmlns:p14="http://schemas.microsoft.com/office/powerpoint/2010/main" val="25001999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kern="1200" dirty="0">
                <a:solidFill>
                  <a:schemeClr val="tx1"/>
                </a:solidFill>
                <a:effectLst/>
                <a:latin typeface="+mn-lt"/>
                <a:ea typeface="+mn-ea"/>
                <a:cs typeface="+mn-cs"/>
              </a:rPr>
              <a:t>最后，我们看第三个方面：</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**飞行器的稳定性与抗扰能力。**</a:t>
            </a:r>
            <a:endParaRPr lang="zh-CN" altLang="en-US" sz="1200" b="0" kern="1200" dirty="0">
              <a:solidFill>
                <a:schemeClr val="tx1"/>
              </a:solidFill>
              <a:effectLst/>
              <a:latin typeface="+mn-lt"/>
              <a:ea typeface="+mn-ea"/>
              <a:cs typeface="+mn-cs"/>
            </a:endParaRP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稳定性是飞行器设计中非常核心的概念。</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简单来说，它回答的是：</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当飞行器受到扰动之后，它会不会自己产生恢复趋势？</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比如飞机正在稳定飞行，突然遇到一阵突风，迎角变大了。  </a:t>
            </a:r>
          </a:p>
          <a:p>
            <a:r>
              <a:rPr lang="zh-CN" altLang="en-US" sz="1200" b="0" kern="1200" dirty="0">
                <a:solidFill>
                  <a:schemeClr val="tx1"/>
                </a:solidFill>
                <a:effectLst/>
                <a:latin typeface="+mn-lt"/>
                <a:ea typeface="+mn-ea"/>
                <a:cs typeface="+mn-cs"/>
              </a:rPr>
              <a:t>那么飞机是会自己产生低头力矩，让迎角减小？  </a:t>
            </a:r>
          </a:p>
          <a:p>
            <a:r>
              <a:rPr lang="zh-CN" altLang="en-US" sz="1200" b="0" kern="1200" dirty="0">
                <a:solidFill>
                  <a:schemeClr val="tx1"/>
                </a:solidFill>
                <a:effectLst/>
                <a:latin typeface="+mn-lt"/>
                <a:ea typeface="+mn-ea"/>
                <a:cs typeface="+mn-cs"/>
              </a:rPr>
              <a:t>还是会继续抬头，让扰动越来越大？</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这就是稳定性要回答的问题。</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飞行器稳定性通常可以分为两类：</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**静稳定性**</a:t>
            </a:r>
            <a:r>
              <a:rPr lang="zh-CN" altLang="en-US" sz="1200" b="0" kern="1200" dirty="0">
                <a:solidFill>
                  <a:schemeClr val="tx1"/>
                </a:solidFill>
                <a:effectLst/>
                <a:latin typeface="+mn-lt"/>
                <a:ea typeface="+mn-ea"/>
                <a:cs typeface="+mn-cs"/>
              </a:rPr>
              <a:t>和</a:t>
            </a:r>
            <a:r>
              <a:rPr lang="zh-CN" altLang="en-US" sz="1200" b="1" kern="1200" dirty="0">
                <a:solidFill>
                  <a:schemeClr val="tx1"/>
                </a:solidFill>
                <a:effectLst/>
                <a:latin typeface="+mn-lt"/>
                <a:ea typeface="+mn-ea"/>
                <a:cs typeface="+mn-cs"/>
              </a:rPr>
              <a:t>**动稳定性**</a:t>
            </a:r>
            <a:r>
              <a:rPr lang="zh-CN" altLang="en-US" sz="1200" b="0" kern="1200" dirty="0">
                <a:solidFill>
                  <a:schemeClr val="tx1"/>
                </a:solidFill>
                <a:effectLst/>
                <a:latin typeface="+mn-lt"/>
                <a:ea typeface="+mn-ea"/>
                <a:cs typeface="+mn-cs"/>
              </a:rPr>
              <a:t>。</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静稳定性关注的是：</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受到扰动之后，系统有没有初始的恢复趋势。</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动稳定性关注的是：</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系统随时间变化的响应过程，也就是它最终能不能恢复、恢复得快不快、会不会振荡、振荡是否发散。</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为了更直观理解，我们用小球的例子来说明。</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首先看平面上的小球。</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如果我们轻轻推它一下，它会移动到新的位置，但不会主动回到原来的位置，也不会继续远离原位置。</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这种情况叫做：</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**中立稳定。**</a:t>
            </a:r>
            <a:endParaRPr lang="zh-CN" altLang="en-US" sz="1200" b="0" kern="1200" dirty="0">
              <a:solidFill>
                <a:schemeClr val="tx1"/>
              </a:solidFill>
              <a:effectLst/>
              <a:latin typeface="+mn-lt"/>
              <a:ea typeface="+mn-ea"/>
              <a:cs typeface="+mn-cs"/>
            </a:endParaRP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再看凸面上的小球。</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如果我们给它一个小扰动，它会越滚越远，离原来的平衡点越来越远。</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这种情况叫做：</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**静不稳定。**</a:t>
            </a:r>
            <a:endParaRPr lang="zh-CN" altLang="en-US" sz="1200" b="0" kern="1200" dirty="0">
              <a:solidFill>
                <a:schemeClr val="tx1"/>
              </a:solidFill>
              <a:effectLst/>
              <a:latin typeface="+mn-lt"/>
              <a:ea typeface="+mn-ea"/>
              <a:cs typeface="+mn-cs"/>
            </a:endParaRP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然后看凹面中的小球。</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如果我们把它从最低点稍微推开，它会有回到最低点的趋势。</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这种情况叫做：</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**静稳定。**</a:t>
            </a:r>
            <a:endParaRPr lang="zh-CN" altLang="en-US" sz="1200" b="0" kern="1200" dirty="0">
              <a:solidFill>
                <a:schemeClr val="tx1"/>
              </a:solidFill>
              <a:effectLst/>
              <a:latin typeface="+mn-lt"/>
              <a:ea typeface="+mn-ea"/>
              <a:cs typeface="+mn-cs"/>
            </a:endParaRP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这里要特别注意：</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静稳定性只判断有没有恢复趋势。</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它不保证系统最终一定能稳定下来。</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比如某些情况下，一个系统受到扰动后，一开始确实有恢复趋势，但由于惯性、阻尼不足或者动态特性不合适，它可能会振荡发散，最终离平衡状态越来越远。</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这种情况就可以理解为：</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**静稳定，但是动不稳定。**</a:t>
            </a:r>
            <a:endParaRPr lang="zh-CN" altLang="en-US" sz="1200" b="0" kern="1200" dirty="0">
              <a:solidFill>
                <a:schemeClr val="tx1"/>
              </a:solidFill>
              <a:effectLst/>
              <a:latin typeface="+mn-lt"/>
              <a:ea typeface="+mn-ea"/>
              <a:cs typeface="+mn-cs"/>
            </a:endParaRP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所以，静稳定和动稳定不是一回事。</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在这节课中，我们主要先讨论静稳定性。动稳定性会在后面讲动导数和飞行品质时再展开。</a:t>
            </a:r>
          </a:p>
          <a:p>
            <a:endParaRPr lang="zh-CN" altLang="en-US" dirty="0"/>
          </a:p>
        </p:txBody>
      </p:sp>
      <p:sp>
        <p:nvSpPr>
          <p:cNvPr id="4" name="灯片编号占位符 3"/>
          <p:cNvSpPr>
            <a:spLocks noGrp="1"/>
          </p:cNvSpPr>
          <p:nvPr>
            <p:ph type="sldNum" sz="quarter" idx="5"/>
          </p:nvPr>
        </p:nvSpPr>
        <p:spPr/>
        <p:txBody>
          <a:bodyPr/>
          <a:lstStyle/>
          <a:p>
            <a:fld id="{5041D428-2BB2-487D-81A7-DE2436DBCA3D}" type="slidenum">
              <a:rPr lang="zh-CN" altLang="en-US" smtClean="0"/>
              <a:t>10</a:t>
            </a:fld>
            <a:endParaRPr lang="zh-CN" altLang="en-US"/>
          </a:p>
        </p:txBody>
      </p:sp>
    </p:spTree>
    <p:extLst>
      <p:ext uri="{BB962C8B-B14F-4D97-AF65-F5344CB8AC3E}">
        <p14:creationId xmlns:p14="http://schemas.microsoft.com/office/powerpoint/2010/main" val="7518117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kern="1200" dirty="0">
                <a:solidFill>
                  <a:schemeClr val="tx1"/>
                </a:solidFill>
                <a:effectLst/>
                <a:latin typeface="+mn-lt"/>
                <a:ea typeface="+mn-ea"/>
                <a:cs typeface="+mn-cs"/>
              </a:rPr>
              <a:t>好，到这里，本节课的主要内容就介绍完了。</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我们今天没有进入具体的软件操作，而是先从工程逻辑上回答了一个问题：</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**为什么要做气动仿真？**</a:t>
            </a:r>
            <a:endParaRPr lang="zh-CN" altLang="en-US" sz="1200" b="0" kern="1200" dirty="0">
              <a:solidFill>
                <a:schemeClr val="tx1"/>
              </a:solidFill>
              <a:effectLst/>
              <a:latin typeface="+mn-lt"/>
              <a:ea typeface="+mn-ea"/>
              <a:cs typeface="+mn-cs"/>
            </a:endParaRP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气动仿真得到的升力、阻力和力矩，并不是孤立的计算结果，而是会进一步服务于飞行器性能分析和工程设计。</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本节课我们重点讲了三个方面。</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第一，配平与稳态保持能力。  </a:t>
            </a:r>
          </a:p>
          <a:p>
            <a:r>
              <a:rPr lang="zh-CN" altLang="en-US" sz="1200" b="0" kern="1200" dirty="0">
                <a:solidFill>
                  <a:schemeClr val="tx1"/>
                </a:solidFill>
                <a:effectLst/>
                <a:latin typeface="+mn-lt"/>
                <a:ea typeface="+mn-ea"/>
                <a:cs typeface="+mn-cs"/>
              </a:rPr>
              <a:t>通过俯仰力矩曲线，我们可以找到配平迎角；通过升力系数和升阻比，可以进一步评估飞行器的重量平衡、巡航效率和航程性能。</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第二，操纵与机动能力。  </a:t>
            </a:r>
          </a:p>
          <a:p>
            <a:r>
              <a:rPr lang="zh-CN" altLang="en-US" sz="1200" b="0" kern="1200" dirty="0">
                <a:solidFill>
                  <a:schemeClr val="tx1"/>
                </a:solidFill>
                <a:effectLst/>
                <a:latin typeface="+mn-lt"/>
                <a:ea typeface="+mn-ea"/>
                <a:cs typeface="+mn-cs"/>
              </a:rPr>
              <a:t>通过舵面偏转前后的力矩变化，我们可以评估控制面的操纵效能，为后续飞行力学建模和飞控设计提供基础数据。</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第三，稳定性与抗扰能力。  </a:t>
            </a:r>
          </a:p>
          <a:p>
            <a:r>
              <a:rPr lang="zh-CN" altLang="en-US" sz="1200" b="0" kern="1200" dirty="0">
                <a:solidFill>
                  <a:schemeClr val="tx1"/>
                </a:solidFill>
                <a:effectLst/>
                <a:latin typeface="+mn-lt"/>
                <a:ea typeface="+mn-ea"/>
                <a:cs typeface="+mn-cs"/>
              </a:rPr>
              <a:t>通过力矩系数随迎角变化的斜率，我们可以初步判断飞行器是否具有纵向静稳定性。</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所以，气动数据的工程旅程大致可以理解为：</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a:t>
            </a:r>
            <a:r>
              <a:rPr lang="en-US" altLang="zh-CN" sz="1200" b="1" kern="1200" dirty="0">
                <a:solidFill>
                  <a:schemeClr val="tx1"/>
                </a:solidFill>
                <a:effectLst/>
                <a:latin typeface="+mn-lt"/>
                <a:ea typeface="+mn-ea"/>
                <a:cs typeface="+mn-cs"/>
              </a:rPr>
              <a:t>CFD </a:t>
            </a:r>
            <a:r>
              <a:rPr lang="zh-CN" altLang="en-US" sz="1200" b="1" kern="1200" dirty="0">
                <a:solidFill>
                  <a:schemeClr val="tx1"/>
                </a:solidFill>
                <a:effectLst/>
                <a:latin typeface="+mn-lt"/>
                <a:ea typeface="+mn-ea"/>
                <a:cs typeface="+mn-cs"/>
              </a:rPr>
              <a:t>或风洞试验提供气动数据，飞行力学利用这些数据进行配平、性能、操纵和稳定性分析，最终服务于飞行器设计与飞行品质评估。**</a:t>
            </a:r>
            <a:endParaRPr lang="zh-CN" altLang="en-US" sz="1200" b="0" kern="1200" dirty="0">
              <a:solidFill>
                <a:schemeClr val="tx1"/>
              </a:solidFill>
              <a:effectLst/>
              <a:latin typeface="+mn-lt"/>
              <a:ea typeface="+mn-ea"/>
              <a:cs typeface="+mn-cs"/>
            </a:endParaRP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如果大家对这些内容感兴趣，也建议配合飞行力学相关教材一起学习。这样在后续看气动仿真数据时，就不只是看云图和系数，而是能真正理解这些数据对飞行器设计意味着什么。</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下一节开始，我们会逐步进入飞行器气动仿真的具体内容。</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感谢观看，我是酸沙柠檬，我们下期再见。</a:t>
            </a:r>
          </a:p>
        </p:txBody>
      </p:sp>
      <p:sp>
        <p:nvSpPr>
          <p:cNvPr id="4" name="灯片编号占位符 3"/>
          <p:cNvSpPr>
            <a:spLocks noGrp="1"/>
          </p:cNvSpPr>
          <p:nvPr>
            <p:ph type="sldNum" sz="quarter" idx="5"/>
          </p:nvPr>
        </p:nvSpPr>
        <p:spPr/>
        <p:txBody>
          <a:bodyPr/>
          <a:lstStyle/>
          <a:p>
            <a:fld id="{5041D428-2BB2-487D-81A7-DE2436DBCA3D}" type="slidenum">
              <a:rPr lang="zh-CN" altLang="en-US" smtClean="0"/>
              <a:t>11</a:t>
            </a:fld>
            <a:endParaRPr lang="zh-CN" altLang="en-US"/>
          </a:p>
        </p:txBody>
      </p:sp>
    </p:spTree>
    <p:extLst>
      <p:ext uri="{BB962C8B-B14F-4D97-AF65-F5344CB8AC3E}">
        <p14:creationId xmlns:p14="http://schemas.microsoft.com/office/powerpoint/2010/main" val="14862681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大家好，欢迎来到</a:t>
            </a:r>
            <a:r>
              <a:rPr lang="en-US" altLang="zh-CN" sz="1200" b="0"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从“零”开始的气动仿真工程师</a:t>
            </a:r>
            <a:r>
              <a:rPr lang="en-US" altLang="zh-CN" sz="1200" b="0"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系列教程。</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我是酸沙柠檬。</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从这一节开始，我会和大家一起，从工程应用的角度出发，系统地学习飞行器气动仿真的基本方法和工程分析思路。</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今天是这个系列的第一节，标题是：</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**从力与力矩到飞行品质</a:t>
            </a:r>
            <a:r>
              <a:rPr lang="en-US" altLang="zh-CN" sz="1200" b="1" kern="1200" dirty="0">
                <a:solidFill>
                  <a:schemeClr val="tx1"/>
                </a:solidFill>
                <a:effectLst/>
                <a:latin typeface="+mn-lt"/>
                <a:ea typeface="+mn-ea"/>
                <a:cs typeface="+mn-cs"/>
              </a:rPr>
              <a:t>——</a:t>
            </a:r>
            <a:r>
              <a:rPr lang="zh-CN" altLang="en-US" sz="1200" b="1" kern="1200" dirty="0">
                <a:solidFill>
                  <a:schemeClr val="tx1"/>
                </a:solidFill>
                <a:effectLst/>
                <a:latin typeface="+mn-lt"/>
                <a:ea typeface="+mn-ea"/>
                <a:cs typeface="+mn-cs"/>
              </a:rPr>
              <a:t>气动数据的工程旅程。**</a:t>
            </a:r>
            <a:endParaRPr lang="zh-CN" altLang="en-US" sz="1200" b="0" kern="1200" dirty="0">
              <a:solidFill>
                <a:schemeClr val="tx1"/>
              </a:solidFill>
              <a:effectLst/>
              <a:latin typeface="+mn-lt"/>
              <a:ea typeface="+mn-ea"/>
              <a:cs typeface="+mn-cs"/>
            </a:endParaRP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在正式进入仿真操作之前，我们先解决一个非常重要的问题：</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**我们为什么要做气动仿真？**</a:t>
            </a:r>
            <a:endParaRPr lang="zh-CN" altLang="en-US" sz="1200" b="0" kern="1200" dirty="0">
              <a:solidFill>
                <a:schemeClr val="tx1"/>
              </a:solidFill>
              <a:effectLst/>
              <a:latin typeface="+mn-lt"/>
              <a:ea typeface="+mn-ea"/>
              <a:cs typeface="+mn-cs"/>
            </a:endParaRP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或者说得更具体一点：</a:t>
            </a: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**我们花几个小时、甚至几十个小时去计算飞行器的升力、阻力和力矩，这些数据最终到底有什么用？**</a:t>
            </a:r>
            <a:endParaRPr lang="zh-CN" altLang="en-US" sz="1200" b="0" kern="1200" dirty="0">
              <a:solidFill>
                <a:schemeClr val="tx1"/>
              </a:solidFill>
              <a:effectLst/>
              <a:latin typeface="+mn-lt"/>
              <a:ea typeface="+mn-ea"/>
              <a:cs typeface="+mn-cs"/>
            </a:endParaRPr>
          </a:p>
          <a:p>
            <a:br>
              <a:rPr lang="zh-CN" altLang="en-US" sz="1200" b="0" kern="1200" dirty="0">
                <a:solidFill>
                  <a:schemeClr val="tx1"/>
                </a:solidFill>
                <a:effectLst/>
                <a:latin typeface="+mn-lt"/>
                <a:ea typeface="+mn-ea"/>
                <a:cs typeface="+mn-cs"/>
              </a:rPr>
            </a:br>
            <a:endParaRPr lang="zh-CN" altLang="en-US"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这就是本节课要回答的问题。</a:t>
            </a:r>
          </a:p>
          <a:p>
            <a:endParaRPr lang="zh-CN" altLang="en-US" dirty="0"/>
          </a:p>
        </p:txBody>
      </p:sp>
      <p:sp>
        <p:nvSpPr>
          <p:cNvPr id="4" name="灯片编号占位符 3"/>
          <p:cNvSpPr>
            <a:spLocks noGrp="1"/>
          </p:cNvSpPr>
          <p:nvPr>
            <p:ph type="sldNum" sz="quarter" idx="5"/>
          </p:nvPr>
        </p:nvSpPr>
        <p:spPr/>
        <p:txBody>
          <a:bodyPr/>
          <a:lstStyle/>
          <a:p>
            <a:fld id="{5041D428-2BB2-487D-81A7-DE2436DBCA3D}" type="slidenum">
              <a:rPr lang="zh-CN" altLang="en-US" smtClean="0"/>
              <a:t>12</a:t>
            </a:fld>
            <a:endParaRPr lang="zh-CN" altLang="en-US"/>
          </a:p>
        </p:txBody>
      </p:sp>
    </p:spTree>
    <p:extLst>
      <p:ext uri="{BB962C8B-B14F-4D97-AF65-F5344CB8AC3E}">
        <p14:creationId xmlns:p14="http://schemas.microsoft.com/office/powerpoint/2010/main" val="22530556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42DA9DF-2EB4-B29C-136C-C19152FDA368}"/>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D9BE2B7B-504E-3C03-B681-A5E864D45E3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4883C951-03D8-AF32-F55A-A920AEC58807}"/>
              </a:ext>
            </a:extLst>
          </p:cNvPr>
          <p:cNvSpPr>
            <a:spLocks noGrp="1"/>
          </p:cNvSpPr>
          <p:nvPr>
            <p:ph type="dt" sz="half" idx="10"/>
          </p:nvPr>
        </p:nvSpPr>
        <p:spPr/>
        <p:txBody>
          <a:bodyPr/>
          <a:lstStyle/>
          <a:p>
            <a:fld id="{124CC98C-9013-4CEA-8472-DACFFF3E1687}" type="datetimeFigureOut">
              <a:rPr lang="zh-CN" altLang="en-US" smtClean="0"/>
              <a:t>2026/5/5</a:t>
            </a:fld>
            <a:endParaRPr lang="zh-CN" altLang="en-US"/>
          </a:p>
        </p:txBody>
      </p:sp>
      <p:sp>
        <p:nvSpPr>
          <p:cNvPr id="5" name="页脚占位符 4">
            <a:extLst>
              <a:ext uri="{FF2B5EF4-FFF2-40B4-BE49-F238E27FC236}">
                <a16:creationId xmlns:a16="http://schemas.microsoft.com/office/drawing/2014/main" id="{B995A634-1E7D-749E-3BA0-31B95974989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3041FE8-A412-8898-4EC5-5B6D701FA794}"/>
              </a:ext>
            </a:extLst>
          </p:cNvPr>
          <p:cNvSpPr>
            <a:spLocks noGrp="1"/>
          </p:cNvSpPr>
          <p:nvPr>
            <p:ph type="sldNum" sz="quarter" idx="12"/>
          </p:nvPr>
        </p:nvSpPr>
        <p:spPr/>
        <p:txBody>
          <a:bodyPr/>
          <a:lstStyle/>
          <a:p>
            <a:fld id="{0928A205-BA41-4D3B-9B0D-65F7F9FA46E6}" type="slidenum">
              <a:rPr lang="zh-CN" altLang="en-US" smtClean="0"/>
              <a:t>‹#›</a:t>
            </a:fld>
            <a:endParaRPr lang="zh-CN" altLang="en-US"/>
          </a:p>
        </p:txBody>
      </p:sp>
    </p:spTree>
    <p:extLst>
      <p:ext uri="{BB962C8B-B14F-4D97-AF65-F5344CB8AC3E}">
        <p14:creationId xmlns:p14="http://schemas.microsoft.com/office/powerpoint/2010/main" val="15288546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79ABAD-21EC-5693-15E3-136A998A69A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9E4863A-EEBD-F602-6FF8-507FD0496C5C}"/>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C0670C6-82E6-3180-E346-9C6EA3EDD62E}"/>
              </a:ext>
            </a:extLst>
          </p:cNvPr>
          <p:cNvSpPr>
            <a:spLocks noGrp="1"/>
          </p:cNvSpPr>
          <p:nvPr>
            <p:ph type="dt" sz="half" idx="10"/>
          </p:nvPr>
        </p:nvSpPr>
        <p:spPr/>
        <p:txBody>
          <a:bodyPr/>
          <a:lstStyle/>
          <a:p>
            <a:fld id="{124CC98C-9013-4CEA-8472-DACFFF3E1687}" type="datetimeFigureOut">
              <a:rPr lang="zh-CN" altLang="en-US" smtClean="0"/>
              <a:t>2026/5/5</a:t>
            </a:fld>
            <a:endParaRPr lang="zh-CN" altLang="en-US"/>
          </a:p>
        </p:txBody>
      </p:sp>
      <p:sp>
        <p:nvSpPr>
          <p:cNvPr id="5" name="页脚占位符 4">
            <a:extLst>
              <a:ext uri="{FF2B5EF4-FFF2-40B4-BE49-F238E27FC236}">
                <a16:creationId xmlns:a16="http://schemas.microsoft.com/office/drawing/2014/main" id="{522783F0-6FF9-815E-850C-27D9999BBF3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B498F8E-EFBD-645F-0D35-23BE1830689C}"/>
              </a:ext>
            </a:extLst>
          </p:cNvPr>
          <p:cNvSpPr>
            <a:spLocks noGrp="1"/>
          </p:cNvSpPr>
          <p:nvPr>
            <p:ph type="sldNum" sz="quarter" idx="12"/>
          </p:nvPr>
        </p:nvSpPr>
        <p:spPr/>
        <p:txBody>
          <a:bodyPr/>
          <a:lstStyle/>
          <a:p>
            <a:fld id="{0928A205-BA41-4D3B-9B0D-65F7F9FA46E6}" type="slidenum">
              <a:rPr lang="zh-CN" altLang="en-US" smtClean="0"/>
              <a:t>‹#›</a:t>
            </a:fld>
            <a:endParaRPr lang="zh-CN" altLang="en-US"/>
          </a:p>
        </p:txBody>
      </p:sp>
    </p:spTree>
    <p:extLst>
      <p:ext uri="{BB962C8B-B14F-4D97-AF65-F5344CB8AC3E}">
        <p14:creationId xmlns:p14="http://schemas.microsoft.com/office/powerpoint/2010/main" val="33632356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FC3947-EBC6-9123-F80F-C216085AD169}"/>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5EC93731-A4F0-F5D9-D33D-4C291035CC0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069FC1A5-42B7-9B0B-1F1F-443B6AFAF51E}"/>
              </a:ext>
            </a:extLst>
          </p:cNvPr>
          <p:cNvSpPr>
            <a:spLocks noGrp="1"/>
          </p:cNvSpPr>
          <p:nvPr>
            <p:ph type="dt" sz="half" idx="10"/>
          </p:nvPr>
        </p:nvSpPr>
        <p:spPr/>
        <p:txBody>
          <a:bodyPr/>
          <a:lstStyle/>
          <a:p>
            <a:fld id="{124CC98C-9013-4CEA-8472-DACFFF3E1687}" type="datetimeFigureOut">
              <a:rPr lang="zh-CN" altLang="en-US" smtClean="0"/>
              <a:t>2026/5/5</a:t>
            </a:fld>
            <a:endParaRPr lang="zh-CN" altLang="en-US"/>
          </a:p>
        </p:txBody>
      </p:sp>
      <p:sp>
        <p:nvSpPr>
          <p:cNvPr id="5" name="页脚占位符 4">
            <a:extLst>
              <a:ext uri="{FF2B5EF4-FFF2-40B4-BE49-F238E27FC236}">
                <a16:creationId xmlns:a16="http://schemas.microsoft.com/office/drawing/2014/main" id="{BB0B331C-A452-510B-75EC-C5CA6CD5F5D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3B98AEE-9815-D01B-799E-1491F8BD76AF}"/>
              </a:ext>
            </a:extLst>
          </p:cNvPr>
          <p:cNvSpPr>
            <a:spLocks noGrp="1"/>
          </p:cNvSpPr>
          <p:nvPr>
            <p:ph type="sldNum" sz="quarter" idx="12"/>
          </p:nvPr>
        </p:nvSpPr>
        <p:spPr/>
        <p:txBody>
          <a:bodyPr/>
          <a:lstStyle/>
          <a:p>
            <a:fld id="{0928A205-BA41-4D3B-9B0D-65F7F9FA46E6}" type="slidenum">
              <a:rPr lang="zh-CN" altLang="en-US" smtClean="0"/>
              <a:t>‹#›</a:t>
            </a:fld>
            <a:endParaRPr lang="zh-CN" altLang="en-US"/>
          </a:p>
        </p:txBody>
      </p:sp>
    </p:spTree>
    <p:extLst>
      <p:ext uri="{BB962C8B-B14F-4D97-AF65-F5344CB8AC3E}">
        <p14:creationId xmlns:p14="http://schemas.microsoft.com/office/powerpoint/2010/main" val="30594428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83ECAA-6298-ABDF-DE81-24DC132CBC4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53F4A3C-16B7-EC94-E745-0CCBD3CFB29C}"/>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5C5975AF-2896-F005-0769-6A3F0780AD3E}"/>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D90BC71E-CC08-1DA8-2BA7-C7BB49310D7C}"/>
              </a:ext>
            </a:extLst>
          </p:cNvPr>
          <p:cNvSpPr>
            <a:spLocks noGrp="1"/>
          </p:cNvSpPr>
          <p:nvPr>
            <p:ph type="dt" sz="half" idx="10"/>
          </p:nvPr>
        </p:nvSpPr>
        <p:spPr/>
        <p:txBody>
          <a:bodyPr/>
          <a:lstStyle/>
          <a:p>
            <a:fld id="{124CC98C-9013-4CEA-8472-DACFFF3E1687}" type="datetimeFigureOut">
              <a:rPr lang="zh-CN" altLang="en-US" smtClean="0"/>
              <a:t>2026/5/5</a:t>
            </a:fld>
            <a:endParaRPr lang="zh-CN" altLang="en-US"/>
          </a:p>
        </p:txBody>
      </p:sp>
      <p:sp>
        <p:nvSpPr>
          <p:cNvPr id="6" name="页脚占位符 5">
            <a:extLst>
              <a:ext uri="{FF2B5EF4-FFF2-40B4-BE49-F238E27FC236}">
                <a16:creationId xmlns:a16="http://schemas.microsoft.com/office/drawing/2014/main" id="{75EB4DBE-CE3D-0EC8-FA33-853873277B9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DB34241-3B6A-DFDC-4B99-9DC219898EEE}"/>
              </a:ext>
            </a:extLst>
          </p:cNvPr>
          <p:cNvSpPr>
            <a:spLocks noGrp="1"/>
          </p:cNvSpPr>
          <p:nvPr>
            <p:ph type="sldNum" sz="quarter" idx="12"/>
          </p:nvPr>
        </p:nvSpPr>
        <p:spPr/>
        <p:txBody>
          <a:bodyPr/>
          <a:lstStyle/>
          <a:p>
            <a:fld id="{0928A205-BA41-4D3B-9B0D-65F7F9FA46E6}" type="slidenum">
              <a:rPr lang="zh-CN" altLang="en-US" smtClean="0"/>
              <a:t>‹#›</a:t>
            </a:fld>
            <a:endParaRPr lang="zh-CN" altLang="en-US"/>
          </a:p>
        </p:txBody>
      </p:sp>
    </p:spTree>
    <p:extLst>
      <p:ext uri="{BB962C8B-B14F-4D97-AF65-F5344CB8AC3E}">
        <p14:creationId xmlns:p14="http://schemas.microsoft.com/office/powerpoint/2010/main" val="32182494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FA678B-7081-478C-2AB9-5BF080B36567}"/>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20CF5D4-954F-95DF-22A3-DDE43620853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9985A85C-CFAC-336C-1D14-63C480147E6E}"/>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A3763E10-4A2C-F776-723D-B9902F14D59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F392692B-F708-5B37-7D2E-DC3EA35BE568}"/>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86B563A2-1FCA-93F8-3A4F-46C8C6547340}"/>
              </a:ext>
            </a:extLst>
          </p:cNvPr>
          <p:cNvSpPr>
            <a:spLocks noGrp="1"/>
          </p:cNvSpPr>
          <p:nvPr>
            <p:ph type="dt" sz="half" idx="10"/>
          </p:nvPr>
        </p:nvSpPr>
        <p:spPr/>
        <p:txBody>
          <a:bodyPr/>
          <a:lstStyle/>
          <a:p>
            <a:fld id="{124CC98C-9013-4CEA-8472-DACFFF3E1687}" type="datetimeFigureOut">
              <a:rPr lang="zh-CN" altLang="en-US" smtClean="0"/>
              <a:t>2026/5/5</a:t>
            </a:fld>
            <a:endParaRPr lang="zh-CN" altLang="en-US"/>
          </a:p>
        </p:txBody>
      </p:sp>
      <p:sp>
        <p:nvSpPr>
          <p:cNvPr id="8" name="页脚占位符 7">
            <a:extLst>
              <a:ext uri="{FF2B5EF4-FFF2-40B4-BE49-F238E27FC236}">
                <a16:creationId xmlns:a16="http://schemas.microsoft.com/office/drawing/2014/main" id="{12DB9C63-9793-1921-9191-AEA6138551F4}"/>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73CE41EA-FC18-F414-1EF6-C3CB9E796271}"/>
              </a:ext>
            </a:extLst>
          </p:cNvPr>
          <p:cNvSpPr>
            <a:spLocks noGrp="1"/>
          </p:cNvSpPr>
          <p:nvPr>
            <p:ph type="sldNum" sz="quarter" idx="12"/>
          </p:nvPr>
        </p:nvSpPr>
        <p:spPr/>
        <p:txBody>
          <a:bodyPr/>
          <a:lstStyle/>
          <a:p>
            <a:fld id="{0928A205-BA41-4D3B-9B0D-65F7F9FA46E6}" type="slidenum">
              <a:rPr lang="zh-CN" altLang="en-US" smtClean="0"/>
              <a:t>‹#›</a:t>
            </a:fld>
            <a:endParaRPr lang="zh-CN" altLang="en-US"/>
          </a:p>
        </p:txBody>
      </p:sp>
    </p:spTree>
    <p:extLst>
      <p:ext uri="{BB962C8B-B14F-4D97-AF65-F5344CB8AC3E}">
        <p14:creationId xmlns:p14="http://schemas.microsoft.com/office/powerpoint/2010/main" val="6370880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008501-71F1-40C2-D83E-C74F11CB83BC}"/>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0B8BB71C-0F4F-74B7-74CD-9D0FC945A0CE}"/>
              </a:ext>
            </a:extLst>
          </p:cNvPr>
          <p:cNvSpPr>
            <a:spLocks noGrp="1"/>
          </p:cNvSpPr>
          <p:nvPr>
            <p:ph type="dt" sz="half" idx="10"/>
          </p:nvPr>
        </p:nvSpPr>
        <p:spPr/>
        <p:txBody>
          <a:bodyPr/>
          <a:lstStyle/>
          <a:p>
            <a:fld id="{124CC98C-9013-4CEA-8472-DACFFF3E1687}" type="datetimeFigureOut">
              <a:rPr lang="zh-CN" altLang="en-US" smtClean="0"/>
              <a:t>2026/5/5</a:t>
            </a:fld>
            <a:endParaRPr lang="zh-CN" altLang="en-US"/>
          </a:p>
        </p:txBody>
      </p:sp>
      <p:sp>
        <p:nvSpPr>
          <p:cNvPr id="4" name="页脚占位符 3">
            <a:extLst>
              <a:ext uri="{FF2B5EF4-FFF2-40B4-BE49-F238E27FC236}">
                <a16:creationId xmlns:a16="http://schemas.microsoft.com/office/drawing/2014/main" id="{FF177109-5667-6F9B-C52F-39707A2C2153}"/>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87404669-5F9D-F94C-24DE-8094C8144972}"/>
              </a:ext>
            </a:extLst>
          </p:cNvPr>
          <p:cNvSpPr>
            <a:spLocks noGrp="1"/>
          </p:cNvSpPr>
          <p:nvPr>
            <p:ph type="sldNum" sz="quarter" idx="12"/>
          </p:nvPr>
        </p:nvSpPr>
        <p:spPr/>
        <p:txBody>
          <a:bodyPr/>
          <a:lstStyle/>
          <a:p>
            <a:fld id="{0928A205-BA41-4D3B-9B0D-65F7F9FA46E6}" type="slidenum">
              <a:rPr lang="zh-CN" altLang="en-US" smtClean="0"/>
              <a:t>‹#›</a:t>
            </a:fld>
            <a:endParaRPr lang="zh-CN" altLang="en-US"/>
          </a:p>
        </p:txBody>
      </p:sp>
    </p:spTree>
    <p:extLst>
      <p:ext uri="{BB962C8B-B14F-4D97-AF65-F5344CB8AC3E}">
        <p14:creationId xmlns:p14="http://schemas.microsoft.com/office/powerpoint/2010/main" val="39276493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5121590-05EC-F307-3B1D-D555C260A8AA}"/>
              </a:ext>
            </a:extLst>
          </p:cNvPr>
          <p:cNvSpPr>
            <a:spLocks noGrp="1"/>
          </p:cNvSpPr>
          <p:nvPr>
            <p:ph type="dt" sz="half" idx="10"/>
          </p:nvPr>
        </p:nvSpPr>
        <p:spPr/>
        <p:txBody>
          <a:bodyPr/>
          <a:lstStyle/>
          <a:p>
            <a:fld id="{124CC98C-9013-4CEA-8472-DACFFF3E1687}" type="datetimeFigureOut">
              <a:rPr lang="zh-CN" altLang="en-US" smtClean="0"/>
              <a:t>2026/5/5</a:t>
            </a:fld>
            <a:endParaRPr lang="zh-CN" altLang="en-US"/>
          </a:p>
        </p:txBody>
      </p:sp>
      <p:sp>
        <p:nvSpPr>
          <p:cNvPr id="3" name="页脚占位符 2">
            <a:extLst>
              <a:ext uri="{FF2B5EF4-FFF2-40B4-BE49-F238E27FC236}">
                <a16:creationId xmlns:a16="http://schemas.microsoft.com/office/drawing/2014/main" id="{A51AE6FF-D1D6-D58B-C874-448C90BCD58B}"/>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20426F59-4F0D-A236-26E9-F3A3D3EC4E2E}"/>
              </a:ext>
            </a:extLst>
          </p:cNvPr>
          <p:cNvSpPr>
            <a:spLocks noGrp="1"/>
          </p:cNvSpPr>
          <p:nvPr>
            <p:ph type="sldNum" sz="quarter" idx="12"/>
          </p:nvPr>
        </p:nvSpPr>
        <p:spPr/>
        <p:txBody>
          <a:bodyPr/>
          <a:lstStyle/>
          <a:p>
            <a:fld id="{0928A205-BA41-4D3B-9B0D-65F7F9FA46E6}" type="slidenum">
              <a:rPr lang="zh-CN" altLang="en-US" smtClean="0"/>
              <a:t>‹#›</a:t>
            </a:fld>
            <a:endParaRPr lang="zh-CN" altLang="en-US"/>
          </a:p>
        </p:txBody>
      </p:sp>
    </p:spTree>
    <p:extLst>
      <p:ext uri="{BB962C8B-B14F-4D97-AF65-F5344CB8AC3E}">
        <p14:creationId xmlns:p14="http://schemas.microsoft.com/office/powerpoint/2010/main" val="2741070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85A971-CA14-D764-0461-82394D4DB1D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6FEE0ED4-C482-DBA5-CFB3-0DFDE701C32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982EA1A0-04D4-9887-2653-CFC2AA5743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B9ACE12-732D-93CE-E811-4B6E97B45324}"/>
              </a:ext>
            </a:extLst>
          </p:cNvPr>
          <p:cNvSpPr>
            <a:spLocks noGrp="1"/>
          </p:cNvSpPr>
          <p:nvPr>
            <p:ph type="dt" sz="half" idx="10"/>
          </p:nvPr>
        </p:nvSpPr>
        <p:spPr/>
        <p:txBody>
          <a:bodyPr/>
          <a:lstStyle/>
          <a:p>
            <a:fld id="{124CC98C-9013-4CEA-8472-DACFFF3E1687}" type="datetimeFigureOut">
              <a:rPr lang="zh-CN" altLang="en-US" smtClean="0"/>
              <a:t>2026/5/5</a:t>
            </a:fld>
            <a:endParaRPr lang="zh-CN" altLang="en-US"/>
          </a:p>
        </p:txBody>
      </p:sp>
      <p:sp>
        <p:nvSpPr>
          <p:cNvPr id="6" name="页脚占位符 5">
            <a:extLst>
              <a:ext uri="{FF2B5EF4-FFF2-40B4-BE49-F238E27FC236}">
                <a16:creationId xmlns:a16="http://schemas.microsoft.com/office/drawing/2014/main" id="{94FFC648-F3C1-0BF3-BD3C-CC4607B4A10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23BC179-D7C7-685E-BA48-EC8903AF2D87}"/>
              </a:ext>
            </a:extLst>
          </p:cNvPr>
          <p:cNvSpPr>
            <a:spLocks noGrp="1"/>
          </p:cNvSpPr>
          <p:nvPr>
            <p:ph type="sldNum" sz="quarter" idx="12"/>
          </p:nvPr>
        </p:nvSpPr>
        <p:spPr/>
        <p:txBody>
          <a:bodyPr/>
          <a:lstStyle/>
          <a:p>
            <a:fld id="{0928A205-BA41-4D3B-9B0D-65F7F9FA46E6}" type="slidenum">
              <a:rPr lang="zh-CN" altLang="en-US" smtClean="0"/>
              <a:t>‹#›</a:t>
            </a:fld>
            <a:endParaRPr lang="zh-CN" altLang="en-US"/>
          </a:p>
        </p:txBody>
      </p:sp>
    </p:spTree>
    <p:extLst>
      <p:ext uri="{BB962C8B-B14F-4D97-AF65-F5344CB8AC3E}">
        <p14:creationId xmlns:p14="http://schemas.microsoft.com/office/powerpoint/2010/main" val="8524636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F20D1D-D8AD-5B20-0DD6-422226FA872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4CD7A333-211E-0113-D1B9-37AB6AD1493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7F9C09DB-F06D-1D5E-C1B5-4A23C8A8ED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F009EB5-7F95-1ED8-BA76-4CE6E810875F}"/>
              </a:ext>
            </a:extLst>
          </p:cNvPr>
          <p:cNvSpPr>
            <a:spLocks noGrp="1"/>
          </p:cNvSpPr>
          <p:nvPr>
            <p:ph type="dt" sz="half" idx="10"/>
          </p:nvPr>
        </p:nvSpPr>
        <p:spPr/>
        <p:txBody>
          <a:bodyPr/>
          <a:lstStyle/>
          <a:p>
            <a:fld id="{124CC98C-9013-4CEA-8472-DACFFF3E1687}" type="datetimeFigureOut">
              <a:rPr lang="zh-CN" altLang="en-US" smtClean="0"/>
              <a:t>2026/5/5</a:t>
            </a:fld>
            <a:endParaRPr lang="zh-CN" altLang="en-US"/>
          </a:p>
        </p:txBody>
      </p:sp>
      <p:sp>
        <p:nvSpPr>
          <p:cNvPr id="6" name="页脚占位符 5">
            <a:extLst>
              <a:ext uri="{FF2B5EF4-FFF2-40B4-BE49-F238E27FC236}">
                <a16:creationId xmlns:a16="http://schemas.microsoft.com/office/drawing/2014/main" id="{F25B4A0A-9A63-B72B-6198-F8E5C783269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C68410F-7408-4AAF-1C98-93A1DBD4D547}"/>
              </a:ext>
            </a:extLst>
          </p:cNvPr>
          <p:cNvSpPr>
            <a:spLocks noGrp="1"/>
          </p:cNvSpPr>
          <p:nvPr>
            <p:ph type="sldNum" sz="quarter" idx="12"/>
          </p:nvPr>
        </p:nvSpPr>
        <p:spPr/>
        <p:txBody>
          <a:bodyPr/>
          <a:lstStyle/>
          <a:p>
            <a:fld id="{0928A205-BA41-4D3B-9B0D-65F7F9FA46E6}" type="slidenum">
              <a:rPr lang="zh-CN" altLang="en-US" smtClean="0"/>
              <a:t>‹#›</a:t>
            </a:fld>
            <a:endParaRPr lang="zh-CN" altLang="en-US"/>
          </a:p>
        </p:txBody>
      </p:sp>
    </p:spTree>
    <p:extLst>
      <p:ext uri="{BB962C8B-B14F-4D97-AF65-F5344CB8AC3E}">
        <p14:creationId xmlns:p14="http://schemas.microsoft.com/office/powerpoint/2010/main" val="40343213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43DDFC-384F-20F7-6C15-E0EC3A248082}"/>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9AAC4DD7-2671-C3D6-D2E0-5598BC05EF2F}"/>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6B0462D-6E00-2220-67FB-86F46F0BB257}"/>
              </a:ext>
            </a:extLst>
          </p:cNvPr>
          <p:cNvSpPr>
            <a:spLocks noGrp="1"/>
          </p:cNvSpPr>
          <p:nvPr>
            <p:ph type="dt" sz="half" idx="10"/>
          </p:nvPr>
        </p:nvSpPr>
        <p:spPr/>
        <p:txBody>
          <a:bodyPr/>
          <a:lstStyle/>
          <a:p>
            <a:fld id="{124CC98C-9013-4CEA-8472-DACFFF3E1687}" type="datetimeFigureOut">
              <a:rPr lang="zh-CN" altLang="en-US" smtClean="0"/>
              <a:t>2026/5/5</a:t>
            </a:fld>
            <a:endParaRPr lang="zh-CN" altLang="en-US"/>
          </a:p>
        </p:txBody>
      </p:sp>
      <p:sp>
        <p:nvSpPr>
          <p:cNvPr id="5" name="页脚占位符 4">
            <a:extLst>
              <a:ext uri="{FF2B5EF4-FFF2-40B4-BE49-F238E27FC236}">
                <a16:creationId xmlns:a16="http://schemas.microsoft.com/office/drawing/2014/main" id="{12ECC639-D9E1-97D9-5974-7AFE8B677BD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F560073-84AD-581C-4120-94AE5F4B947F}"/>
              </a:ext>
            </a:extLst>
          </p:cNvPr>
          <p:cNvSpPr>
            <a:spLocks noGrp="1"/>
          </p:cNvSpPr>
          <p:nvPr>
            <p:ph type="sldNum" sz="quarter" idx="12"/>
          </p:nvPr>
        </p:nvSpPr>
        <p:spPr/>
        <p:txBody>
          <a:bodyPr/>
          <a:lstStyle/>
          <a:p>
            <a:fld id="{0928A205-BA41-4D3B-9B0D-65F7F9FA46E6}" type="slidenum">
              <a:rPr lang="zh-CN" altLang="en-US" smtClean="0"/>
              <a:t>‹#›</a:t>
            </a:fld>
            <a:endParaRPr lang="zh-CN" altLang="en-US"/>
          </a:p>
        </p:txBody>
      </p:sp>
    </p:spTree>
    <p:extLst>
      <p:ext uri="{BB962C8B-B14F-4D97-AF65-F5344CB8AC3E}">
        <p14:creationId xmlns:p14="http://schemas.microsoft.com/office/powerpoint/2010/main" val="24013324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DECFE734-ACD4-6F79-8A4E-C56D06237152}"/>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0002B3C9-9B6B-10BC-825B-DF636BE15FB7}"/>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A1F87E0-2051-2765-4F8C-958BFB1C2BA3}"/>
              </a:ext>
            </a:extLst>
          </p:cNvPr>
          <p:cNvSpPr>
            <a:spLocks noGrp="1"/>
          </p:cNvSpPr>
          <p:nvPr>
            <p:ph type="dt" sz="half" idx="10"/>
          </p:nvPr>
        </p:nvSpPr>
        <p:spPr/>
        <p:txBody>
          <a:bodyPr/>
          <a:lstStyle/>
          <a:p>
            <a:fld id="{124CC98C-9013-4CEA-8472-DACFFF3E1687}" type="datetimeFigureOut">
              <a:rPr lang="zh-CN" altLang="en-US" smtClean="0"/>
              <a:t>2026/5/5</a:t>
            </a:fld>
            <a:endParaRPr lang="zh-CN" altLang="en-US"/>
          </a:p>
        </p:txBody>
      </p:sp>
      <p:sp>
        <p:nvSpPr>
          <p:cNvPr id="5" name="页脚占位符 4">
            <a:extLst>
              <a:ext uri="{FF2B5EF4-FFF2-40B4-BE49-F238E27FC236}">
                <a16:creationId xmlns:a16="http://schemas.microsoft.com/office/drawing/2014/main" id="{9160F8F5-ECE0-5352-DA21-E5E23E2668A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877A77F-DC59-9339-90F6-C0CC17B56A61}"/>
              </a:ext>
            </a:extLst>
          </p:cNvPr>
          <p:cNvSpPr>
            <a:spLocks noGrp="1"/>
          </p:cNvSpPr>
          <p:nvPr>
            <p:ph type="sldNum" sz="quarter" idx="12"/>
          </p:nvPr>
        </p:nvSpPr>
        <p:spPr/>
        <p:txBody>
          <a:bodyPr/>
          <a:lstStyle/>
          <a:p>
            <a:fld id="{0928A205-BA41-4D3B-9B0D-65F7F9FA46E6}" type="slidenum">
              <a:rPr lang="zh-CN" altLang="en-US" smtClean="0"/>
              <a:t>‹#›</a:t>
            </a:fld>
            <a:endParaRPr lang="zh-CN" altLang="en-US"/>
          </a:p>
        </p:txBody>
      </p:sp>
    </p:spTree>
    <p:extLst>
      <p:ext uri="{BB962C8B-B14F-4D97-AF65-F5344CB8AC3E}">
        <p14:creationId xmlns:p14="http://schemas.microsoft.com/office/powerpoint/2010/main" val="11536515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33F0EF16-7F6E-CDAD-9190-CE398FE77B4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D0707E3F-005C-5E05-FE4C-782FA28A91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83855E4-A084-03A7-A7EB-E565AFC5C64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4CC98C-9013-4CEA-8472-DACFFF3E1687}" type="datetimeFigureOut">
              <a:rPr lang="zh-CN" altLang="en-US" smtClean="0"/>
              <a:t>2026/5/5</a:t>
            </a:fld>
            <a:endParaRPr lang="zh-CN" altLang="en-US"/>
          </a:p>
        </p:txBody>
      </p:sp>
      <p:sp>
        <p:nvSpPr>
          <p:cNvPr id="5" name="页脚占位符 4">
            <a:extLst>
              <a:ext uri="{FF2B5EF4-FFF2-40B4-BE49-F238E27FC236}">
                <a16:creationId xmlns:a16="http://schemas.microsoft.com/office/drawing/2014/main" id="{51AFF0DA-8041-B78A-C251-F1BA702E3F1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91BE20EE-EDBB-C77E-AA28-93350AE68BE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28A205-BA41-4D3B-9B0D-65F7F9FA46E6}" type="slidenum">
              <a:rPr lang="zh-CN" altLang="en-US" smtClean="0"/>
              <a:t>‹#›</a:t>
            </a:fld>
            <a:endParaRPr lang="zh-CN" altLang="en-US"/>
          </a:p>
        </p:txBody>
      </p:sp>
    </p:spTree>
    <p:extLst>
      <p:ext uri="{BB962C8B-B14F-4D97-AF65-F5344CB8AC3E}">
        <p14:creationId xmlns:p14="http://schemas.microsoft.com/office/powerpoint/2010/main" val="42809738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3.png"/><Relationship Id="rId13" Type="http://schemas.microsoft.com/office/2007/relationships/hdphoto" Target="../media/hdphoto3.wdp"/><Relationship Id="rId3" Type="http://schemas.openxmlformats.org/officeDocument/2006/relationships/slideLayout" Target="../slideLayouts/slideLayout1.xml"/><Relationship Id="rId7" Type="http://schemas.microsoft.com/office/2007/relationships/hdphoto" Target="../media/hdphoto1.wdp"/><Relationship Id="rId12" Type="http://schemas.openxmlformats.org/officeDocument/2006/relationships/image" Target="../media/image6.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png"/><Relationship Id="rId11" Type="http://schemas.openxmlformats.org/officeDocument/2006/relationships/image" Target="../media/image5.png"/><Relationship Id="rId5" Type="http://schemas.openxmlformats.org/officeDocument/2006/relationships/image" Target="../media/image1.png"/><Relationship Id="rId10" Type="http://schemas.microsoft.com/office/2007/relationships/hdphoto" Target="../media/hdphoto2.wdp"/><Relationship Id="rId4" Type="http://schemas.openxmlformats.org/officeDocument/2006/relationships/notesSlide" Target="../notesSlides/notesSlide2.xml"/><Relationship Id="rId9" Type="http://schemas.openxmlformats.org/officeDocument/2006/relationships/image" Target="../media/image4.png"/><Relationship Id="rId1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1.png"/><Relationship Id="rId11" Type="http://schemas.openxmlformats.org/officeDocument/2006/relationships/image" Target="../media/image1.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4.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png"/><Relationship Id="rId7"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1.png"/><Relationship Id="rId7" Type="http://schemas.openxmlformats.org/officeDocument/2006/relationships/image" Target="../media/image24.png"/><Relationship Id="rId12"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3.jpeg"/><Relationship Id="rId11" Type="http://schemas.openxmlformats.org/officeDocument/2006/relationships/image" Target="../media/image9.png"/><Relationship Id="rId5" Type="http://schemas.openxmlformats.org/officeDocument/2006/relationships/image" Target="../media/image22.png"/><Relationship Id="rId10" Type="http://schemas.openxmlformats.org/officeDocument/2006/relationships/image" Target="../media/image26.png"/><Relationship Id="rId4" Type="http://schemas.openxmlformats.org/officeDocument/2006/relationships/image" Target="../media/image21.png"/><Relationship Id="rId9" Type="http://schemas.microsoft.com/office/2007/relationships/hdphoto" Target="../media/hdphoto4.wdp"/></Relationships>
</file>

<file path=ppt/slides/_rels/slide6.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32.png"/><Relationship Id="rId18" Type="http://schemas.openxmlformats.org/officeDocument/2006/relationships/image" Target="../media/image300.png"/><Relationship Id="rId3" Type="http://schemas.openxmlformats.org/officeDocument/2006/relationships/image" Target="../media/image1.png"/><Relationship Id="rId7" Type="http://schemas.microsoft.com/office/2007/relationships/hdphoto" Target="../media/hdphoto6.wdp"/><Relationship Id="rId12" Type="http://schemas.openxmlformats.org/officeDocument/2006/relationships/image" Target="../media/image250.png"/><Relationship Id="rId17" Type="http://schemas.openxmlformats.org/officeDocument/2006/relationships/image" Target="../media/image290.png"/><Relationship Id="rId2" Type="http://schemas.openxmlformats.org/officeDocument/2006/relationships/notesSlide" Target="../notesSlides/notesSlide6.xml"/><Relationship Id="rId16" Type="http://schemas.openxmlformats.org/officeDocument/2006/relationships/image" Target="../media/image280.png"/><Relationship Id="rId1" Type="http://schemas.openxmlformats.org/officeDocument/2006/relationships/slideLayout" Target="../slideLayouts/slideLayout2.xml"/><Relationship Id="rId6" Type="http://schemas.openxmlformats.org/officeDocument/2006/relationships/image" Target="../media/image29.png"/><Relationship Id="rId11" Type="http://schemas.openxmlformats.org/officeDocument/2006/relationships/image" Target="../media/image240.png"/><Relationship Id="rId5" Type="http://schemas.microsoft.com/office/2007/relationships/hdphoto" Target="../media/hdphoto5.wdp"/><Relationship Id="rId15" Type="http://schemas.openxmlformats.org/officeDocument/2006/relationships/image" Target="../media/image270.png"/><Relationship Id="rId10" Type="http://schemas.openxmlformats.org/officeDocument/2006/relationships/image" Target="../media/image31.png"/><Relationship Id="rId4" Type="http://schemas.openxmlformats.org/officeDocument/2006/relationships/image" Target="../media/image28.png"/><Relationship Id="rId9" Type="http://schemas.microsoft.com/office/2007/relationships/hdphoto" Target="../media/hdphoto7.wdp"/><Relationship Id="rId14" Type="http://schemas.microsoft.com/office/2007/relationships/hdphoto" Target="../media/hdphoto8.wdp"/></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microsoft.com/office/2007/relationships/hdphoto" Target="../media/hdphoto5.wdp"/><Relationship Id="rId4" Type="http://schemas.openxmlformats.org/officeDocument/2006/relationships/image" Target="../media/image28.png"/></Relationships>
</file>

<file path=ppt/slides/_rels/slide8.xml.rels><?xml version="1.0" encoding="UTF-8" standalone="yes"?>
<Relationships xmlns="http://schemas.openxmlformats.org/package/2006/relationships"><Relationship Id="rId8" Type="http://schemas.openxmlformats.org/officeDocument/2006/relationships/image" Target="../media/image350.png"/><Relationship Id="rId3" Type="http://schemas.openxmlformats.org/officeDocument/2006/relationships/image" Target="../media/image1.png"/><Relationship Id="rId7" Type="http://schemas.openxmlformats.org/officeDocument/2006/relationships/image" Target="../media/image340.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70.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37.png"/><Relationship Id="rId5" Type="http://schemas.microsoft.com/office/2007/relationships/hdphoto" Target="../media/hdphoto9.wdp"/><Relationship Id="rId4" Type="http://schemas.openxmlformats.org/officeDocument/2006/relationships/image" Target="../media/image36.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1.png"/><Relationship Id="rId7" Type="http://schemas.openxmlformats.org/officeDocument/2006/relationships/image" Target="../media/image40.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9.png"/><Relationship Id="rId5" Type="http://schemas.microsoft.com/office/2007/relationships/hdphoto" Target="../media/hdphoto10.wdp"/><Relationship Id="rId10" Type="http://schemas.openxmlformats.org/officeDocument/2006/relationships/image" Target="../media/image42.png"/><Relationship Id="rId4" Type="http://schemas.openxmlformats.org/officeDocument/2006/relationships/image" Target="../media/image38.png"/><Relationship Id="rId9" Type="http://schemas.openxmlformats.org/officeDocument/2006/relationships/image" Target="../media/image41.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41862985-7480-AAF3-2444-8E38F697F30F}"/>
              </a:ext>
            </a:extLst>
          </p:cNvPr>
          <p:cNvPicPr>
            <a:picLocks noChangeAspect="1"/>
          </p:cNvPicPr>
          <p:nvPr/>
        </p:nvPicPr>
        <p:blipFill>
          <a:blip r:embed="rId3"/>
          <a:stretch>
            <a:fillRect/>
          </a:stretch>
        </p:blipFill>
        <p:spPr>
          <a:xfrm>
            <a:off x="11419972" y="99001"/>
            <a:ext cx="513560" cy="513560"/>
          </a:xfrm>
          <a:prstGeom prst="rect">
            <a:avLst/>
          </a:prstGeom>
        </p:spPr>
      </p:pic>
      <p:sp>
        <p:nvSpPr>
          <p:cNvPr id="6" name="文本框 5">
            <a:extLst>
              <a:ext uri="{FF2B5EF4-FFF2-40B4-BE49-F238E27FC236}">
                <a16:creationId xmlns:a16="http://schemas.microsoft.com/office/drawing/2014/main" id="{A7269203-7047-5FE8-D017-0851F4BB8708}"/>
              </a:ext>
            </a:extLst>
          </p:cNvPr>
          <p:cNvSpPr txBox="1"/>
          <p:nvPr/>
        </p:nvSpPr>
        <p:spPr>
          <a:xfrm>
            <a:off x="10280223" y="274007"/>
            <a:ext cx="1653309" cy="338554"/>
          </a:xfrm>
          <a:prstGeom prst="rect">
            <a:avLst/>
          </a:prstGeom>
          <a:noFill/>
        </p:spPr>
        <p:txBody>
          <a:bodyPr wrap="square" rtlCol="0">
            <a:spAutoFit/>
          </a:bodyPr>
          <a:lstStyle/>
          <a:p>
            <a:r>
              <a:rPr lang="zh-CN" altLang="en-US" sz="1600" b="1" dirty="0">
                <a:solidFill>
                  <a:srgbClr val="0070C0"/>
                </a:solidFill>
                <a:latin typeface="微软雅黑" panose="020B0503020204020204" pitchFamily="34" charset="-122"/>
                <a:ea typeface="微软雅黑" panose="020B0503020204020204" pitchFamily="34" charset="-122"/>
              </a:rPr>
              <a:t>酸沙柠檬</a:t>
            </a:r>
          </a:p>
        </p:txBody>
      </p:sp>
      <p:sp>
        <p:nvSpPr>
          <p:cNvPr id="7" name="矩形 6">
            <a:extLst>
              <a:ext uri="{FF2B5EF4-FFF2-40B4-BE49-F238E27FC236}">
                <a16:creationId xmlns:a16="http://schemas.microsoft.com/office/drawing/2014/main" id="{283534B7-E226-5019-C3A8-1FED63E7FE21}"/>
              </a:ext>
            </a:extLst>
          </p:cNvPr>
          <p:cNvSpPr/>
          <p:nvPr/>
        </p:nvSpPr>
        <p:spPr>
          <a:xfrm>
            <a:off x="9517283" y="704440"/>
            <a:ext cx="2416249" cy="83127"/>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CA9DF877-94A6-7F89-D551-F39367502224}"/>
              </a:ext>
            </a:extLst>
          </p:cNvPr>
          <p:cNvSpPr txBox="1"/>
          <p:nvPr/>
        </p:nvSpPr>
        <p:spPr>
          <a:xfrm>
            <a:off x="0" y="2093328"/>
            <a:ext cx="12192000" cy="1224118"/>
          </a:xfrm>
          <a:prstGeom prst="rect">
            <a:avLst/>
          </a:prstGeom>
          <a:noFill/>
        </p:spPr>
        <p:txBody>
          <a:bodyPr wrap="square" rtlCol="0">
            <a:spAutoFit/>
          </a:bodyPr>
          <a:lstStyle/>
          <a:p>
            <a:pPr algn="ctr">
              <a:lnSpc>
                <a:spcPct val="120000"/>
              </a:lnSpc>
            </a:pPr>
            <a:r>
              <a:rPr lang="en-US" altLang="zh-CN" sz="3200" b="1" dirty="0">
                <a:latin typeface="微软雅黑" panose="020B0503020204020204" pitchFamily="34" charset="-122"/>
                <a:ea typeface="微软雅黑" panose="020B0503020204020204" pitchFamily="34" charset="-122"/>
              </a:rPr>
              <a:t>Part0.1</a:t>
            </a:r>
            <a:r>
              <a:rPr lang="zh-CN" altLang="en-US" sz="3200" b="1" dirty="0">
                <a:latin typeface="微软雅黑" panose="020B0503020204020204" pitchFamily="34" charset="-122"/>
                <a:ea typeface="微软雅黑" panose="020B0503020204020204" pitchFamily="34" charset="-122"/>
              </a:rPr>
              <a:t>：从力与力矩到飞行品质</a:t>
            </a:r>
            <a:endParaRPr lang="en-US" altLang="zh-CN" sz="3200" b="1" dirty="0">
              <a:latin typeface="微软雅黑" panose="020B0503020204020204" pitchFamily="34" charset="-122"/>
              <a:ea typeface="微软雅黑" panose="020B0503020204020204" pitchFamily="34" charset="-122"/>
            </a:endParaRPr>
          </a:p>
          <a:p>
            <a:pPr algn="ctr">
              <a:lnSpc>
                <a:spcPct val="120000"/>
              </a:lnSpc>
            </a:pPr>
            <a:r>
              <a:rPr lang="en-US" altLang="zh-CN" sz="3200" b="1" dirty="0">
                <a:latin typeface="微软雅黑" panose="020B0503020204020204" pitchFamily="34" charset="-122"/>
                <a:ea typeface="微软雅黑" panose="020B0503020204020204" pitchFamily="34" charset="-122"/>
              </a:rPr>
              <a:t>——</a:t>
            </a:r>
            <a:r>
              <a:rPr lang="zh-CN" altLang="en-US" sz="3200" b="1" dirty="0">
                <a:latin typeface="微软雅黑" panose="020B0503020204020204" pitchFamily="34" charset="-122"/>
                <a:ea typeface="微软雅黑" panose="020B0503020204020204" pitchFamily="34" charset="-122"/>
              </a:rPr>
              <a:t>气动数据的工程旅程</a:t>
            </a:r>
          </a:p>
        </p:txBody>
      </p:sp>
      <p:sp>
        <p:nvSpPr>
          <p:cNvPr id="4" name="文本框 3">
            <a:extLst>
              <a:ext uri="{FF2B5EF4-FFF2-40B4-BE49-F238E27FC236}">
                <a16:creationId xmlns:a16="http://schemas.microsoft.com/office/drawing/2014/main" id="{BFF8116C-A2E1-0FC1-355D-76A5EB699C3D}"/>
              </a:ext>
            </a:extLst>
          </p:cNvPr>
          <p:cNvSpPr txBox="1"/>
          <p:nvPr/>
        </p:nvSpPr>
        <p:spPr>
          <a:xfrm>
            <a:off x="0" y="5463354"/>
            <a:ext cx="12192000" cy="338554"/>
          </a:xfrm>
          <a:prstGeom prst="rect">
            <a:avLst/>
          </a:prstGeom>
          <a:noFill/>
        </p:spPr>
        <p:txBody>
          <a:bodyPr wrap="square" rtlCol="0">
            <a:spAutoFit/>
          </a:bodyPr>
          <a:lstStyle/>
          <a:p>
            <a:pPr algn="ctr"/>
            <a:r>
              <a:rPr lang="zh-CN" altLang="en-US" sz="1600" dirty="0">
                <a:latin typeface="微软雅黑" panose="020B0503020204020204" pitchFamily="34" charset="-122"/>
                <a:ea typeface="微软雅黑" panose="020B0503020204020204" pitchFamily="34" charset="-122"/>
              </a:rPr>
              <a:t>酸沙柠檬出品</a:t>
            </a:r>
          </a:p>
        </p:txBody>
      </p:sp>
    </p:spTree>
    <p:extLst>
      <p:ext uri="{BB962C8B-B14F-4D97-AF65-F5344CB8AC3E}">
        <p14:creationId xmlns:p14="http://schemas.microsoft.com/office/powerpoint/2010/main" val="14646635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B265D-01D0-4D5C-09F7-4B0687029BA2}"/>
            </a:ext>
          </a:extLst>
        </p:cNvPr>
        <p:cNvGrpSpPr/>
        <p:nvPr/>
      </p:nvGrpSpPr>
      <p:grpSpPr>
        <a:xfrm>
          <a:off x="0" y="0"/>
          <a:ext cx="0" cy="0"/>
          <a:chOff x="0" y="0"/>
          <a:chExt cx="0" cy="0"/>
        </a:xfrm>
      </p:grpSpPr>
      <p:pic>
        <p:nvPicPr>
          <p:cNvPr id="5" name="图片 4">
            <a:extLst>
              <a:ext uri="{FF2B5EF4-FFF2-40B4-BE49-F238E27FC236}">
                <a16:creationId xmlns:a16="http://schemas.microsoft.com/office/drawing/2014/main" id="{E4CCB232-7FCD-C8C5-51FB-18195C1534A7}"/>
              </a:ext>
            </a:extLst>
          </p:cNvPr>
          <p:cNvPicPr>
            <a:picLocks noChangeAspect="1"/>
          </p:cNvPicPr>
          <p:nvPr/>
        </p:nvPicPr>
        <p:blipFill>
          <a:blip r:embed="rId5"/>
          <a:stretch>
            <a:fillRect/>
          </a:stretch>
        </p:blipFill>
        <p:spPr>
          <a:xfrm>
            <a:off x="684387" y="529437"/>
            <a:ext cx="2333122" cy="2333122"/>
          </a:xfrm>
          <a:prstGeom prst="rect">
            <a:avLst/>
          </a:prstGeom>
        </p:spPr>
      </p:pic>
      <p:sp>
        <p:nvSpPr>
          <p:cNvPr id="6" name="文本框 5">
            <a:extLst>
              <a:ext uri="{FF2B5EF4-FFF2-40B4-BE49-F238E27FC236}">
                <a16:creationId xmlns:a16="http://schemas.microsoft.com/office/drawing/2014/main" id="{D41C06B7-D229-1EF8-453B-C0449E7EE58A}"/>
              </a:ext>
            </a:extLst>
          </p:cNvPr>
          <p:cNvSpPr txBox="1"/>
          <p:nvPr/>
        </p:nvSpPr>
        <p:spPr>
          <a:xfrm>
            <a:off x="1197947" y="3139004"/>
            <a:ext cx="1653309" cy="523220"/>
          </a:xfrm>
          <a:prstGeom prst="rect">
            <a:avLst/>
          </a:prstGeom>
          <a:noFill/>
        </p:spPr>
        <p:txBody>
          <a:bodyPr wrap="square" rtlCol="0">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酸沙柠檬</a:t>
            </a:r>
          </a:p>
        </p:txBody>
      </p:sp>
      <p:sp>
        <p:nvSpPr>
          <p:cNvPr id="7" name="矩形 6">
            <a:extLst>
              <a:ext uri="{FF2B5EF4-FFF2-40B4-BE49-F238E27FC236}">
                <a16:creationId xmlns:a16="http://schemas.microsoft.com/office/drawing/2014/main" id="{9EB733AC-FB31-AF4B-8146-57E0DD6792CF}"/>
              </a:ext>
            </a:extLst>
          </p:cNvPr>
          <p:cNvSpPr/>
          <p:nvPr/>
        </p:nvSpPr>
        <p:spPr>
          <a:xfrm>
            <a:off x="816478" y="3810952"/>
            <a:ext cx="2416249" cy="83127"/>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150D5B8F-8ABC-E8CA-A378-AEE645A2303D}"/>
              </a:ext>
            </a:extLst>
          </p:cNvPr>
          <p:cNvSpPr txBox="1"/>
          <p:nvPr/>
        </p:nvSpPr>
        <p:spPr>
          <a:xfrm>
            <a:off x="1281074" y="4766067"/>
            <a:ext cx="1653309" cy="338554"/>
          </a:xfrm>
          <a:prstGeom prst="rect">
            <a:avLst/>
          </a:prstGeom>
          <a:noFill/>
        </p:spPr>
        <p:txBody>
          <a:bodyPr wrap="square" rtlCol="0">
            <a:spAutoFit/>
          </a:bodyPr>
          <a:lstStyle/>
          <a:p>
            <a:r>
              <a:rPr lang="zh-CN" altLang="en-US" sz="1600" b="1" dirty="0">
                <a:solidFill>
                  <a:schemeClr val="accent3">
                    <a:lumMod val="50000"/>
                  </a:schemeClr>
                </a:solidFill>
                <a:latin typeface="微软雅黑" panose="020B0503020204020204" pitchFamily="34" charset="-122"/>
                <a:ea typeface="微软雅黑" panose="020B0503020204020204" pitchFamily="34" charset="-122"/>
              </a:rPr>
              <a:t>飞行器设计专业</a:t>
            </a:r>
          </a:p>
        </p:txBody>
      </p:sp>
      <p:sp>
        <p:nvSpPr>
          <p:cNvPr id="9" name="文本框 8">
            <a:extLst>
              <a:ext uri="{FF2B5EF4-FFF2-40B4-BE49-F238E27FC236}">
                <a16:creationId xmlns:a16="http://schemas.microsoft.com/office/drawing/2014/main" id="{BB6A69E1-B817-B9AC-43CE-056C0099600D}"/>
              </a:ext>
            </a:extLst>
          </p:cNvPr>
          <p:cNvSpPr txBox="1"/>
          <p:nvPr/>
        </p:nvSpPr>
        <p:spPr>
          <a:xfrm>
            <a:off x="1197947" y="5336476"/>
            <a:ext cx="1819562" cy="338554"/>
          </a:xfrm>
          <a:prstGeom prst="rect">
            <a:avLst/>
          </a:prstGeom>
          <a:noFill/>
        </p:spPr>
        <p:txBody>
          <a:bodyPr wrap="square" rtlCol="0">
            <a:spAutoFit/>
          </a:bodyPr>
          <a:lstStyle/>
          <a:p>
            <a:r>
              <a:rPr lang="zh-CN" altLang="en-US" sz="1600" b="1" dirty="0">
                <a:solidFill>
                  <a:schemeClr val="accent3">
                    <a:lumMod val="50000"/>
                  </a:schemeClr>
                </a:solidFill>
                <a:latin typeface="微软雅黑" panose="020B0503020204020204" pitchFamily="34" charset="-122"/>
                <a:ea typeface="微软雅黑" panose="020B0503020204020204" pitchFamily="34" charset="-122"/>
              </a:rPr>
              <a:t>西北工业大学本硕</a:t>
            </a:r>
          </a:p>
        </p:txBody>
      </p:sp>
      <p:sp>
        <p:nvSpPr>
          <p:cNvPr id="10" name="文本框 9">
            <a:extLst>
              <a:ext uri="{FF2B5EF4-FFF2-40B4-BE49-F238E27FC236}">
                <a16:creationId xmlns:a16="http://schemas.microsoft.com/office/drawing/2014/main" id="{E44C8439-61A1-1DCA-485F-1E8B8549BC93}"/>
              </a:ext>
            </a:extLst>
          </p:cNvPr>
          <p:cNvSpPr txBox="1"/>
          <p:nvPr/>
        </p:nvSpPr>
        <p:spPr>
          <a:xfrm>
            <a:off x="1281074" y="5906885"/>
            <a:ext cx="1653309" cy="338554"/>
          </a:xfrm>
          <a:prstGeom prst="rect">
            <a:avLst/>
          </a:prstGeom>
          <a:noFill/>
        </p:spPr>
        <p:txBody>
          <a:bodyPr wrap="square" rtlCol="0">
            <a:spAutoFit/>
          </a:bodyPr>
          <a:lstStyle/>
          <a:p>
            <a:r>
              <a:rPr lang="zh-CN" altLang="en-US" sz="1600" b="1" dirty="0">
                <a:solidFill>
                  <a:schemeClr val="accent3">
                    <a:lumMod val="50000"/>
                  </a:schemeClr>
                </a:solidFill>
                <a:latin typeface="微软雅黑" panose="020B0503020204020204" pitchFamily="34" charset="-122"/>
                <a:ea typeface="微软雅黑" panose="020B0503020204020204" pitchFamily="34" charset="-122"/>
              </a:rPr>
              <a:t>流体仿真工程师</a:t>
            </a:r>
          </a:p>
        </p:txBody>
      </p:sp>
      <p:sp>
        <p:nvSpPr>
          <p:cNvPr id="11" name="文本框 10">
            <a:extLst>
              <a:ext uri="{FF2B5EF4-FFF2-40B4-BE49-F238E27FC236}">
                <a16:creationId xmlns:a16="http://schemas.microsoft.com/office/drawing/2014/main" id="{9C944DC3-0465-CA47-406C-1352A0FA95E7}"/>
              </a:ext>
            </a:extLst>
          </p:cNvPr>
          <p:cNvSpPr txBox="1"/>
          <p:nvPr/>
        </p:nvSpPr>
        <p:spPr>
          <a:xfrm>
            <a:off x="1335101" y="4192085"/>
            <a:ext cx="1545254" cy="338554"/>
          </a:xfrm>
          <a:prstGeom prst="rect">
            <a:avLst/>
          </a:prstGeom>
          <a:noFill/>
        </p:spPr>
        <p:txBody>
          <a:bodyPr wrap="square" rtlCol="0">
            <a:spAutoFit/>
          </a:bodyPr>
          <a:lstStyle/>
          <a:p>
            <a:pPr algn="ctr"/>
            <a:r>
              <a:rPr lang="zh-CN" altLang="en-US" sz="1600" b="1" dirty="0">
                <a:solidFill>
                  <a:schemeClr val="accent3">
                    <a:lumMod val="50000"/>
                  </a:schemeClr>
                </a:solidFill>
                <a:latin typeface="微软雅黑" panose="020B0503020204020204" pitchFamily="34" charset="-122"/>
                <a:ea typeface="微软雅黑" panose="020B0503020204020204" pitchFamily="34" charset="-122"/>
              </a:rPr>
              <a:t>新人</a:t>
            </a:r>
            <a:r>
              <a:rPr lang="en-US" altLang="zh-CN" sz="1600" b="1" dirty="0">
                <a:solidFill>
                  <a:schemeClr val="accent3">
                    <a:lumMod val="50000"/>
                  </a:schemeClr>
                </a:solidFill>
                <a:latin typeface="微软雅黑" panose="020B0503020204020204" pitchFamily="34" charset="-122"/>
                <a:ea typeface="微软雅黑" panose="020B0503020204020204" pitchFamily="34" charset="-122"/>
              </a:rPr>
              <a:t>UP</a:t>
            </a:r>
            <a:endParaRPr lang="zh-CN" altLang="en-US" sz="1600" b="1" dirty="0">
              <a:solidFill>
                <a:schemeClr val="accent3">
                  <a:lumMod val="50000"/>
                </a:schemeClr>
              </a:solidFill>
              <a:latin typeface="微软雅黑" panose="020B0503020204020204" pitchFamily="34" charset="-122"/>
              <a:ea typeface="微软雅黑" panose="020B0503020204020204" pitchFamily="34" charset="-122"/>
            </a:endParaRPr>
          </a:p>
        </p:txBody>
      </p:sp>
      <p:sp>
        <p:nvSpPr>
          <p:cNvPr id="16" name="文本框 15">
            <a:extLst>
              <a:ext uri="{FF2B5EF4-FFF2-40B4-BE49-F238E27FC236}">
                <a16:creationId xmlns:a16="http://schemas.microsoft.com/office/drawing/2014/main" id="{8E036502-58DF-99ED-6762-6091FB9B1321}"/>
              </a:ext>
            </a:extLst>
          </p:cNvPr>
          <p:cNvSpPr txBox="1"/>
          <p:nvPr/>
        </p:nvSpPr>
        <p:spPr>
          <a:xfrm>
            <a:off x="4017468" y="1575809"/>
            <a:ext cx="2684555" cy="338554"/>
          </a:xfrm>
          <a:prstGeom prst="rect">
            <a:avLst/>
          </a:prstGeom>
          <a:noFill/>
        </p:spPr>
        <p:txBody>
          <a:bodyPr wrap="square" rtlCol="0">
            <a:spAutoFit/>
          </a:bodyPr>
          <a:lstStyle/>
          <a:p>
            <a:pPr algn="ctr"/>
            <a:r>
              <a:rPr lang="zh-CN" altLang="en-US" sz="1600" b="1" dirty="0">
                <a:solidFill>
                  <a:schemeClr val="accent3">
                    <a:lumMod val="50000"/>
                  </a:schemeClr>
                </a:solidFill>
                <a:latin typeface="微软雅黑" panose="020B0503020204020204" pitchFamily="34" charset="-122"/>
                <a:ea typeface="微软雅黑" panose="020B0503020204020204" pitchFamily="34" charset="-122"/>
              </a:rPr>
              <a:t>固定翼无人机总体设计</a:t>
            </a:r>
            <a:endParaRPr lang="en-US" altLang="zh-CN" sz="1600" b="1" dirty="0">
              <a:solidFill>
                <a:schemeClr val="accent3">
                  <a:lumMod val="50000"/>
                </a:schemeClr>
              </a:solidFill>
              <a:latin typeface="微软雅黑" panose="020B0503020204020204" pitchFamily="34" charset="-122"/>
              <a:ea typeface="微软雅黑" panose="020B0503020204020204" pitchFamily="34" charset="-122"/>
            </a:endParaRPr>
          </a:p>
        </p:txBody>
      </p:sp>
      <p:sp>
        <p:nvSpPr>
          <p:cNvPr id="19" name="文本框 18">
            <a:extLst>
              <a:ext uri="{FF2B5EF4-FFF2-40B4-BE49-F238E27FC236}">
                <a16:creationId xmlns:a16="http://schemas.microsoft.com/office/drawing/2014/main" id="{8772F884-2902-E88C-E38C-AFE2ADECE9D6}"/>
              </a:ext>
            </a:extLst>
          </p:cNvPr>
          <p:cNvSpPr txBox="1"/>
          <p:nvPr/>
        </p:nvSpPr>
        <p:spPr>
          <a:xfrm>
            <a:off x="3906666" y="3555525"/>
            <a:ext cx="2684555" cy="338554"/>
          </a:xfrm>
          <a:prstGeom prst="rect">
            <a:avLst/>
          </a:prstGeom>
          <a:noFill/>
        </p:spPr>
        <p:txBody>
          <a:bodyPr wrap="square" rtlCol="0">
            <a:spAutoFit/>
          </a:bodyPr>
          <a:lstStyle/>
          <a:p>
            <a:pPr algn="ctr"/>
            <a:r>
              <a:rPr lang="zh-CN" altLang="en-US" sz="1600" b="1" dirty="0">
                <a:solidFill>
                  <a:schemeClr val="accent3">
                    <a:lumMod val="50000"/>
                  </a:schemeClr>
                </a:solidFill>
                <a:latin typeface="微软雅黑" panose="020B0503020204020204" pitchFamily="34" charset="-122"/>
                <a:ea typeface="微软雅黑" panose="020B0503020204020204" pitchFamily="34" charset="-122"/>
              </a:rPr>
              <a:t>变体飞行器空投</a:t>
            </a:r>
          </a:p>
        </p:txBody>
      </p:sp>
      <p:sp>
        <p:nvSpPr>
          <p:cNvPr id="29" name="文本框 28">
            <a:extLst>
              <a:ext uri="{FF2B5EF4-FFF2-40B4-BE49-F238E27FC236}">
                <a16:creationId xmlns:a16="http://schemas.microsoft.com/office/drawing/2014/main" id="{FAB92A25-6BCB-F02E-E5D6-A216CA7E67CA}"/>
              </a:ext>
            </a:extLst>
          </p:cNvPr>
          <p:cNvSpPr txBox="1"/>
          <p:nvPr/>
        </p:nvSpPr>
        <p:spPr>
          <a:xfrm>
            <a:off x="3906665" y="5441784"/>
            <a:ext cx="2684555" cy="338554"/>
          </a:xfrm>
          <a:prstGeom prst="rect">
            <a:avLst/>
          </a:prstGeom>
          <a:noFill/>
        </p:spPr>
        <p:txBody>
          <a:bodyPr wrap="square" rtlCol="0">
            <a:spAutoFit/>
          </a:bodyPr>
          <a:lstStyle/>
          <a:p>
            <a:pPr algn="ctr"/>
            <a:r>
              <a:rPr lang="zh-CN" altLang="en-US" sz="1600" b="1" dirty="0">
                <a:solidFill>
                  <a:schemeClr val="accent3">
                    <a:lumMod val="50000"/>
                  </a:schemeClr>
                </a:solidFill>
                <a:latin typeface="微软雅黑" panose="020B0503020204020204" pitchFamily="34" charset="-122"/>
                <a:ea typeface="微软雅黑" panose="020B0503020204020204" pitchFamily="34" charset="-122"/>
              </a:rPr>
              <a:t>流致噪声分析</a:t>
            </a:r>
          </a:p>
        </p:txBody>
      </p:sp>
      <p:pic>
        <p:nvPicPr>
          <p:cNvPr id="12" name="图片 11">
            <a:extLst>
              <a:ext uri="{FF2B5EF4-FFF2-40B4-BE49-F238E27FC236}">
                <a16:creationId xmlns:a16="http://schemas.microsoft.com/office/drawing/2014/main" id="{4AFA9675-6854-717E-6496-44896049D788}"/>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10000" b="90000" l="10000" r="90000"/>
                    </a14:imgEffect>
                    <a14:imgEffect>
                      <a14:artisticGlass/>
                    </a14:imgEffect>
                  </a14:imgLayer>
                </a14:imgProps>
              </a:ext>
            </a:extLst>
          </a:blip>
          <a:stretch>
            <a:fillRect/>
          </a:stretch>
        </p:blipFill>
        <p:spPr>
          <a:xfrm>
            <a:off x="8507206" y="631746"/>
            <a:ext cx="3895682" cy="1877731"/>
          </a:xfrm>
          <a:prstGeom prst="rect">
            <a:avLst/>
          </a:prstGeom>
        </p:spPr>
      </p:pic>
      <p:pic>
        <p:nvPicPr>
          <p:cNvPr id="17" name="图片 16">
            <a:extLst>
              <a:ext uri="{FF2B5EF4-FFF2-40B4-BE49-F238E27FC236}">
                <a16:creationId xmlns:a16="http://schemas.microsoft.com/office/drawing/2014/main" id="{9D268893-B946-9D48-F3DE-F6828572513A}"/>
              </a:ext>
            </a:extLst>
          </p:cNvPr>
          <p:cNvPicPr>
            <a:picLocks noChangeAspect="1"/>
          </p:cNvPicPr>
          <p:nvPr/>
        </p:nvPicPr>
        <p:blipFill>
          <a:blip r:embed="rId8"/>
          <a:stretch>
            <a:fillRect/>
          </a:stretch>
        </p:blipFill>
        <p:spPr>
          <a:xfrm>
            <a:off x="6591221" y="924380"/>
            <a:ext cx="2353260" cy="1292464"/>
          </a:xfrm>
          <a:prstGeom prst="rect">
            <a:avLst/>
          </a:prstGeom>
        </p:spPr>
      </p:pic>
      <p:pic>
        <p:nvPicPr>
          <p:cNvPr id="22" name="图片 21">
            <a:extLst>
              <a:ext uri="{FF2B5EF4-FFF2-40B4-BE49-F238E27FC236}">
                <a16:creationId xmlns:a16="http://schemas.microsoft.com/office/drawing/2014/main" id="{5C509A8A-CA90-54AE-C30D-4E2AFE2BC026}"/>
              </a:ext>
            </a:extLst>
          </p:cNvPr>
          <p:cNvPicPr>
            <a:picLocks noChangeAspect="1"/>
          </p:cNvPicPr>
          <p:nvPr/>
        </p:nvPicPr>
        <p:blipFill>
          <a:blip r:embed="rId9">
            <a:extLst>
              <a:ext uri="{BEBA8EAE-BF5A-486C-A8C5-ECC9F3942E4B}">
                <a14:imgProps xmlns:a14="http://schemas.microsoft.com/office/drawing/2010/main">
                  <a14:imgLayer r:embed="rId10">
                    <a14:imgEffect>
                      <a14:artisticBlur/>
                    </a14:imgEffect>
                  </a14:imgLayer>
                </a14:imgProps>
              </a:ext>
            </a:extLst>
          </a:blip>
          <a:stretch>
            <a:fillRect/>
          </a:stretch>
        </p:blipFill>
        <p:spPr>
          <a:xfrm>
            <a:off x="10164436" y="2732076"/>
            <a:ext cx="1384923" cy="1860296"/>
          </a:xfrm>
          <a:prstGeom prst="rect">
            <a:avLst/>
          </a:prstGeom>
        </p:spPr>
      </p:pic>
      <p:pic>
        <p:nvPicPr>
          <p:cNvPr id="30" name="图片 29">
            <a:extLst>
              <a:ext uri="{FF2B5EF4-FFF2-40B4-BE49-F238E27FC236}">
                <a16:creationId xmlns:a16="http://schemas.microsoft.com/office/drawing/2014/main" id="{E63A5AE9-323D-9775-7359-FA0CE0571636}"/>
              </a:ext>
            </a:extLst>
          </p:cNvPr>
          <p:cNvPicPr>
            <a:picLocks noChangeAspect="1"/>
          </p:cNvPicPr>
          <p:nvPr/>
        </p:nvPicPr>
        <p:blipFill>
          <a:blip r:embed="rId11"/>
          <a:stretch>
            <a:fillRect/>
          </a:stretch>
        </p:blipFill>
        <p:spPr>
          <a:xfrm>
            <a:off x="6615255" y="4890725"/>
            <a:ext cx="1891951" cy="1681226"/>
          </a:xfrm>
          <a:prstGeom prst="rect">
            <a:avLst/>
          </a:prstGeom>
        </p:spPr>
      </p:pic>
      <p:pic>
        <p:nvPicPr>
          <p:cNvPr id="33" name="图片 32">
            <a:extLst>
              <a:ext uri="{FF2B5EF4-FFF2-40B4-BE49-F238E27FC236}">
                <a16:creationId xmlns:a16="http://schemas.microsoft.com/office/drawing/2014/main" id="{5D9AAA06-2429-7606-AD10-7BF5140ACE96}"/>
              </a:ext>
            </a:extLst>
          </p:cNvPr>
          <p:cNvPicPr>
            <a:picLocks noChangeAspect="1"/>
          </p:cNvPicPr>
          <p:nvPr/>
        </p:nvPicPr>
        <p:blipFill>
          <a:blip r:embed="rId12">
            <a:extLst>
              <a:ext uri="{BEBA8EAE-BF5A-486C-A8C5-ECC9F3942E4B}">
                <a14:imgProps xmlns:a14="http://schemas.microsoft.com/office/drawing/2010/main">
                  <a14:imgLayer r:embed="rId13">
                    <a14:imgEffect>
                      <a14:artisticBlur/>
                    </a14:imgEffect>
                  </a14:imgLayer>
                </a14:imgProps>
              </a:ext>
            </a:extLst>
          </a:blip>
          <a:stretch>
            <a:fillRect/>
          </a:stretch>
        </p:blipFill>
        <p:spPr>
          <a:xfrm>
            <a:off x="9964616" y="4890725"/>
            <a:ext cx="1891951" cy="1683663"/>
          </a:xfrm>
          <a:prstGeom prst="rect">
            <a:avLst/>
          </a:prstGeom>
        </p:spPr>
      </p:pic>
      <p:pic>
        <p:nvPicPr>
          <p:cNvPr id="34" name="图片 33">
            <a:extLst>
              <a:ext uri="{FF2B5EF4-FFF2-40B4-BE49-F238E27FC236}">
                <a16:creationId xmlns:a16="http://schemas.microsoft.com/office/drawing/2014/main" id="{BB60CB4A-8039-53E5-623B-75F1E74219A7}"/>
              </a:ext>
            </a:extLst>
          </p:cNvPr>
          <p:cNvPicPr>
            <a:picLocks noChangeAspect="1"/>
          </p:cNvPicPr>
          <p:nvPr/>
        </p:nvPicPr>
        <p:blipFill>
          <a:blip r:embed="rId5"/>
          <a:stretch>
            <a:fillRect/>
          </a:stretch>
        </p:blipFill>
        <p:spPr>
          <a:xfrm>
            <a:off x="11419972" y="99001"/>
            <a:ext cx="513560" cy="513560"/>
          </a:xfrm>
          <a:prstGeom prst="rect">
            <a:avLst/>
          </a:prstGeom>
        </p:spPr>
      </p:pic>
      <p:sp>
        <p:nvSpPr>
          <p:cNvPr id="35" name="文本框 34">
            <a:extLst>
              <a:ext uri="{FF2B5EF4-FFF2-40B4-BE49-F238E27FC236}">
                <a16:creationId xmlns:a16="http://schemas.microsoft.com/office/drawing/2014/main" id="{5A645F60-BE9D-7861-8BD1-5865EFE4371E}"/>
              </a:ext>
            </a:extLst>
          </p:cNvPr>
          <p:cNvSpPr txBox="1"/>
          <p:nvPr/>
        </p:nvSpPr>
        <p:spPr>
          <a:xfrm>
            <a:off x="10280223" y="274007"/>
            <a:ext cx="1653309" cy="338554"/>
          </a:xfrm>
          <a:prstGeom prst="rect">
            <a:avLst/>
          </a:prstGeom>
          <a:noFill/>
        </p:spPr>
        <p:txBody>
          <a:bodyPr wrap="square" rtlCol="0">
            <a:spAutoFit/>
          </a:bodyPr>
          <a:lstStyle/>
          <a:p>
            <a:r>
              <a:rPr lang="zh-CN" altLang="en-US" sz="1600" b="1" dirty="0">
                <a:solidFill>
                  <a:srgbClr val="0070C0"/>
                </a:solidFill>
                <a:latin typeface="微软雅黑" panose="020B0503020204020204" pitchFamily="34" charset="-122"/>
                <a:ea typeface="微软雅黑" panose="020B0503020204020204" pitchFamily="34" charset="-122"/>
              </a:rPr>
              <a:t>酸沙柠檬</a:t>
            </a:r>
          </a:p>
        </p:txBody>
      </p:sp>
      <p:sp>
        <p:nvSpPr>
          <p:cNvPr id="36" name="矩形 35">
            <a:extLst>
              <a:ext uri="{FF2B5EF4-FFF2-40B4-BE49-F238E27FC236}">
                <a16:creationId xmlns:a16="http://schemas.microsoft.com/office/drawing/2014/main" id="{75E30D99-22AA-B60B-76AC-417F1C04A616}"/>
              </a:ext>
            </a:extLst>
          </p:cNvPr>
          <p:cNvSpPr/>
          <p:nvPr/>
        </p:nvSpPr>
        <p:spPr>
          <a:xfrm>
            <a:off x="9517283" y="704440"/>
            <a:ext cx="2416249" cy="83127"/>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7" name="K">
            <a:hlinkClick r:id="" action="ppaction://media"/>
            <a:extLst>
              <a:ext uri="{FF2B5EF4-FFF2-40B4-BE49-F238E27FC236}">
                <a16:creationId xmlns:a16="http://schemas.microsoft.com/office/drawing/2014/main" id="{5E07E977-2873-D71D-4C00-D99903DAFCF7}"/>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6615255" y="2744473"/>
            <a:ext cx="1893327" cy="1681227"/>
          </a:xfrm>
          <a:prstGeom prst="rect">
            <a:avLst/>
          </a:prstGeom>
        </p:spPr>
      </p:pic>
    </p:spTree>
    <p:extLst>
      <p:ext uri="{BB962C8B-B14F-4D97-AF65-F5344CB8AC3E}">
        <p14:creationId xmlns:p14="http://schemas.microsoft.com/office/powerpoint/2010/main" val="1700284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500"/>
                                        <p:tgtEl>
                                          <p:spTgt spid="22"/>
                                        </p:tgtEl>
                                      </p:cBhvr>
                                    </p:animEffect>
                                  </p:childTnLst>
                                </p:cTn>
                              </p:par>
                              <p:par>
                                <p:cTn id="19" presetID="10" presetClass="entr" presetSubtype="0" fill="hold" nodeType="withEffect">
                                  <p:stCondLst>
                                    <p:cond delay="0"/>
                                  </p:stCondLst>
                                  <p:childTnLst>
                                    <p:set>
                                      <p:cBhvr>
                                        <p:cTn id="20" dur="1" fill="hold">
                                          <p:stCondLst>
                                            <p:cond delay="0"/>
                                          </p:stCondLst>
                                        </p:cTn>
                                        <p:tgtEl>
                                          <p:spTgt spid="37"/>
                                        </p:tgtEl>
                                        <p:attrNameLst>
                                          <p:attrName>style.visibility</p:attrName>
                                        </p:attrNameLst>
                                      </p:cBhvr>
                                      <p:to>
                                        <p:strVal val="visible"/>
                                      </p:to>
                                    </p:set>
                                    <p:animEffect transition="in" filter="fade">
                                      <p:cBhvr>
                                        <p:cTn id="21" dur="500"/>
                                        <p:tgtEl>
                                          <p:spTgt spid="3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fade">
                                      <p:cBhvr>
                                        <p:cTn id="24" dur="500"/>
                                        <p:tgtEl>
                                          <p:spTgt spid="19"/>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9"/>
                                        </p:tgtEl>
                                        <p:attrNameLst>
                                          <p:attrName>style.visibility</p:attrName>
                                        </p:attrNameLst>
                                      </p:cBhvr>
                                      <p:to>
                                        <p:strVal val="visible"/>
                                      </p:to>
                                    </p:set>
                                    <p:animEffect transition="in" filter="fade">
                                      <p:cBhvr>
                                        <p:cTn id="29" dur="500"/>
                                        <p:tgtEl>
                                          <p:spTgt spid="29"/>
                                        </p:tgtEl>
                                      </p:cBhvr>
                                    </p:animEffect>
                                  </p:childTnLst>
                                </p:cTn>
                              </p:par>
                              <p:par>
                                <p:cTn id="30" presetID="10" presetClass="entr" presetSubtype="0" fill="hold" nodeType="withEffect">
                                  <p:stCondLst>
                                    <p:cond delay="0"/>
                                  </p:stCondLst>
                                  <p:childTnLst>
                                    <p:set>
                                      <p:cBhvr>
                                        <p:cTn id="31" dur="1" fill="hold">
                                          <p:stCondLst>
                                            <p:cond delay="0"/>
                                          </p:stCondLst>
                                        </p:cTn>
                                        <p:tgtEl>
                                          <p:spTgt spid="30"/>
                                        </p:tgtEl>
                                        <p:attrNameLst>
                                          <p:attrName>style.visibility</p:attrName>
                                        </p:attrNameLst>
                                      </p:cBhvr>
                                      <p:to>
                                        <p:strVal val="visible"/>
                                      </p:to>
                                    </p:set>
                                    <p:animEffect transition="in" filter="fade">
                                      <p:cBhvr>
                                        <p:cTn id="32" dur="500"/>
                                        <p:tgtEl>
                                          <p:spTgt spid="30"/>
                                        </p:tgtEl>
                                      </p:cBhvr>
                                    </p:animEffect>
                                  </p:childTnLst>
                                </p:cTn>
                              </p:par>
                              <p:par>
                                <p:cTn id="33" presetID="10" presetClass="entr" presetSubtype="0" fill="hold" nodeType="withEffect">
                                  <p:stCondLst>
                                    <p:cond delay="0"/>
                                  </p:stCondLst>
                                  <p:childTnLst>
                                    <p:set>
                                      <p:cBhvr>
                                        <p:cTn id="34" dur="1" fill="hold">
                                          <p:stCondLst>
                                            <p:cond delay="0"/>
                                          </p:stCondLst>
                                        </p:cTn>
                                        <p:tgtEl>
                                          <p:spTgt spid="33"/>
                                        </p:tgtEl>
                                        <p:attrNameLst>
                                          <p:attrName>style.visibility</p:attrName>
                                        </p:attrNameLst>
                                      </p:cBhvr>
                                      <p:to>
                                        <p:strVal val="visible"/>
                                      </p:to>
                                    </p:set>
                                    <p:animEffect transition="in" filter="fade">
                                      <p:cBhvr>
                                        <p:cTn id="35"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36" fill="hold" display="0">
                  <p:stCondLst>
                    <p:cond delay="indefinite"/>
                  </p:stCondLst>
                </p:cTn>
                <p:tgtEl>
                  <p:spTgt spid="37"/>
                </p:tgtEl>
              </p:cMediaNode>
            </p:video>
          </p:childTnLst>
        </p:cTn>
      </p:par>
    </p:tnLst>
    <p:bldLst>
      <p:bldP spid="16" grpId="0"/>
      <p:bldP spid="19" grpId="0"/>
      <p:bldP spid="2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id="{5EC1E0CB-37B5-F91B-A505-7921754622B3}"/>
              </a:ext>
            </a:extLst>
          </p:cNvPr>
          <p:cNvPicPr>
            <a:picLocks noChangeAspect="1"/>
          </p:cNvPicPr>
          <p:nvPr/>
        </p:nvPicPr>
        <p:blipFill>
          <a:blip r:embed="rId3"/>
          <a:stretch>
            <a:fillRect/>
          </a:stretch>
        </p:blipFill>
        <p:spPr>
          <a:xfrm>
            <a:off x="6585282" y="5682200"/>
            <a:ext cx="1956013" cy="948851"/>
          </a:xfrm>
          <a:prstGeom prst="rect">
            <a:avLst/>
          </a:prstGeom>
        </p:spPr>
      </p:pic>
      <p:pic>
        <p:nvPicPr>
          <p:cNvPr id="15" name="图片 14">
            <a:extLst>
              <a:ext uri="{FF2B5EF4-FFF2-40B4-BE49-F238E27FC236}">
                <a16:creationId xmlns:a16="http://schemas.microsoft.com/office/drawing/2014/main" id="{71B9F466-7E41-ED13-8BEB-D0D198A8C537}"/>
              </a:ext>
            </a:extLst>
          </p:cNvPr>
          <p:cNvPicPr>
            <a:picLocks noChangeAspect="1"/>
          </p:cNvPicPr>
          <p:nvPr/>
        </p:nvPicPr>
        <p:blipFill>
          <a:blip r:embed="rId4"/>
          <a:stretch>
            <a:fillRect/>
          </a:stretch>
        </p:blipFill>
        <p:spPr>
          <a:xfrm>
            <a:off x="6351909" y="794872"/>
            <a:ext cx="2428646" cy="1349248"/>
          </a:xfrm>
          <a:prstGeom prst="rect">
            <a:avLst/>
          </a:prstGeom>
        </p:spPr>
      </p:pic>
      <p:sp>
        <p:nvSpPr>
          <p:cNvPr id="16" name="文本框 15">
            <a:extLst>
              <a:ext uri="{FF2B5EF4-FFF2-40B4-BE49-F238E27FC236}">
                <a16:creationId xmlns:a16="http://schemas.microsoft.com/office/drawing/2014/main" id="{E1D72EFC-60B8-A163-BAD4-9F48AB9E48DA}"/>
              </a:ext>
            </a:extLst>
          </p:cNvPr>
          <p:cNvSpPr txBox="1"/>
          <p:nvPr/>
        </p:nvSpPr>
        <p:spPr>
          <a:xfrm>
            <a:off x="3232727" y="1112025"/>
            <a:ext cx="2684555" cy="584775"/>
          </a:xfrm>
          <a:prstGeom prst="rect">
            <a:avLst/>
          </a:prstGeom>
          <a:noFill/>
        </p:spPr>
        <p:txBody>
          <a:bodyPr wrap="square" rtlCol="0">
            <a:spAutoFit/>
          </a:bodyPr>
          <a:lstStyle/>
          <a:p>
            <a:pPr algn="ctr"/>
            <a:r>
              <a:rPr lang="en-US" altLang="zh-CN" sz="1600" b="1" dirty="0">
                <a:solidFill>
                  <a:schemeClr val="accent3">
                    <a:lumMod val="50000"/>
                  </a:schemeClr>
                </a:solidFill>
                <a:latin typeface="微软雅黑" panose="020B0503020204020204" pitchFamily="34" charset="-122"/>
                <a:ea typeface="微软雅黑" panose="020B0503020204020204" pitchFamily="34" charset="-122"/>
              </a:rPr>
              <a:t>Part1 </a:t>
            </a:r>
          </a:p>
          <a:p>
            <a:pPr algn="ctr"/>
            <a:r>
              <a:rPr lang="zh-CN" altLang="en-US" sz="1600" b="1" dirty="0">
                <a:solidFill>
                  <a:schemeClr val="accent3">
                    <a:lumMod val="50000"/>
                  </a:schemeClr>
                </a:solidFill>
                <a:latin typeface="微软雅黑" panose="020B0503020204020204" pitchFamily="34" charset="-122"/>
                <a:ea typeface="微软雅黑" panose="020B0503020204020204" pitchFamily="34" charset="-122"/>
              </a:rPr>
              <a:t>飞行器本体气动性能</a:t>
            </a:r>
          </a:p>
        </p:txBody>
      </p:sp>
      <p:pic>
        <p:nvPicPr>
          <p:cNvPr id="18" name="图片 17">
            <a:extLst>
              <a:ext uri="{FF2B5EF4-FFF2-40B4-BE49-F238E27FC236}">
                <a16:creationId xmlns:a16="http://schemas.microsoft.com/office/drawing/2014/main" id="{E1B80841-7B3E-183D-4CAB-541B55C1ED35}"/>
              </a:ext>
            </a:extLst>
          </p:cNvPr>
          <p:cNvPicPr>
            <a:picLocks noChangeAspect="1"/>
          </p:cNvPicPr>
          <p:nvPr/>
        </p:nvPicPr>
        <p:blipFill>
          <a:blip r:embed="rId5"/>
          <a:stretch>
            <a:fillRect/>
          </a:stretch>
        </p:blipFill>
        <p:spPr>
          <a:xfrm>
            <a:off x="9587700" y="794872"/>
            <a:ext cx="1589817" cy="1420236"/>
          </a:xfrm>
          <a:prstGeom prst="rect">
            <a:avLst/>
          </a:prstGeom>
        </p:spPr>
      </p:pic>
      <p:sp>
        <p:nvSpPr>
          <p:cNvPr id="19" name="文本框 18">
            <a:extLst>
              <a:ext uri="{FF2B5EF4-FFF2-40B4-BE49-F238E27FC236}">
                <a16:creationId xmlns:a16="http://schemas.microsoft.com/office/drawing/2014/main" id="{E3D67F44-DE4E-A203-A299-8C58E96B9EB9}"/>
              </a:ext>
            </a:extLst>
          </p:cNvPr>
          <p:cNvSpPr txBox="1"/>
          <p:nvPr/>
        </p:nvSpPr>
        <p:spPr>
          <a:xfrm>
            <a:off x="3245192" y="2702297"/>
            <a:ext cx="2684555" cy="584775"/>
          </a:xfrm>
          <a:prstGeom prst="rect">
            <a:avLst/>
          </a:prstGeom>
          <a:noFill/>
        </p:spPr>
        <p:txBody>
          <a:bodyPr wrap="square" rtlCol="0">
            <a:spAutoFit/>
          </a:bodyPr>
          <a:lstStyle/>
          <a:p>
            <a:pPr algn="ctr"/>
            <a:r>
              <a:rPr lang="en-US" altLang="zh-CN" sz="1600" b="1" dirty="0">
                <a:solidFill>
                  <a:schemeClr val="accent3">
                    <a:lumMod val="50000"/>
                  </a:schemeClr>
                </a:solidFill>
                <a:latin typeface="微软雅黑" panose="020B0503020204020204" pitchFamily="34" charset="-122"/>
                <a:ea typeface="微软雅黑" panose="020B0503020204020204" pitchFamily="34" charset="-122"/>
              </a:rPr>
              <a:t>Part2</a:t>
            </a:r>
          </a:p>
          <a:p>
            <a:pPr algn="ctr"/>
            <a:r>
              <a:rPr lang="zh-CN" altLang="en-US" sz="1600" b="1" dirty="0">
                <a:solidFill>
                  <a:schemeClr val="accent3">
                    <a:lumMod val="50000"/>
                  </a:schemeClr>
                </a:solidFill>
                <a:latin typeface="微软雅黑" panose="020B0503020204020204" pitchFamily="34" charset="-122"/>
                <a:ea typeface="微软雅黑" panose="020B0503020204020204" pitchFamily="34" charset="-122"/>
              </a:rPr>
              <a:t>飞行器操纵效能</a:t>
            </a:r>
          </a:p>
        </p:txBody>
      </p:sp>
      <p:pic>
        <p:nvPicPr>
          <p:cNvPr id="21" name="图片 20">
            <a:extLst>
              <a:ext uri="{FF2B5EF4-FFF2-40B4-BE49-F238E27FC236}">
                <a16:creationId xmlns:a16="http://schemas.microsoft.com/office/drawing/2014/main" id="{18999441-EF23-7D45-7AF1-00A4B680E68F}"/>
              </a:ext>
            </a:extLst>
          </p:cNvPr>
          <p:cNvPicPr>
            <a:picLocks noChangeAspect="1"/>
          </p:cNvPicPr>
          <p:nvPr/>
        </p:nvPicPr>
        <p:blipFill>
          <a:blip r:embed="rId6"/>
          <a:stretch>
            <a:fillRect/>
          </a:stretch>
        </p:blipFill>
        <p:spPr>
          <a:xfrm>
            <a:off x="6410389" y="2566965"/>
            <a:ext cx="2204263" cy="1193057"/>
          </a:xfrm>
          <a:prstGeom prst="rect">
            <a:avLst/>
          </a:prstGeom>
        </p:spPr>
      </p:pic>
      <p:pic>
        <p:nvPicPr>
          <p:cNvPr id="23" name="图片 22">
            <a:extLst>
              <a:ext uri="{FF2B5EF4-FFF2-40B4-BE49-F238E27FC236}">
                <a16:creationId xmlns:a16="http://schemas.microsoft.com/office/drawing/2014/main" id="{F9ADB21D-9266-E6C1-556A-FC371DEB2F0E}"/>
              </a:ext>
            </a:extLst>
          </p:cNvPr>
          <p:cNvPicPr>
            <a:picLocks noChangeAspect="1"/>
          </p:cNvPicPr>
          <p:nvPr/>
        </p:nvPicPr>
        <p:blipFill>
          <a:blip r:embed="rId7"/>
          <a:stretch>
            <a:fillRect/>
          </a:stretch>
        </p:blipFill>
        <p:spPr>
          <a:xfrm>
            <a:off x="9409813" y="2446762"/>
            <a:ext cx="1911281" cy="1433461"/>
          </a:xfrm>
          <a:prstGeom prst="rect">
            <a:avLst/>
          </a:prstGeom>
        </p:spPr>
      </p:pic>
      <p:sp>
        <p:nvSpPr>
          <p:cNvPr id="24" name="文本框 23">
            <a:extLst>
              <a:ext uri="{FF2B5EF4-FFF2-40B4-BE49-F238E27FC236}">
                <a16:creationId xmlns:a16="http://schemas.microsoft.com/office/drawing/2014/main" id="{8DC6D247-02CF-F34D-BDE6-2AD7A841809E}"/>
              </a:ext>
            </a:extLst>
          </p:cNvPr>
          <p:cNvSpPr txBox="1"/>
          <p:nvPr/>
        </p:nvSpPr>
        <p:spPr>
          <a:xfrm>
            <a:off x="3245192" y="4292569"/>
            <a:ext cx="2684555" cy="584775"/>
          </a:xfrm>
          <a:prstGeom prst="rect">
            <a:avLst/>
          </a:prstGeom>
          <a:noFill/>
        </p:spPr>
        <p:txBody>
          <a:bodyPr wrap="square" rtlCol="0">
            <a:spAutoFit/>
          </a:bodyPr>
          <a:lstStyle/>
          <a:p>
            <a:pPr algn="ctr"/>
            <a:r>
              <a:rPr lang="en-US" altLang="zh-CN" sz="1600" b="1" dirty="0">
                <a:solidFill>
                  <a:schemeClr val="accent3">
                    <a:lumMod val="50000"/>
                  </a:schemeClr>
                </a:solidFill>
                <a:latin typeface="微软雅黑" panose="020B0503020204020204" pitchFamily="34" charset="-122"/>
                <a:ea typeface="微软雅黑" panose="020B0503020204020204" pitchFamily="34" charset="-122"/>
              </a:rPr>
              <a:t>Part3</a:t>
            </a:r>
          </a:p>
          <a:p>
            <a:pPr algn="ctr"/>
            <a:r>
              <a:rPr lang="zh-CN" altLang="en-US" sz="1600" b="1" dirty="0">
                <a:solidFill>
                  <a:schemeClr val="accent3">
                    <a:lumMod val="50000"/>
                  </a:schemeClr>
                </a:solidFill>
                <a:latin typeface="微软雅黑" panose="020B0503020204020204" pitchFamily="34" charset="-122"/>
                <a:ea typeface="微软雅黑" panose="020B0503020204020204" pitchFamily="34" charset="-122"/>
              </a:rPr>
              <a:t>飞行器动稳定性分析</a:t>
            </a:r>
          </a:p>
        </p:txBody>
      </p:sp>
      <p:pic>
        <p:nvPicPr>
          <p:cNvPr id="26" name="图片 25">
            <a:extLst>
              <a:ext uri="{FF2B5EF4-FFF2-40B4-BE49-F238E27FC236}">
                <a16:creationId xmlns:a16="http://schemas.microsoft.com/office/drawing/2014/main" id="{F4F224CC-7152-0EC8-17D7-96F40F22FED9}"/>
              </a:ext>
            </a:extLst>
          </p:cNvPr>
          <p:cNvPicPr>
            <a:picLocks noChangeAspect="1"/>
          </p:cNvPicPr>
          <p:nvPr/>
        </p:nvPicPr>
        <p:blipFill>
          <a:blip r:embed="rId8"/>
          <a:stretch>
            <a:fillRect/>
          </a:stretch>
        </p:blipFill>
        <p:spPr>
          <a:xfrm>
            <a:off x="6727272" y="4182995"/>
            <a:ext cx="1577391" cy="1239829"/>
          </a:xfrm>
          <a:prstGeom prst="rect">
            <a:avLst/>
          </a:prstGeom>
        </p:spPr>
      </p:pic>
      <p:pic>
        <p:nvPicPr>
          <p:cNvPr id="28" name="图片 27">
            <a:extLst>
              <a:ext uri="{FF2B5EF4-FFF2-40B4-BE49-F238E27FC236}">
                <a16:creationId xmlns:a16="http://schemas.microsoft.com/office/drawing/2014/main" id="{67894853-C584-E6E5-1928-B4D95347AE30}"/>
              </a:ext>
            </a:extLst>
          </p:cNvPr>
          <p:cNvPicPr>
            <a:picLocks noChangeAspect="1"/>
          </p:cNvPicPr>
          <p:nvPr/>
        </p:nvPicPr>
        <p:blipFill>
          <a:blip r:embed="rId9"/>
          <a:stretch>
            <a:fillRect/>
          </a:stretch>
        </p:blipFill>
        <p:spPr>
          <a:xfrm>
            <a:off x="9584049" y="4165252"/>
            <a:ext cx="1682618" cy="1257572"/>
          </a:xfrm>
          <a:prstGeom prst="rect">
            <a:avLst/>
          </a:prstGeom>
        </p:spPr>
      </p:pic>
      <p:sp>
        <p:nvSpPr>
          <p:cNvPr id="29" name="文本框 28">
            <a:extLst>
              <a:ext uri="{FF2B5EF4-FFF2-40B4-BE49-F238E27FC236}">
                <a16:creationId xmlns:a16="http://schemas.microsoft.com/office/drawing/2014/main" id="{2054EB14-0FDD-6D2B-A55B-CA8D746BC0E0}"/>
              </a:ext>
            </a:extLst>
          </p:cNvPr>
          <p:cNvSpPr txBox="1"/>
          <p:nvPr/>
        </p:nvSpPr>
        <p:spPr>
          <a:xfrm>
            <a:off x="3245192" y="5660402"/>
            <a:ext cx="2684555" cy="584775"/>
          </a:xfrm>
          <a:prstGeom prst="rect">
            <a:avLst/>
          </a:prstGeom>
          <a:noFill/>
        </p:spPr>
        <p:txBody>
          <a:bodyPr wrap="square" rtlCol="0">
            <a:spAutoFit/>
          </a:bodyPr>
          <a:lstStyle/>
          <a:p>
            <a:pPr algn="ctr"/>
            <a:r>
              <a:rPr lang="en-US" altLang="zh-CN" sz="1600" b="1" dirty="0">
                <a:solidFill>
                  <a:schemeClr val="accent3">
                    <a:lumMod val="50000"/>
                  </a:schemeClr>
                </a:solidFill>
                <a:latin typeface="微软雅黑" panose="020B0503020204020204" pitchFamily="34" charset="-122"/>
                <a:ea typeface="微软雅黑" panose="020B0503020204020204" pitchFamily="34" charset="-122"/>
              </a:rPr>
              <a:t>Part4</a:t>
            </a:r>
          </a:p>
          <a:p>
            <a:pPr algn="ctr"/>
            <a:r>
              <a:rPr lang="zh-CN" altLang="en-US" sz="1600" b="1" dirty="0">
                <a:solidFill>
                  <a:schemeClr val="accent3">
                    <a:lumMod val="50000"/>
                  </a:schemeClr>
                </a:solidFill>
                <a:latin typeface="微软雅黑" panose="020B0503020204020204" pitchFamily="34" charset="-122"/>
                <a:ea typeface="微软雅黑" panose="020B0503020204020204" pitchFamily="34" charset="-122"/>
              </a:rPr>
              <a:t>飞行器动力系统分析</a:t>
            </a:r>
          </a:p>
        </p:txBody>
      </p:sp>
      <p:pic>
        <p:nvPicPr>
          <p:cNvPr id="31" name="图片 30">
            <a:extLst>
              <a:ext uri="{FF2B5EF4-FFF2-40B4-BE49-F238E27FC236}">
                <a16:creationId xmlns:a16="http://schemas.microsoft.com/office/drawing/2014/main" id="{E7DD1C2D-66F2-42FE-A217-9C251316075C}"/>
              </a:ext>
            </a:extLst>
          </p:cNvPr>
          <p:cNvPicPr>
            <a:picLocks noChangeAspect="1"/>
          </p:cNvPicPr>
          <p:nvPr/>
        </p:nvPicPr>
        <p:blipFill>
          <a:blip r:embed="rId10"/>
          <a:srcRect t="8356" b="64776"/>
          <a:stretch>
            <a:fillRect/>
          </a:stretch>
        </p:blipFill>
        <p:spPr>
          <a:xfrm>
            <a:off x="9673686" y="5780827"/>
            <a:ext cx="1647408" cy="948851"/>
          </a:xfrm>
          <a:prstGeom prst="rect">
            <a:avLst/>
          </a:prstGeom>
        </p:spPr>
      </p:pic>
      <p:pic>
        <p:nvPicPr>
          <p:cNvPr id="2" name="图片 1">
            <a:extLst>
              <a:ext uri="{FF2B5EF4-FFF2-40B4-BE49-F238E27FC236}">
                <a16:creationId xmlns:a16="http://schemas.microsoft.com/office/drawing/2014/main" id="{FC441C18-7D1B-B8FD-122B-C3C276CF0B24}"/>
              </a:ext>
            </a:extLst>
          </p:cNvPr>
          <p:cNvPicPr>
            <a:picLocks noChangeAspect="1"/>
          </p:cNvPicPr>
          <p:nvPr/>
        </p:nvPicPr>
        <p:blipFill>
          <a:blip r:embed="rId11"/>
          <a:stretch>
            <a:fillRect/>
          </a:stretch>
        </p:blipFill>
        <p:spPr>
          <a:xfrm>
            <a:off x="11419972" y="99001"/>
            <a:ext cx="513560" cy="513560"/>
          </a:xfrm>
          <a:prstGeom prst="rect">
            <a:avLst/>
          </a:prstGeom>
        </p:spPr>
      </p:pic>
      <p:sp>
        <p:nvSpPr>
          <p:cNvPr id="3" name="文本框 2">
            <a:extLst>
              <a:ext uri="{FF2B5EF4-FFF2-40B4-BE49-F238E27FC236}">
                <a16:creationId xmlns:a16="http://schemas.microsoft.com/office/drawing/2014/main" id="{B0100B74-023B-C4CA-CA0B-F9EB5B6FE4C1}"/>
              </a:ext>
            </a:extLst>
          </p:cNvPr>
          <p:cNvSpPr txBox="1"/>
          <p:nvPr/>
        </p:nvSpPr>
        <p:spPr>
          <a:xfrm>
            <a:off x="10280223" y="274007"/>
            <a:ext cx="1653309" cy="338554"/>
          </a:xfrm>
          <a:prstGeom prst="rect">
            <a:avLst/>
          </a:prstGeom>
          <a:noFill/>
        </p:spPr>
        <p:txBody>
          <a:bodyPr wrap="square" rtlCol="0">
            <a:spAutoFit/>
          </a:bodyPr>
          <a:lstStyle/>
          <a:p>
            <a:r>
              <a:rPr lang="zh-CN" altLang="en-US" sz="1600" b="1" dirty="0">
                <a:solidFill>
                  <a:srgbClr val="0070C0"/>
                </a:solidFill>
                <a:latin typeface="微软雅黑" panose="020B0503020204020204" pitchFamily="34" charset="-122"/>
                <a:ea typeface="微软雅黑" panose="020B0503020204020204" pitchFamily="34" charset="-122"/>
              </a:rPr>
              <a:t>酸沙柠檬</a:t>
            </a:r>
          </a:p>
        </p:txBody>
      </p:sp>
      <p:sp>
        <p:nvSpPr>
          <p:cNvPr id="4" name="矩形 3">
            <a:extLst>
              <a:ext uri="{FF2B5EF4-FFF2-40B4-BE49-F238E27FC236}">
                <a16:creationId xmlns:a16="http://schemas.microsoft.com/office/drawing/2014/main" id="{30CEB1DE-FED6-5392-3CD9-8422E6204AF8}"/>
              </a:ext>
            </a:extLst>
          </p:cNvPr>
          <p:cNvSpPr/>
          <p:nvPr/>
        </p:nvSpPr>
        <p:spPr>
          <a:xfrm>
            <a:off x="9517283" y="704440"/>
            <a:ext cx="2416249" cy="83127"/>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左大括号 11">
            <a:extLst>
              <a:ext uri="{FF2B5EF4-FFF2-40B4-BE49-F238E27FC236}">
                <a16:creationId xmlns:a16="http://schemas.microsoft.com/office/drawing/2014/main" id="{4FF4103F-8D46-8A03-8BAE-8C6B4B437479}"/>
              </a:ext>
            </a:extLst>
          </p:cNvPr>
          <p:cNvSpPr/>
          <p:nvPr/>
        </p:nvSpPr>
        <p:spPr>
          <a:xfrm>
            <a:off x="2326943" y="787567"/>
            <a:ext cx="627797" cy="5457610"/>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18166608-B3B9-1043-27E0-4FD2143F9AA6}"/>
              </a:ext>
            </a:extLst>
          </p:cNvPr>
          <p:cNvSpPr txBox="1"/>
          <p:nvPr/>
        </p:nvSpPr>
        <p:spPr>
          <a:xfrm>
            <a:off x="65024" y="2871104"/>
            <a:ext cx="2168091" cy="584775"/>
          </a:xfrm>
          <a:prstGeom prst="rect">
            <a:avLst/>
          </a:prstGeom>
          <a:noFill/>
        </p:spPr>
        <p:txBody>
          <a:bodyPr wrap="square" rtlCol="0">
            <a:spAutoFit/>
          </a:bodyPr>
          <a:lstStyle/>
          <a:p>
            <a:pPr algn="ctr"/>
            <a:r>
              <a:rPr lang="en-US" altLang="zh-CN" sz="1600" b="1" dirty="0">
                <a:solidFill>
                  <a:schemeClr val="accent3">
                    <a:lumMod val="50000"/>
                  </a:schemeClr>
                </a:solidFill>
                <a:latin typeface="微软雅黑" panose="020B0503020204020204" pitchFamily="34" charset="-122"/>
                <a:ea typeface="微软雅黑" panose="020B0503020204020204" pitchFamily="34" charset="-122"/>
              </a:rPr>
              <a:t>《</a:t>
            </a:r>
            <a:r>
              <a:rPr lang="zh-CN" altLang="en-US" sz="1600" b="1" dirty="0">
                <a:solidFill>
                  <a:schemeClr val="accent3">
                    <a:lumMod val="50000"/>
                  </a:schemeClr>
                </a:solidFill>
                <a:latin typeface="微软雅黑" panose="020B0503020204020204" pitchFamily="34" charset="-122"/>
                <a:ea typeface="微软雅黑" panose="020B0503020204020204" pitchFamily="34" charset="-122"/>
              </a:rPr>
              <a:t>从“零”开始的气动仿真工程师</a:t>
            </a:r>
            <a:r>
              <a:rPr lang="en-US" altLang="zh-CN" sz="1600" b="1" dirty="0">
                <a:solidFill>
                  <a:schemeClr val="accent3">
                    <a:lumMod val="50000"/>
                  </a:schemeClr>
                </a:solidFill>
                <a:latin typeface="微软雅黑" panose="020B0503020204020204" pitchFamily="34" charset="-122"/>
                <a:ea typeface="微软雅黑" panose="020B0503020204020204" pitchFamily="34" charset="-122"/>
              </a:rPr>
              <a:t>》</a:t>
            </a:r>
            <a:endParaRPr lang="zh-CN" altLang="en-US" sz="1600" b="1" dirty="0">
              <a:solidFill>
                <a:schemeClr val="accent3">
                  <a:lumMod val="50000"/>
                </a:schemeClr>
              </a:solidFill>
              <a:latin typeface="微软雅黑" panose="020B0503020204020204" pitchFamily="34" charset="-122"/>
              <a:ea typeface="微软雅黑" panose="020B0503020204020204" pitchFamily="34" charset="-122"/>
            </a:endParaRPr>
          </a:p>
        </p:txBody>
      </p:sp>
      <p:sp>
        <p:nvSpPr>
          <p:cNvPr id="17" name="文本框 16">
            <a:extLst>
              <a:ext uri="{FF2B5EF4-FFF2-40B4-BE49-F238E27FC236}">
                <a16:creationId xmlns:a16="http://schemas.microsoft.com/office/drawing/2014/main" id="{EB5BD182-3B9B-0826-CF67-5ACC40A5DAD4}"/>
              </a:ext>
            </a:extLst>
          </p:cNvPr>
          <p:cNvSpPr txBox="1"/>
          <p:nvPr/>
        </p:nvSpPr>
        <p:spPr>
          <a:xfrm>
            <a:off x="65024" y="3575073"/>
            <a:ext cx="2355748" cy="830997"/>
          </a:xfrm>
          <a:prstGeom prst="rect">
            <a:avLst/>
          </a:prstGeom>
          <a:noFill/>
        </p:spPr>
        <p:txBody>
          <a:bodyPr wrap="square" rtlCol="0">
            <a:spAutoFit/>
          </a:bodyPr>
          <a:lstStyle/>
          <a:p>
            <a:pPr algn="ctr"/>
            <a:r>
              <a:rPr lang="zh-CN" altLang="en-US" sz="1600" b="1" dirty="0">
                <a:solidFill>
                  <a:schemeClr val="accent3">
                    <a:lumMod val="50000"/>
                  </a:schemeClr>
                </a:solidFill>
                <a:latin typeface="微软雅黑" panose="020B0503020204020204" pitchFamily="34" charset="-122"/>
                <a:ea typeface="微软雅黑" panose="020B0503020204020204" pitchFamily="34" charset="-122"/>
              </a:rPr>
              <a:t>前置知识：</a:t>
            </a:r>
            <a:endParaRPr lang="en-US" altLang="zh-CN" sz="1600" b="1" dirty="0">
              <a:solidFill>
                <a:schemeClr val="accent3">
                  <a:lumMod val="50000"/>
                </a:schemeClr>
              </a:solidFill>
              <a:latin typeface="微软雅黑" panose="020B0503020204020204" pitchFamily="34" charset="-122"/>
              <a:ea typeface="微软雅黑" panose="020B0503020204020204" pitchFamily="34" charset="-122"/>
            </a:endParaRPr>
          </a:p>
          <a:p>
            <a:pPr algn="ctr"/>
            <a:r>
              <a:rPr lang="zh-CN" altLang="en-US" sz="1600" b="1" dirty="0">
                <a:solidFill>
                  <a:schemeClr val="accent3">
                    <a:lumMod val="50000"/>
                  </a:schemeClr>
                </a:solidFill>
                <a:latin typeface="微软雅黑" panose="020B0503020204020204" pitchFamily="34" charset="-122"/>
                <a:ea typeface="微软雅黑" panose="020B0503020204020204" pitchFamily="34" charset="-122"/>
              </a:rPr>
              <a:t>基本的空气动力学；</a:t>
            </a:r>
            <a:endParaRPr lang="en-US" altLang="zh-CN" sz="1600" b="1" dirty="0">
              <a:solidFill>
                <a:schemeClr val="accent3">
                  <a:lumMod val="50000"/>
                </a:schemeClr>
              </a:solidFill>
              <a:latin typeface="微软雅黑" panose="020B0503020204020204" pitchFamily="34" charset="-122"/>
              <a:ea typeface="微软雅黑" panose="020B0503020204020204" pitchFamily="34" charset="-122"/>
            </a:endParaRPr>
          </a:p>
          <a:p>
            <a:pPr algn="ctr"/>
            <a:r>
              <a:rPr lang="zh-CN" altLang="en-US" sz="1600" b="1" dirty="0">
                <a:solidFill>
                  <a:schemeClr val="accent3">
                    <a:lumMod val="50000"/>
                  </a:schemeClr>
                </a:solidFill>
                <a:latin typeface="微软雅黑" panose="020B0503020204020204" pitchFamily="34" charset="-122"/>
                <a:ea typeface="微软雅黑" panose="020B0503020204020204" pitchFamily="34" charset="-122"/>
              </a:rPr>
              <a:t>以及一点点的</a:t>
            </a:r>
            <a:r>
              <a:rPr lang="en-US" altLang="zh-CN" sz="1600" b="1" dirty="0">
                <a:solidFill>
                  <a:schemeClr val="accent3">
                    <a:lumMod val="50000"/>
                  </a:schemeClr>
                </a:solidFill>
                <a:latin typeface="微软雅黑" panose="020B0503020204020204" pitchFamily="34" charset="-122"/>
                <a:ea typeface="微软雅黑" panose="020B0503020204020204" pitchFamily="34" charset="-122"/>
              </a:rPr>
              <a:t>CFD</a:t>
            </a:r>
            <a:r>
              <a:rPr lang="zh-CN" altLang="en-US" sz="1600" b="1" dirty="0">
                <a:solidFill>
                  <a:schemeClr val="accent3">
                    <a:lumMod val="50000"/>
                  </a:schemeClr>
                </a:solidFill>
                <a:latin typeface="微软雅黑" panose="020B0503020204020204" pitchFamily="34" charset="-122"/>
                <a:ea typeface="微软雅黑" panose="020B0503020204020204" pitchFamily="34" charset="-122"/>
              </a:rPr>
              <a:t>基础</a:t>
            </a:r>
          </a:p>
        </p:txBody>
      </p:sp>
    </p:spTree>
    <p:extLst>
      <p:ext uri="{BB962C8B-B14F-4D97-AF65-F5344CB8AC3E}">
        <p14:creationId xmlns:p14="http://schemas.microsoft.com/office/powerpoint/2010/main" val="27358764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EA115C26-7095-9077-99F1-07987DAE7E2E}"/>
              </a:ext>
            </a:extLst>
          </p:cNvPr>
          <p:cNvPicPr>
            <a:picLocks noChangeAspect="1"/>
          </p:cNvPicPr>
          <p:nvPr/>
        </p:nvPicPr>
        <p:blipFill>
          <a:blip r:embed="rId3"/>
          <a:stretch>
            <a:fillRect/>
          </a:stretch>
        </p:blipFill>
        <p:spPr>
          <a:xfrm>
            <a:off x="11419972" y="99001"/>
            <a:ext cx="513560" cy="513560"/>
          </a:xfrm>
          <a:prstGeom prst="rect">
            <a:avLst/>
          </a:prstGeom>
        </p:spPr>
      </p:pic>
      <p:sp>
        <p:nvSpPr>
          <p:cNvPr id="5" name="文本框 4">
            <a:extLst>
              <a:ext uri="{FF2B5EF4-FFF2-40B4-BE49-F238E27FC236}">
                <a16:creationId xmlns:a16="http://schemas.microsoft.com/office/drawing/2014/main" id="{6261F813-B549-913F-5446-10BF4EC1C66F}"/>
              </a:ext>
            </a:extLst>
          </p:cNvPr>
          <p:cNvSpPr txBox="1"/>
          <p:nvPr/>
        </p:nvSpPr>
        <p:spPr>
          <a:xfrm>
            <a:off x="10280223" y="274007"/>
            <a:ext cx="1653309" cy="338554"/>
          </a:xfrm>
          <a:prstGeom prst="rect">
            <a:avLst/>
          </a:prstGeom>
          <a:noFill/>
        </p:spPr>
        <p:txBody>
          <a:bodyPr wrap="square" rtlCol="0">
            <a:spAutoFit/>
          </a:bodyPr>
          <a:lstStyle/>
          <a:p>
            <a:r>
              <a:rPr lang="zh-CN" altLang="en-US" sz="1600" b="1" dirty="0">
                <a:solidFill>
                  <a:srgbClr val="0070C0"/>
                </a:solidFill>
                <a:latin typeface="微软雅黑" panose="020B0503020204020204" pitchFamily="34" charset="-122"/>
                <a:ea typeface="微软雅黑" panose="020B0503020204020204" pitchFamily="34" charset="-122"/>
              </a:rPr>
              <a:t>酸沙柠檬</a:t>
            </a:r>
          </a:p>
        </p:txBody>
      </p:sp>
      <p:sp>
        <p:nvSpPr>
          <p:cNvPr id="6" name="矩形 5">
            <a:extLst>
              <a:ext uri="{FF2B5EF4-FFF2-40B4-BE49-F238E27FC236}">
                <a16:creationId xmlns:a16="http://schemas.microsoft.com/office/drawing/2014/main" id="{4FA356D7-F08D-DE82-958A-392D0063C27A}"/>
              </a:ext>
            </a:extLst>
          </p:cNvPr>
          <p:cNvSpPr/>
          <p:nvPr/>
        </p:nvSpPr>
        <p:spPr>
          <a:xfrm>
            <a:off x="9517283" y="704440"/>
            <a:ext cx="2416249" cy="83127"/>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框 30">
            <a:extLst>
              <a:ext uri="{FF2B5EF4-FFF2-40B4-BE49-F238E27FC236}">
                <a16:creationId xmlns:a16="http://schemas.microsoft.com/office/drawing/2014/main" id="{2239EAFB-48C3-77F4-9EB0-B35B01F93F19}"/>
              </a:ext>
            </a:extLst>
          </p:cNvPr>
          <p:cNvSpPr txBox="1"/>
          <p:nvPr/>
        </p:nvSpPr>
        <p:spPr>
          <a:xfrm>
            <a:off x="549582" y="5638554"/>
            <a:ext cx="2844800" cy="646331"/>
          </a:xfrm>
          <a:prstGeom prst="rect">
            <a:avLst/>
          </a:prstGeom>
          <a:noFill/>
        </p:spPr>
        <p:txBody>
          <a:bodyPr wrap="square" rtlCol="0">
            <a:spAutoFit/>
          </a:bodyPr>
          <a:lstStyle/>
          <a:p>
            <a:pPr algn="ctr"/>
            <a:r>
              <a:rPr lang="zh-CN" altLang="en-US" dirty="0">
                <a:latin typeface="微软雅黑" panose="020B0503020204020204" pitchFamily="34" charset="-122"/>
                <a:ea typeface="微软雅黑" panose="020B0503020204020204" pitchFamily="34" charset="-122"/>
              </a:rPr>
              <a:t>空气动力学最权威的教材</a:t>
            </a:r>
            <a:endParaRPr lang="en-US" altLang="zh-CN" dirty="0">
              <a:latin typeface="微软雅黑" panose="020B0503020204020204" pitchFamily="34" charset="-122"/>
              <a:ea typeface="微软雅黑" panose="020B0503020204020204" pitchFamily="34" charset="-122"/>
            </a:endParaRPr>
          </a:p>
          <a:p>
            <a:pPr algn="ctr"/>
            <a:r>
              <a:rPr lang="zh-CN" altLang="en-US" dirty="0">
                <a:latin typeface="微软雅黑" panose="020B0503020204020204" pitchFamily="34" charset="-122"/>
                <a:ea typeface="微软雅黑" panose="020B0503020204020204" pitchFamily="34" charset="-122"/>
              </a:rPr>
              <a:t>老资历！！！</a:t>
            </a:r>
          </a:p>
        </p:txBody>
      </p:sp>
      <p:pic>
        <p:nvPicPr>
          <p:cNvPr id="1036" name="Picture 12" descr="空气动力学（流体力学的一个分支）_百度百科">
            <a:extLst>
              <a:ext uri="{FF2B5EF4-FFF2-40B4-BE49-F238E27FC236}">
                <a16:creationId xmlns:a16="http://schemas.microsoft.com/office/drawing/2014/main" id="{7D06BD5D-2D8E-584D-8B71-05C7921B786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1294" y="1206416"/>
            <a:ext cx="3001376" cy="4216567"/>
          </a:xfrm>
          <a:prstGeom prst="rect">
            <a:avLst/>
          </a:prstGeom>
          <a:noFill/>
          <a:extLst>
            <a:ext uri="{909E8E84-426E-40DD-AFC4-6F175D3DCCD1}">
              <a14:hiddenFill xmlns:a14="http://schemas.microsoft.com/office/drawing/2010/main">
                <a:solidFill>
                  <a:srgbClr val="FFFFFF"/>
                </a:solidFill>
              </a14:hiddenFill>
            </a:ext>
          </a:extLst>
        </p:spPr>
      </p:pic>
      <p:pic>
        <p:nvPicPr>
          <p:cNvPr id="44" name="图片 43">
            <a:extLst>
              <a:ext uri="{FF2B5EF4-FFF2-40B4-BE49-F238E27FC236}">
                <a16:creationId xmlns:a16="http://schemas.microsoft.com/office/drawing/2014/main" id="{C0EBAE57-8C50-9675-5C78-B81EB30183D9}"/>
              </a:ext>
            </a:extLst>
          </p:cNvPr>
          <p:cNvPicPr>
            <a:picLocks noChangeAspect="1"/>
          </p:cNvPicPr>
          <p:nvPr/>
        </p:nvPicPr>
        <p:blipFill>
          <a:blip r:embed="rId5"/>
          <a:stretch>
            <a:fillRect/>
          </a:stretch>
        </p:blipFill>
        <p:spPr>
          <a:xfrm>
            <a:off x="6216278" y="1306830"/>
            <a:ext cx="3041015" cy="3898737"/>
          </a:xfrm>
          <a:prstGeom prst="rect">
            <a:avLst/>
          </a:prstGeom>
        </p:spPr>
      </p:pic>
      <p:sp>
        <p:nvSpPr>
          <p:cNvPr id="45" name="文本框 44">
            <a:extLst>
              <a:ext uri="{FF2B5EF4-FFF2-40B4-BE49-F238E27FC236}">
                <a16:creationId xmlns:a16="http://schemas.microsoft.com/office/drawing/2014/main" id="{B14BFB61-4655-8FA0-CE8A-4487AE7E9310}"/>
              </a:ext>
            </a:extLst>
          </p:cNvPr>
          <p:cNvSpPr txBox="1"/>
          <p:nvPr/>
        </p:nvSpPr>
        <p:spPr>
          <a:xfrm>
            <a:off x="6412493" y="5515610"/>
            <a:ext cx="2844800" cy="646331"/>
          </a:xfrm>
          <a:prstGeom prst="rect">
            <a:avLst/>
          </a:prstGeom>
          <a:noFill/>
        </p:spPr>
        <p:txBody>
          <a:bodyPr wrap="square" rtlCol="0">
            <a:spAutoFit/>
          </a:bodyPr>
          <a:lstStyle/>
          <a:p>
            <a:pPr algn="ctr"/>
            <a:r>
              <a:rPr lang="zh-CN" altLang="en-US" dirty="0">
                <a:latin typeface="微软雅黑" panose="020B0503020204020204" pitchFamily="34" charset="-122"/>
                <a:ea typeface="微软雅黑" panose="020B0503020204020204" pitchFamily="34" charset="-122"/>
              </a:rPr>
              <a:t>飞行力学的经典教材</a:t>
            </a:r>
            <a:endParaRPr lang="en-US" altLang="zh-CN" dirty="0">
              <a:latin typeface="微软雅黑" panose="020B0503020204020204" pitchFamily="34" charset="-122"/>
              <a:ea typeface="微软雅黑" panose="020B0503020204020204" pitchFamily="34" charset="-122"/>
            </a:endParaRPr>
          </a:p>
          <a:p>
            <a:pPr algn="ctr"/>
            <a:endParaRPr lang="zh-CN" altLang="en-US" dirty="0">
              <a:latin typeface="微软雅黑" panose="020B0503020204020204" pitchFamily="34" charset="-122"/>
              <a:ea typeface="微软雅黑" panose="020B0503020204020204" pitchFamily="34" charset="-122"/>
            </a:endParaRPr>
          </a:p>
        </p:txBody>
      </p:sp>
      <p:pic>
        <p:nvPicPr>
          <p:cNvPr id="47" name="图片 46">
            <a:extLst>
              <a:ext uri="{FF2B5EF4-FFF2-40B4-BE49-F238E27FC236}">
                <a16:creationId xmlns:a16="http://schemas.microsoft.com/office/drawing/2014/main" id="{71078644-67E0-6F41-BABB-323F9C572733}"/>
              </a:ext>
            </a:extLst>
          </p:cNvPr>
          <p:cNvPicPr>
            <a:picLocks noChangeAspect="1"/>
          </p:cNvPicPr>
          <p:nvPr/>
        </p:nvPicPr>
        <p:blipFill>
          <a:blip r:embed="rId6">
            <a:extLst>
              <a:ext uri="{28A0092B-C50C-407E-A947-70E740481C1C}">
                <a14:useLocalDpi xmlns:a14="http://schemas.microsoft.com/office/drawing/2010/main" val="0"/>
              </a:ext>
            </a:extLst>
          </a:blip>
          <a:srcRect r="1295"/>
          <a:stretch>
            <a:fillRect/>
          </a:stretch>
        </p:blipFill>
        <p:spPr>
          <a:xfrm>
            <a:off x="3931563" y="1306830"/>
            <a:ext cx="2044161" cy="1111250"/>
          </a:xfrm>
          <a:prstGeom prst="rect">
            <a:avLst/>
          </a:prstGeom>
        </p:spPr>
      </p:pic>
      <p:pic>
        <p:nvPicPr>
          <p:cNvPr id="48" name="图片 47">
            <a:extLst>
              <a:ext uri="{FF2B5EF4-FFF2-40B4-BE49-F238E27FC236}">
                <a16:creationId xmlns:a16="http://schemas.microsoft.com/office/drawing/2014/main" id="{06DA4630-CCA7-4E2D-6EC6-8E3FC4071B1E}"/>
              </a:ext>
            </a:extLst>
          </p:cNvPr>
          <p:cNvPicPr>
            <a:picLocks noChangeAspect="1"/>
          </p:cNvPicPr>
          <p:nvPr/>
        </p:nvPicPr>
        <p:blipFill>
          <a:blip r:embed="rId6">
            <a:extLst>
              <a:ext uri="{28A0092B-C50C-407E-A947-70E740481C1C}">
                <a14:useLocalDpi xmlns:a14="http://schemas.microsoft.com/office/drawing/2010/main" val="0"/>
              </a:ext>
            </a:extLst>
          </a:blip>
          <a:srcRect r="1295"/>
          <a:stretch>
            <a:fillRect/>
          </a:stretch>
        </p:blipFill>
        <p:spPr>
          <a:xfrm>
            <a:off x="3822393" y="1306830"/>
            <a:ext cx="2044161" cy="1111250"/>
          </a:xfrm>
          <a:prstGeom prst="rect">
            <a:avLst/>
          </a:prstGeom>
        </p:spPr>
      </p:pic>
      <p:sp>
        <p:nvSpPr>
          <p:cNvPr id="49" name="文本框 48">
            <a:extLst>
              <a:ext uri="{FF2B5EF4-FFF2-40B4-BE49-F238E27FC236}">
                <a16:creationId xmlns:a16="http://schemas.microsoft.com/office/drawing/2014/main" id="{CABC2A6F-6AB4-06B9-3883-03242E3A8950}"/>
              </a:ext>
            </a:extLst>
          </p:cNvPr>
          <p:cNvSpPr txBox="1"/>
          <p:nvPr/>
        </p:nvSpPr>
        <p:spPr>
          <a:xfrm>
            <a:off x="3713224" y="2468634"/>
            <a:ext cx="2262499" cy="369332"/>
          </a:xfrm>
          <a:prstGeom prst="rect">
            <a:avLst/>
          </a:prstGeom>
          <a:noFill/>
        </p:spPr>
        <p:txBody>
          <a:bodyPr wrap="square" rtlCol="0">
            <a:spAutoFit/>
          </a:bodyPr>
          <a:lstStyle/>
          <a:p>
            <a:pPr algn="ctr"/>
            <a:r>
              <a:rPr lang="zh-CN" altLang="en-US" dirty="0">
                <a:latin typeface="微软雅黑" panose="020B0503020204020204" pitchFamily="34" charset="-122"/>
                <a:ea typeface="微软雅黑" panose="020B0503020204020204" pitchFamily="34" charset="-122"/>
              </a:rPr>
              <a:t>推荐教程</a:t>
            </a:r>
          </a:p>
        </p:txBody>
      </p:sp>
      <p:pic>
        <p:nvPicPr>
          <p:cNvPr id="51" name="图片 50">
            <a:extLst>
              <a:ext uri="{FF2B5EF4-FFF2-40B4-BE49-F238E27FC236}">
                <a16:creationId xmlns:a16="http://schemas.microsoft.com/office/drawing/2014/main" id="{8073B390-5B87-9852-DE53-890AE2609953}"/>
              </a:ext>
            </a:extLst>
          </p:cNvPr>
          <p:cNvPicPr>
            <a:picLocks noChangeAspect="1"/>
          </p:cNvPicPr>
          <p:nvPr/>
        </p:nvPicPr>
        <p:blipFill>
          <a:blip r:embed="rId7"/>
          <a:stretch>
            <a:fillRect/>
          </a:stretch>
        </p:blipFill>
        <p:spPr>
          <a:xfrm>
            <a:off x="3822393" y="3197199"/>
            <a:ext cx="2153330" cy="1146127"/>
          </a:xfrm>
          <a:prstGeom prst="rect">
            <a:avLst/>
          </a:prstGeom>
        </p:spPr>
      </p:pic>
      <p:sp>
        <p:nvSpPr>
          <p:cNvPr id="52" name="文本框 51">
            <a:extLst>
              <a:ext uri="{FF2B5EF4-FFF2-40B4-BE49-F238E27FC236}">
                <a16:creationId xmlns:a16="http://schemas.microsoft.com/office/drawing/2014/main" id="{5B36C56A-D1DC-B0E4-D48F-482C75C0B0B8}"/>
              </a:ext>
            </a:extLst>
          </p:cNvPr>
          <p:cNvSpPr txBox="1"/>
          <p:nvPr/>
        </p:nvSpPr>
        <p:spPr>
          <a:xfrm>
            <a:off x="3767808" y="4444754"/>
            <a:ext cx="2262499" cy="369332"/>
          </a:xfrm>
          <a:prstGeom prst="rect">
            <a:avLst/>
          </a:prstGeom>
          <a:noFill/>
        </p:spPr>
        <p:txBody>
          <a:bodyPr wrap="square" rtlCol="0">
            <a:spAutoFit/>
          </a:bodyPr>
          <a:lstStyle/>
          <a:p>
            <a:pPr algn="ctr"/>
            <a:r>
              <a:rPr lang="zh-CN" altLang="en-US" dirty="0">
                <a:latin typeface="微软雅黑" panose="020B0503020204020204" pitchFamily="34" charset="-122"/>
                <a:ea typeface="微软雅黑" panose="020B0503020204020204" pitchFamily="34" charset="-122"/>
              </a:rPr>
              <a:t>偏理论教程</a:t>
            </a:r>
          </a:p>
        </p:txBody>
      </p:sp>
      <p:pic>
        <p:nvPicPr>
          <p:cNvPr id="54" name="图片 53">
            <a:extLst>
              <a:ext uri="{FF2B5EF4-FFF2-40B4-BE49-F238E27FC236}">
                <a16:creationId xmlns:a16="http://schemas.microsoft.com/office/drawing/2014/main" id="{8CDAB4CC-9816-322D-DC24-4A51E21F4000}"/>
              </a:ext>
            </a:extLst>
          </p:cNvPr>
          <p:cNvPicPr>
            <a:picLocks noChangeAspect="1"/>
          </p:cNvPicPr>
          <p:nvPr/>
        </p:nvPicPr>
        <p:blipFill>
          <a:blip r:embed="rId8"/>
          <a:stretch>
            <a:fillRect/>
          </a:stretch>
        </p:blipFill>
        <p:spPr>
          <a:xfrm>
            <a:off x="9642688" y="1304712"/>
            <a:ext cx="2165437" cy="1111250"/>
          </a:xfrm>
          <a:prstGeom prst="rect">
            <a:avLst/>
          </a:prstGeom>
        </p:spPr>
      </p:pic>
      <p:sp>
        <p:nvSpPr>
          <p:cNvPr id="55" name="文本框 54">
            <a:extLst>
              <a:ext uri="{FF2B5EF4-FFF2-40B4-BE49-F238E27FC236}">
                <a16:creationId xmlns:a16="http://schemas.microsoft.com/office/drawing/2014/main" id="{23A56EB1-3964-BCA1-AFD1-BAA96FA2AD26}"/>
              </a:ext>
            </a:extLst>
          </p:cNvPr>
          <p:cNvSpPr txBox="1"/>
          <p:nvPr/>
        </p:nvSpPr>
        <p:spPr>
          <a:xfrm>
            <a:off x="9642687" y="2468634"/>
            <a:ext cx="2262499" cy="369332"/>
          </a:xfrm>
          <a:prstGeom prst="rect">
            <a:avLst/>
          </a:prstGeom>
          <a:noFill/>
        </p:spPr>
        <p:txBody>
          <a:bodyPr wrap="square" rtlCol="0">
            <a:spAutoFit/>
          </a:bodyPr>
          <a:lstStyle/>
          <a:p>
            <a:pPr algn="ctr"/>
            <a:r>
              <a:rPr lang="zh-CN" altLang="en-US" dirty="0">
                <a:latin typeface="微软雅黑" panose="020B0503020204020204" pitchFamily="34" charset="-122"/>
                <a:ea typeface="微软雅黑" panose="020B0503020204020204" pitchFamily="34" charset="-122"/>
              </a:rPr>
              <a:t>推荐教程</a:t>
            </a:r>
          </a:p>
        </p:txBody>
      </p:sp>
    </p:spTree>
    <p:extLst>
      <p:ext uri="{BB962C8B-B14F-4D97-AF65-F5344CB8AC3E}">
        <p14:creationId xmlns:p14="http://schemas.microsoft.com/office/powerpoint/2010/main" val="24514106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491FC9-5697-DFE9-8021-3E2A1CE8167D}"/>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9E98642C-5982-6729-56E9-048C0A28931A}"/>
              </a:ext>
            </a:extLst>
          </p:cNvPr>
          <p:cNvPicPr>
            <a:picLocks noChangeAspect="1"/>
          </p:cNvPicPr>
          <p:nvPr/>
        </p:nvPicPr>
        <p:blipFill>
          <a:blip r:embed="rId3"/>
          <a:stretch>
            <a:fillRect/>
          </a:stretch>
        </p:blipFill>
        <p:spPr>
          <a:xfrm>
            <a:off x="11419972" y="99001"/>
            <a:ext cx="513560" cy="513560"/>
          </a:xfrm>
          <a:prstGeom prst="rect">
            <a:avLst/>
          </a:prstGeom>
        </p:spPr>
      </p:pic>
      <p:sp>
        <p:nvSpPr>
          <p:cNvPr id="5" name="文本框 4">
            <a:extLst>
              <a:ext uri="{FF2B5EF4-FFF2-40B4-BE49-F238E27FC236}">
                <a16:creationId xmlns:a16="http://schemas.microsoft.com/office/drawing/2014/main" id="{14CB2663-FED2-46A7-3CB7-4FAE59513297}"/>
              </a:ext>
            </a:extLst>
          </p:cNvPr>
          <p:cNvSpPr txBox="1"/>
          <p:nvPr/>
        </p:nvSpPr>
        <p:spPr>
          <a:xfrm>
            <a:off x="10280223" y="274007"/>
            <a:ext cx="1653309" cy="338554"/>
          </a:xfrm>
          <a:prstGeom prst="rect">
            <a:avLst/>
          </a:prstGeom>
          <a:noFill/>
        </p:spPr>
        <p:txBody>
          <a:bodyPr wrap="square" rtlCol="0">
            <a:spAutoFit/>
          </a:bodyPr>
          <a:lstStyle/>
          <a:p>
            <a:r>
              <a:rPr lang="zh-CN" altLang="en-US" sz="1600" b="1" dirty="0">
                <a:solidFill>
                  <a:srgbClr val="0070C0"/>
                </a:solidFill>
                <a:latin typeface="微软雅黑" panose="020B0503020204020204" pitchFamily="34" charset="-122"/>
                <a:ea typeface="微软雅黑" panose="020B0503020204020204" pitchFamily="34" charset="-122"/>
              </a:rPr>
              <a:t>酸沙柠檬</a:t>
            </a:r>
          </a:p>
        </p:txBody>
      </p:sp>
      <p:sp>
        <p:nvSpPr>
          <p:cNvPr id="6" name="矩形 5">
            <a:extLst>
              <a:ext uri="{FF2B5EF4-FFF2-40B4-BE49-F238E27FC236}">
                <a16:creationId xmlns:a16="http://schemas.microsoft.com/office/drawing/2014/main" id="{FDEA3BB4-BD4D-9534-315C-B311585773C0}"/>
              </a:ext>
            </a:extLst>
          </p:cNvPr>
          <p:cNvSpPr/>
          <p:nvPr/>
        </p:nvSpPr>
        <p:spPr>
          <a:xfrm>
            <a:off x="9517283" y="704440"/>
            <a:ext cx="2416249" cy="83127"/>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7" name="图片 26">
            <a:extLst>
              <a:ext uri="{FF2B5EF4-FFF2-40B4-BE49-F238E27FC236}">
                <a16:creationId xmlns:a16="http://schemas.microsoft.com/office/drawing/2014/main" id="{9C6BCF7E-AA64-1E1E-6A9B-0060AAF61888}"/>
              </a:ext>
            </a:extLst>
          </p:cNvPr>
          <p:cNvPicPr>
            <a:picLocks noChangeAspect="1"/>
          </p:cNvPicPr>
          <p:nvPr/>
        </p:nvPicPr>
        <p:blipFill>
          <a:blip r:embed="rId4"/>
          <a:srcRect l="12961" r="9724"/>
          <a:stretch>
            <a:fillRect/>
          </a:stretch>
        </p:blipFill>
        <p:spPr>
          <a:xfrm>
            <a:off x="4016023" y="973828"/>
            <a:ext cx="1579926" cy="1693172"/>
          </a:xfrm>
          <a:prstGeom prst="rect">
            <a:avLst/>
          </a:prstGeom>
        </p:spPr>
      </p:pic>
      <p:pic>
        <p:nvPicPr>
          <p:cNvPr id="28" name="图片 27">
            <a:extLst>
              <a:ext uri="{FF2B5EF4-FFF2-40B4-BE49-F238E27FC236}">
                <a16:creationId xmlns:a16="http://schemas.microsoft.com/office/drawing/2014/main" id="{11C14250-A899-525A-D079-0E962300330A}"/>
              </a:ext>
            </a:extLst>
          </p:cNvPr>
          <p:cNvPicPr>
            <a:picLocks noChangeAspect="1"/>
          </p:cNvPicPr>
          <p:nvPr/>
        </p:nvPicPr>
        <p:blipFill>
          <a:blip r:embed="rId5"/>
          <a:srcRect l="24651" t="9429" r="22326" b="49425"/>
          <a:stretch>
            <a:fillRect/>
          </a:stretch>
        </p:blipFill>
        <p:spPr>
          <a:xfrm>
            <a:off x="7897708" y="973827"/>
            <a:ext cx="1579927" cy="1693173"/>
          </a:xfrm>
          <a:prstGeom prst="rect">
            <a:avLst/>
          </a:prstGeom>
        </p:spPr>
      </p:pic>
      <p:pic>
        <p:nvPicPr>
          <p:cNvPr id="29" name="Picture 10">
            <a:extLst>
              <a:ext uri="{FF2B5EF4-FFF2-40B4-BE49-F238E27FC236}">
                <a16:creationId xmlns:a16="http://schemas.microsoft.com/office/drawing/2014/main" id="{6B8D92A3-9FBA-9805-77E0-74AFBD0D2294}"/>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8802" t="2596" r="7206" b="36612"/>
          <a:stretch>
            <a:fillRect/>
          </a:stretch>
        </p:blipFill>
        <p:spPr bwMode="auto">
          <a:xfrm>
            <a:off x="5956865" y="973827"/>
            <a:ext cx="1579927" cy="1693173"/>
          </a:xfrm>
          <a:prstGeom prst="rect">
            <a:avLst/>
          </a:prstGeom>
          <a:noFill/>
          <a:extLst>
            <a:ext uri="{909E8E84-426E-40DD-AFC4-6F175D3DCCD1}">
              <a14:hiddenFill xmlns:a14="http://schemas.microsoft.com/office/drawing/2010/main">
                <a:solidFill>
                  <a:srgbClr val="FFFFFF"/>
                </a:solidFill>
              </a14:hiddenFill>
            </a:ext>
          </a:extLst>
        </p:spPr>
      </p:pic>
      <p:pic>
        <p:nvPicPr>
          <p:cNvPr id="30" name="图片 29">
            <a:extLst>
              <a:ext uri="{FF2B5EF4-FFF2-40B4-BE49-F238E27FC236}">
                <a16:creationId xmlns:a16="http://schemas.microsoft.com/office/drawing/2014/main" id="{2CD22D36-B3E1-7172-DF18-EBB6D1D3FA47}"/>
              </a:ext>
            </a:extLst>
          </p:cNvPr>
          <p:cNvPicPr>
            <a:picLocks noChangeAspect="1"/>
          </p:cNvPicPr>
          <p:nvPr/>
        </p:nvPicPr>
        <p:blipFill>
          <a:blip r:embed="rId7"/>
          <a:srcRect b="19378"/>
          <a:stretch>
            <a:fillRect/>
          </a:stretch>
        </p:blipFill>
        <p:spPr>
          <a:xfrm>
            <a:off x="9838551" y="976078"/>
            <a:ext cx="1579927" cy="1670792"/>
          </a:xfrm>
          <a:prstGeom prst="rect">
            <a:avLst/>
          </a:prstGeom>
        </p:spPr>
      </p:pic>
      <p:sp>
        <p:nvSpPr>
          <p:cNvPr id="31" name="文本框 30">
            <a:extLst>
              <a:ext uri="{FF2B5EF4-FFF2-40B4-BE49-F238E27FC236}">
                <a16:creationId xmlns:a16="http://schemas.microsoft.com/office/drawing/2014/main" id="{96037226-6D6C-7063-58CC-8A68FF06617F}"/>
              </a:ext>
            </a:extLst>
          </p:cNvPr>
          <p:cNvSpPr txBox="1"/>
          <p:nvPr/>
        </p:nvSpPr>
        <p:spPr>
          <a:xfrm>
            <a:off x="696902" y="5120980"/>
            <a:ext cx="2844800" cy="923330"/>
          </a:xfrm>
          <a:prstGeom prst="rect">
            <a:avLst/>
          </a:prstGeom>
          <a:noFill/>
        </p:spPr>
        <p:txBody>
          <a:bodyPr wrap="square" rtlCol="0">
            <a:spAutoFit/>
          </a:bodyPr>
          <a:lstStyle/>
          <a:p>
            <a:pPr algn="ctr"/>
            <a:r>
              <a:rPr lang="zh-CN" altLang="en-US" dirty="0">
                <a:latin typeface="微软雅黑" panose="020B0503020204020204" pitchFamily="34" charset="-122"/>
                <a:ea typeface="微软雅黑" panose="020B0503020204020204" pitchFamily="34" charset="-122"/>
              </a:rPr>
              <a:t>为什么要计算飞机的升力、阻力和力矩，知道这些又能怎样呢？</a:t>
            </a:r>
          </a:p>
        </p:txBody>
      </p:sp>
      <p:pic>
        <p:nvPicPr>
          <p:cNvPr id="35" name="图片 34">
            <a:extLst>
              <a:ext uri="{FF2B5EF4-FFF2-40B4-BE49-F238E27FC236}">
                <a16:creationId xmlns:a16="http://schemas.microsoft.com/office/drawing/2014/main" id="{224E12F5-1241-19D8-709E-77C65009D873}"/>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7178" b="98828" l="9961" r="94189">
                        <a14:foregroundMark x1="90576" y1="9961" x2="90576" y2="9961"/>
                        <a14:foregroundMark x1="89063" y1="14600" x2="89063" y2="14600"/>
                        <a14:foregroundMark x1="85938" y1="7178" x2="85938" y2="7178"/>
                        <a14:foregroundMark x1="94287" y1="13281" x2="94287" y2="13281"/>
                        <a14:foregroundMark x1="64648" y1="94775" x2="64648" y2="94775"/>
                        <a14:foregroundMark x1="59277" y1="98828" x2="59277" y2="98828"/>
                        <a14:foregroundMark x1="62793" y1="73633" x2="62793" y2="73633"/>
                        <a14:foregroundMark x1="82617" y1="12549" x2="82617" y2="12549"/>
                        <a14:foregroundMark x1="79834" y1="18848" x2="79834" y2="18848"/>
                        <a14:foregroundMark x1="89844" y1="18115" x2="89844" y2="18115"/>
                      </a14:backgroundRemoval>
                    </a14:imgEffect>
                  </a14:imgLayer>
                </a14:imgProps>
              </a:ext>
            </a:extLst>
          </a:blip>
          <a:stretch>
            <a:fillRect/>
          </a:stretch>
        </p:blipFill>
        <p:spPr>
          <a:xfrm>
            <a:off x="-192924" y="973827"/>
            <a:ext cx="3734626" cy="3734626"/>
          </a:xfrm>
          <a:prstGeom prst="rect">
            <a:avLst/>
          </a:prstGeom>
        </p:spPr>
      </p:pic>
      <p:pic>
        <p:nvPicPr>
          <p:cNvPr id="37" name="图片 36">
            <a:extLst>
              <a:ext uri="{FF2B5EF4-FFF2-40B4-BE49-F238E27FC236}">
                <a16:creationId xmlns:a16="http://schemas.microsoft.com/office/drawing/2014/main" id="{EF66AEF2-84A9-C3AA-6525-ED443650FA61}"/>
              </a:ext>
            </a:extLst>
          </p:cNvPr>
          <p:cNvPicPr>
            <a:picLocks noChangeAspect="1"/>
          </p:cNvPicPr>
          <p:nvPr/>
        </p:nvPicPr>
        <p:blipFill>
          <a:blip r:embed="rId10"/>
          <a:stretch>
            <a:fillRect/>
          </a:stretch>
        </p:blipFill>
        <p:spPr>
          <a:xfrm>
            <a:off x="9323131" y="3429000"/>
            <a:ext cx="2574772" cy="2300345"/>
          </a:xfrm>
          <a:prstGeom prst="rect">
            <a:avLst/>
          </a:prstGeom>
        </p:spPr>
      </p:pic>
      <p:pic>
        <p:nvPicPr>
          <p:cNvPr id="38" name="图片 37">
            <a:extLst>
              <a:ext uri="{FF2B5EF4-FFF2-40B4-BE49-F238E27FC236}">
                <a16:creationId xmlns:a16="http://schemas.microsoft.com/office/drawing/2014/main" id="{70791F64-DC02-505C-B9C0-1D1F55B39238}"/>
              </a:ext>
            </a:extLst>
          </p:cNvPr>
          <p:cNvPicPr>
            <a:picLocks noChangeAspect="1"/>
          </p:cNvPicPr>
          <p:nvPr/>
        </p:nvPicPr>
        <p:blipFill>
          <a:blip r:embed="rId11"/>
          <a:stretch>
            <a:fillRect/>
          </a:stretch>
        </p:blipFill>
        <p:spPr>
          <a:xfrm>
            <a:off x="4016023" y="4260143"/>
            <a:ext cx="1952276" cy="1084598"/>
          </a:xfrm>
          <a:prstGeom prst="rect">
            <a:avLst/>
          </a:prstGeom>
        </p:spPr>
      </p:pic>
      <p:sp>
        <p:nvSpPr>
          <p:cNvPr id="39" name="箭头: 左 38">
            <a:extLst>
              <a:ext uri="{FF2B5EF4-FFF2-40B4-BE49-F238E27FC236}">
                <a16:creationId xmlns:a16="http://schemas.microsoft.com/office/drawing/2014/main" id="{82B47707-66C4-AED7-5266-20A38A44CC99}"/>
              </a:ext>
            </a:extLst>
          </p:cNvPr>
          <p:cNvSpPr/>
          <p:nvPr/>
        </p:nvSpPr>
        <p:spPr>
          <a:xfrm rot="10800000">
            <a:off x="6358329" y="4408803"/>
            <a:ext cx="2574772" cy="190500"/>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40" name="文本框 39">
            <a:extLst>
              <a:ext uri="{FF2B5EF4-FFF2-40B4-BE49-F238E27FC236}">
                <a16:creationId xmlns:a16="http://schemas.microsoft.com/office/drawing/2014/main" id="{AE9C54F4-33D7-1A82-77F1-63AEFA49AFCF}"/>
              </a:ext>
            </a:extLst>
          </p:cNvPr>
          <p:cNvSpPr txBox="1"/>
          <p:nvPr/>
        </p:nvSpPr>
        <p:spPr>
          <a:xfrm>
            <a:off x="6746401" y="4769258"/>
            <a:ext cx="1798628"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数小时的计算</a:t>
            </a:r>
          </a:p>
        </p:txBody>
      </p:sp>
      <p:pic>
        <p:nvPicPr>
          <p:cNvPr id="42" name="图片 41">
            <a:extLst>
              <a:ext uri="{FF2B5EF4-FFF2-40B4-BE49-F238E27FC236}">
                <a16:creationId xmlns:a16="http://schemas.microsoft.com/office/drawing/2014/main" id="{533AC52C-C136-5704-71B0-F4BAD59098E1}"/>
              </a:ext>
            </a:extLst>
          </p:cNvPr>
          <p:cNvPicPr>
            <a:picLocks noChangeAspect="1"/>
          </p:cNvPicPr>
          <p:nvPr/>
        </p:nvPicPr>
        <p:blipFill>
          <a:blip r:embed="rId12"/>
          <a:srcRect b="28215"/>
          <a:stretch>
            <a:fillRect/>
          </a:stretch>
        </p:blipFill>
        <p:spPr>
          <a:xfrm>
            <a:off x="5968299" y="4015678"/>
            <a:ext cx="3443641" cy="2472007"/>
          </a:xfrm>
          <a:prstGeom prst="rect">
            <a:avLst/>
          </a:prstGeom>
        </p:spPr>
      </p:pic>
      <p:sp>
        <p:nvSpPr>
          <p:cNvPr id="2" name="箭头: 下 1">
            <a:extLst>
              <a:ext uri="{FF2B5EF4-FFF2-40B4-BE49-F238E27FC236}">
                <a16:creationId xmlns:a16="http://schemas.microsoft.com/office/drawing/2014/main" id="{54604987-4FB4-1C6F-D97D-DE1498D32877}"/>
              </a:ext>
            </a:extLst>
          </p:cNvPr>
          <p:cNvSpPr/>
          <p:nvPr/>
        </p:nvSpPr>
        <p:spPr>
          <a:xfrm>
            <a:off x="7364934" y="2922482"/>
            <a:ext cx="730214" cy="94346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699614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42"/>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8"/>
                                        </p:tgtEl>
                                        <p:attrNameLst>
                                          <p:attrName>style.visibility</p:attrName>
                                        </p:attrNameLst>
                                      </p:cBhvr>
                                      <p:to>
                                        <p:strVal val="visible"/>
                                      </p:to>
                                    </p:set>
                                    <p:animEffect transition="in" filter="fade">
                                      <p:cBhvr>
                                        <p:cTn id="11" dur="500"/>
                                        <p:tgtEl>
                                          <p:spTgt spid="38"/>
                                        </p:tgtEl>
                                      </p:cBhvr>
                                    </p:animEffect>
                                  </p:childTnLst>
                                </p:cTn>
                              </p:par>
                              <p:par>
                                <p:cTn id="12" presetID="10" presetClass="entr" presetSubtype="0" fill="hold" nodeType="withEffect">
                                  <p:stCondLst>
                                    <p:cond delay="0"/>
                                  </p:stCondLst>
                                  <p:childTnLst>
                                    <p:set>
                                      <p:cBhvr>
                                        <p:cTn id="13" dur="1" fill="hold">
                                          <p:stCondLst>
                                            <p:cond delay="0"/>
                                          </p:stCondLst>
                                        </p:cTn>
                                        <p:tgtEl>
                                          <p:spTgt spid="37"/>
                                        </p:tgtEl>
                                        <p:attrNameLst>
                                          <p:attrName>style.visibility</p:attrName>
                                        </p:attrNameLst>
                                      </p:cBhvr>
                                      <p:to>
                                        <p:strVal val="visible"/>
                                      </p:to>
                                    </p:set>
                                    <p:animEffect transition="in" filter="fade">
                                      <p:cBhvr>
                                        <p:cTn id="14" dur="500"/>
                                        <p:tgtEl>
                                          <p:spTgt spid="3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9"/>
                                        </p:tgtEl>
                                        <p:attrNameLst>
                                          <p:attrName>style.visibility</p:attrName>
                                        </p:attrNameLst>
                                      </p:cBhvr>
                                      <p:to>
                                        <p:strVal val="visible"/>
                                      </p:to>
                                    </p:set>
                                    <p:animEffect transition="in" filter="fade">
                                      <p:cBhvr>
                                        <p:cTn id="17" dur="500"/>
                                        <p:tgtEl>
                                          <p:spTgt spid="3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40"/>
                                        </p:tgtEl>
                                        <p:attrNameLst>
                                          <p:attrName>style.visibility</p:attrName>
                                        </p:attrNameLst>
                                      </p:cBhvr>
                                      <p:to>
                                        <p:strVal val="visible"/>
                                      </p:to>
                                    </p:set>
                                    <p:animEffect transition="in" filter="fade">
                                      <p:cBhvr>
                                        <p:cTn id="20" dur="500"/>
                                        <p:tgtEl>
                                          <p:spTgt spid="40"/>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9" grpId="0" animBg="1"/>
      <p:bldP spid="4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16486-A727-292C-33A5-70A3155FD3ED}"/>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CB1ED9F6-EC63-8E4A-30FA-C7AA3B41DF5F}"/>
              </a:ext>
            </a:extLst>
          </p:cNvPr>
          <p:cNvPicPr>
            <a:picLocks noChangeAspect="1"/>
          </p:cNvPicPr>
          <p:nvPr/>
        </p:nvPicPr>
        <p:blipFill>
          <a:blip r:embed="rId3"/>
          <a:stretch>
            <a:fillRect/>
          </a:stretch>
        </p:blipFill>
        <p:spPr>
          <a:xfrm>
            <a:off x="11419972" y="99001"/>
            <a:ext cx="513560" cy="513560"/>
          </a:xfrm>
          <a:prstGeom prst="rect">
            <a:avLst/>
          </a:prstGeom>
        </p:spPr>
      </p:pic>
      <p:sp>
        <p:nvSpPr>
          <p:cNvPr id="5" name="文本框 4">
            <a:extLst>
              <a:ext uri="{FF2B5EF4-FFF2-40B4-BE49-F238E27FC236}">
                <a16:creationId xmlns:a16="http://schemas.microsoft.com/office/drawing/2014/main" id="{9FA48C45-0A3F-D79E-09AE-74DD097F0F96}"/>
              </a:ext>
            </a:extLst>
          </p:cNvPr>
          <p:cNvSpPr txBox="1"/>
          <p:nvPr/>
        </p:nvSpPr>
        <p:spPr>
          <a:xfrm>
            <a:off x="10280223" y="274007"/>
            <a:ext cx="1653309" cy="338554"/>
          </a:xfrm>
          <a:prstGeom prst="rect">
            <a:avLst/>
          </a:prstGeom>
          <a:noFill/>
        </p:spPr>
        <p:txBody>
          <a:bodyPr wrap="square" rtlCol="0">
            <a:spAutoFit/>
          </a:bodyPr>
          <a:lstStyle/>
          <a:p>
            <a:r>
              <a:rPr lang="zh-CN" altLang="en-US" sz="1600" b="1" dirty="0">
                <a:solidFill>
                  <a:srgbClr val="0070C0"/>
                </a:solidFill>
                <a:latin typeface="微软雅黑" panose="020B0503020204020204" pitchFamily="34" charset="-122"/>
                <a:ea typeface="微软雅黑" panose="020B0503020204020204" pitchFamily="34" charset="-122"/>
              </a:rPr>
              <a:t>酸沙柠檬</a:t>
            </a:r>
          </a:p>
        </p:txBody>
      </p:sp>
      <p:sp>
        <p:nvSpPr>
          <p:cNvPr id="6" name="矩形 5">
            <a:extLst>
              <a:ext uri="{FF2B5EF4-FFF2-40B4-BE49-F238E27FC236}">
                <a16:creationId xmlns:a16="http://schemas.microsoft.com/office/drawing/2014/main" id="{D540F277-6EF7-F8AF-1C97-B7037E1F9A1B}"/>
              </a:ext>
            </a:extLst>
          </p:cNvPr>
          <p:cNvSpPr/>
          <p:nvPr/>
        </p:nvSpPr>
        <p:spPr>
          <a:xfrm>
            <a:off x="9517283" y="704440"/>
            <a:ext cx="2416249" cy="83127"/>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 name="图片 19">
            <a:extLst>
              <a:ext uri="{FF2B5EF4-FFF2-40B4-BE49-F238E27FC236}">
                <a16:creationId xmlns:a16="http://schemas.microsoft.com/office/drawing/2014/main" id="{067B7BCB-860B-9961-BB43-5B5CAC52C960}"/>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9602" b="89930" l="4219" r="96250">
                        <a14:foregroundMark x1="8750" y1="35597" x2="8750" y2="35597"/>
                        <a14:foregroundMark x1="4219" y1="34660" x2="4219" y2="34660"/>
                        <a14:foregroundMark x1="23594" y1="31850" x2="23594" y2="31850"/>
                        <a14:foregroundMark x1="22813" y1="32319" x2="22813" y2="32319"/>
                        <a14:foregroundMark x1="92031" y1="62763" x2="92031" y2="62763"/>
                        <a14:foregroundMark x1="96250" y1="63934" x2="96250" y2="63934"/>
                        <a14:foregroundMark x1="26250" y1="30913" x2="26250" y2="30913"/>
                        <a14:foregroundMark x1="31406" y1="30679" x2="31406" y2="30679"/>
                        <a14:foregroundMark x1="33750" y1="31148" x2="33750" y2="31148"/>
                        <a14:foregroundMark x1="34375" y1="31382" x2="34375" y2="31382"/>
                        <a14:foregroundMark x1="28438" y1="30445" x2="28438" y2="30445"/>
                        <a14:foregroundMark x1="25313" y1="31148" x2="25313" y2="31148"/>
                        <a14:foregroundMark x1="21563" y1="32084" x2="21563" y2="32084"/>
                      </a14:backgroundRemoval>
                    </a14:imgEffect>
                  </a14:imgLayer>
                </a14:imgProps>
              </a:ext>
            </a:extLst>
          </a:blip>
          <a:stretch>
            <a:fillRect/>
          </a:stretch>
        </p:blipFill>
        <p:spPr>
          <a:xfrm>
            <a:off x="501611" y="191491"/>
            <a:ext cx="2626216" cy="1752178"/>
          </a:xfrm>
          <a:prstGeom prst="rect">
            <a:avLst/>
          </a:prstGeom>
        </p:spPr>
      </p:pic>
      <p:pic>
        <p:nvPicPr>
          <p:cNvPr id="3076" name="Picture 4" descr="为运-20上高原欢呼的时候，同样该为在高原上缓缓攀行的人鼓掌">
            <a:extLst>
              <a:ext uri="{FF2B5EF4-FFF2-40B4-BE49-F238E27FC236}">
                <a16:creationId xmlns:a16="http://schemas.microsoft.com/office/drawing/2014/main" id="{7895AB35-ECFC-F21E-4D93-776E7EDB2EA0}"/>
              </a:ext>
            </a:extLst>
          </p:cNvPr>
          <p:cNvPicPr>
            <a:picLocks noChangeAspect="1" noChangeArrowheads="1"/>
          </p:cNvPicPr>
          <p:nvPr/>
        </p:nvPicPr>
        <p:blipFill>
          <a:blip r:embed="rId6">
            <a:extLst>
              <a:ext uri="{BEBA8EAE-BF5A-486C-A8C5-ECC9F3942E4B}">
                <a14:imgProps xmlns:a14="http://schemas.microsoft.com/office/drawing/2010/main">
                  <a14:imgLayer r:embed="rId7">
                    <a14:imgEffect>
                      <a14:backgroundRemoval t="10000" b="90000" l="2056" r="97556">
                        <a14:foregroundMark x1="8444" y1="52333" x2="8444" y2="52333"/>
                        <a14:foregroundMark x1="4500" y1="53083" x2="4500" y2="53083"/>
                        <a14:foregroundMark x1="2111" y1="53667" x2="2111" y2="53667"/>
                        <a14:foregroundMark x1="6056" y1="52333" x2="6056" y2="52333"/>
                        <a14:foregroundMark x1="10056" y1="51167" x2="10056" y2="51167"/>
                        <a14:foregroundMark x1="16000" y1="49833" x2="16000" y2="49833"/>
                        <a14:foregroundMark x1="23167" y1="48000" x2="23167" y2="48000"/>
                        <a14:foregroundMark x1="46500" y1="44917" x2="46500" y2="44917"/>
                        <a14:foregroundMark x1="61444" y1="42167" x2="61444" y2="42167"/>
                        <a14:foregroundMark x1="94111" y1="54333" x2="94111" y2="54333"/>
                        <a14:foregroundMark x1="88278" y1="52500" x2="88278" y2="52500"/>
                        <a14:foregroundMark x1="92667" y1="53417" x2="92667" y2="53417"/>
                        <a14:foregroundMark x1="27667" y1="46500" x2="27667" y2="46500"/>
                        <a14:foregroundMark x1="15167" y1="49917" x2="15167" y2="49917"/>
                        <a14:foregroundMark x1="86500" y1="52333" x2="86500" y2="52333"/>
                        <a14:foregroundMark x1="84333" y1="51917" x2="84333" y2="51917"/>
                        <a14:foregroundMark x1="78667" y1="50833" x2="78667" y2="50833"/>
                        <a14:foregroundMark x1="80167" y1="51083" x2="80167" y2="51083"/>
                        <a14:foregroundMark x1="75111" y1="50083" x2="75111" y2="50083"/>
                        <a14:foregroundMark x1="72944" y1="49750" x2="72944" y2="49750"/>
                        <a14:foregroundMark x1="69833" y1="49083" x2="69833" y2="49083"/>
                        <a14:foregroundMark x1="66944" y1="48500" x2="66944" y2="48500"/>
                        <a14:foregroundMark x1="64000" y1="48000" x2="64000" y2="48000"/>
                        <a14:foregroundMark x1="68722" y1="48583" x2="68722" y2="48583"/>
                        <a14:foregroundMark x1="54722" y1="46083" x2="54722" y2="46083"/>
                        <a14:foregroundMark x1="52056" y1="45083" x2="52056" y2="45083"/>
                        <a14:foregroundMark x1="90722" y1="52917" x2="90722" y2="52917"/>
                        <a14:foregroundMark x1="89167" y1="52583" x2="89167" y2="52583"/>
                        <a14:foregroundMark x1="92222" y1="53000" x2="92222" y2="53000"/>
                        <a14:foregroundMark x1="97556" y1="54583" x2="97556" y2="54583"/>
                        <a14:backgroundMark x1="62389" y1="56417" x2="62389" y2="56417"/>
                        <a14:backgroundMark x1="69500" y1="55167" x2="69500" y2="55167"/>
                        <a14:backgroundMark x1="74556" y1="55500" x2="74556" y2="55500"/>
                        <a14:backgroundMark x1="79111" y1="55500" x2="79111" y2="55500"/>
                        <a14:backgroundMark x1="83000" y1="56083" x2="83000" y2="56083"/>
                        <a14:backgroundMark x1="84611" y1="54667" x2="84611" y2="54667"/>
                        <a14:backgroundMark x1="66944" y1="38833" x2="66944" y2="38833"/>
                        <a14:backgroundMark x1="65667" y1="41333" x2="65667" y2="41333"/>
                        <a14:backgroundMark x1="64056" y1="46833" x2="64056" y2="46833"/>
                        <a14:backgroundMark x1="22889" y1="54833" x2="22889" y2="54833"/>
                        <a14:backgroundMark x1="26000" y1="55333" x2="26000" y2="55333"/>
                        <a14:backgroundMark x1="30389" y1="56167" x2="30389" y2="56167"/>
                        <a14:backgroundMark x1="16778" y1="56333" x2="16778" y2="56333"/>
                        <a14:backgroundMark x1="59167" y1="39167" x2="59167" y2="39167"/>
                        <a14:backgroundMark x1="46111" y1="66667" x2="46111" y2="66667"/>
                        <a14:backgroundMark x1="55722" y1="66750" x2="55722" y2="66750"/>
                        <a14:backgroundMark x1="59722" y1="64667" x2="59722" y2="64667"/>
                        <a14:backgroundMark x1="58000" y1="65583" x2="58000" y2="65583"/>
                        <a14:backgroundMark x1="32111" y1="58083" x2="32111" y2="58083"/>
                        <a14:backgroundMark x1="35056" y1="64083" x2="35056" y2="64083"/>
                        <a14:backgroundMark x1="33778" y1="62417" x2="33778" y2="62417"/>
                      </a14:backgroundRemoval>
                    </a14:imgEffect>
                  </a14:imgLayer>
                </a14:imgProps>
              </a:ext>
              <a:ext uri="{28A0092B-C50C-407E-A947-70E740481C1C}">
                <a14:useLocalDpi xmlns:a14="http://schemas.microsoft.com/office/drawing/2010/main" val="0"/>
              </a:ext>
            </a:extLst>
          </a:blip>
          <a:srcRect/>
          <a:stretch>
            <a:fillRect/>
          </a:stretch>
        </p:blipFill>
        <p:spPr bwMode="auto">
          <a:xfrm>
            <a:off x="501611" y="1422947"/>
            <a:ext cx="2876589" cy="1917726"/>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 descr="南部战区演练机场夺控，武直在实战中如何发挥？|直20|直升机_新浪新闻">
            <a:extLst>
              <a:ext uri="{FF2B5EF4-FFF2-40B4-BE49-F238E27FC236}">
                <a16:creationId xmlns:a16="http://schemas.microsoft.com/office/drawing/2014/main" id="{D6E4BF3F-0FA2-6194-92BC-FFBC70055EEF}"/>
              </a:ext>
            </a:extLst>
          </p:cNvPr>
          <p:cNvPicPr>
            <a:picLocks noChangeAspect="1" noChangeArrowheads="1"/>
          </p:cNvPicPr>
          <p:nvPr/>
        </p:nvPicPr>
        <p:blipFill>
          <a:blip r:embed="rId8">
            <a:extLst>
              <a:ext uri="{BEBA8EAE-BF5A-486C-A8C5-ECC9F3942E4B}">
                <a14:imgProps xmlns:a14="http://schemas.microsoft.com/office/drawing/2010/main">
                  <a14:imgLayer r:embed="rId9">
                    <a14:imgEffect>
                      <a14:backgroundRemoval t="9859" b="89906" l="6563" r="90000">
                        <a14:foregroundMark x1="52344" y1="20423" x2="52344" y2="20423"/>
                        <a14:foregroundMark x1="13750" y1="29577" x2="13750" y2="29577"/>
                        <a14:foregroundMark x1="13281" y1="56103" x2="13281" y2="56103"/>
                        <a14:foregroundMark x1="6563" y1="59390" x2="6563" y2="59390"/>
                        <a14:foregroundMark x1="72500" y1="36620" x2="72500" y2="36620"/>
                        <a14:foregroundMark x1="46094" y1="41784" x2="46094" y2="41784"/>
                        <a14:foregroundMark x1="48750" y1="41080" x2="48750" y2="41080"/>
                        <a14:foregroundMark x1="51875" y1="40376" x2="51875" y2="40376"/>
                        <a14:foregroundMark x1="55937" y1="39671" x2="55937" y2="39671"/>
                        <a14:foregroundMark x1="58906" y1="39202" x2="58906" y2="39202"/>
                        <a14:foregroundMark x1="62187" y1="38732" x2="62187" y2="38732"/>
                        <a14:foregroundMark x1="65000" y1="37793" x2="65000" y2="37793"/>
                        <a14:foregroundMark x1="77344" y1="35915" x2="77344" y2="35915"/>
                        <a14:foregroundMark x1="71250" y1="36854" x2="71250" y2="36854"/>
                        <a14:foregroundMark x1="67500" y1="37089" x2="67500" y2="37089"/>
                        <a14:foregroundMark x1="68594" y1="36854" x2="68594" y2="36854"/>
                        <a14:foregroundMark x1="63906" y1="38263" x2="63906" y2="38263"/>
                        <a14:foregroundMark x1="61406" y1="38498" x2="61406" y2="38498"/>
                        <a14:foregroundMark x1="59688" y1="38967" x2="59688" y2="38967"/>
                        <a14:foregroundMark x1="57813" y1="39202" x2="57813" y2="39202"/>
                        <a14:foregroundMark x1="57031" y1="39437" x2="57031" y2="39437"/>
                        <a14:foregroundMark x1="54844" y1="39906" x2="54844" y2="39906"/>
                        <a14:foregroundMark x1="53125" y1="40141" x2="53125" y2="40141"/>
                        <a14:foregroundMark x1="54063" y1="39906" x2="54063" y2="39906"/>
                        <a14:foregroundMark x1="49688" y1="41080" x2="49688" y2="41080"/>
                        <a14:foregroundMark x1="50781" y1="40845" x2="50781" y2="40845"/>
                        <a14:foregroundMark x1="52656" y1="39906" x2="52656" y2="39906"/>
                        <a14:foregroundMark x1="51094" y1="40141" x2="51094" y2="40141"/>
                        <a14:foregroundMark x1="49688" y1="40845" x2="49688" y2="40845"/>
                        <a14:foregroundMark x1="48438" y1="41080" x2="48438" y2="41080"/>
                        <a14:foregroundMark x1="47656" y1="41080" x2="47656" y2="41080"/>
                        <a14:foregroundMark x1="49063" y1="40845" x2="49063" y2="40845"/>
                        <a14:foregroundMark x1="66406" y1="37089" x2="66406" y2="37089"/>
                        <a14:foregroundMark x1="65156" y1="37324" x2="65156" y2="37324"/>
                        <a14:foregroundMark x1="63906" y1="37559" x2="63906" y2="37559"/>
                        <a14:foregroundMark x1="62187" y1="38028" x2="62187" y2="38028"/>
                        <a14:foregroundMark x1="60781" y1="38263" x2="60781" y2="38263"/>
                        <a14:foregroundMark x1="58906" y1="38498" x2="58906" y2="38498"/>
                        <a14:foregroundMark x1="57344" y1="38967" x2="57344" y2="38967"/>
                        <a14:foregroundMark x1="46719" y1="41315" x2="46719" y2="41315"/>
                        <a14:foregroundMark x1="48281" y1="40610" x2="48281" y2="40610"/>
                        <a14:foregroundMark x1="56250" y1="39202" x2="56250" y2="39202"/>
                        <a14:foregroundMark x1="85469" y1="44601" x2="85469" y2="44601"/>
                        <a14:foregroundMark x1="79219" y1="46009" x2="79219" y2="46009"/>
                        <a14:foregroundMark x1="78281" y1="57042" x2="78281" y2="57042"/>
                        <a14:foregroundMark x1="73906" y1="36150" x2="73906" y2="36150"/>
                        <a14:foregroundMark x1="12344" y1="29108" x2="12344" y2="29108"/>
                        <a14:backgroundMark x1="32656" y1="63850" x2="32656" y2="63850"/>
                        <a14:backgroundMark x1="31250" y1="62911" x2="31250" y2="62911"/>
                      </a14:backgroundRemoval>
                    </a14:imgEffect>
                  </a14:imgLayer>
                </a14:imgProps>
              </a:ext>
              <a:ext uri="{28A0092B-C50C-407E-A947-70E740481C1C}">
                <a14:useLocalDpi xmlns:a14="http://schemas.microsoft.com/office/drawing/2010/main" val="0"/>
              </a:ext>
            </a:extLst>
          </a:blip>
          <a:srcRect/>
          <a:stretch>
            <a:fillRect/>
          </a:stretch>
        </p:blipFill>
        <p:spPr bwMode="auto">
          <a:xfrm>
            <a:off x="501611" y="2910274"/>
            <a:ext cx="3010791" cy="2004058"/>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大疆“御”Mavic Air无人机_试用_新浪众测">
            <a:extLst>
              <a:ext uri="{FF2B5EF4-FFF2-40B4-BE49-F238E27FC236}">
                <a16:creationId xmlns:a16="http://schemas.microsoft.com/office/drawing/2014/main" id="{08BD3495-F7E6-7A26-ED86-410A3270962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5724" y="4702246"/>
            <a:ext cx="3006087" cy="2004058"/>
          </a:xfrm>
          <a:prstGeom prst="rect">
            <a:avLst/>
          </a:prstGeom>
          <a:noFill/>
          <a:extLst>
            <a:ext uri="{909E8E84-426E-40DD-AFC4-6F175D3DCCD1}">
              <a14:hiddenFill xmlns:a14="http://schemas.microsoft.com/office/drawing/2010/main">
                <a:solidFill>
                  <a:srgbClr val="FFFFFF"/>
                </a:solidFill>
              </a14:hiddenFill>
            </a:ext>
          </a:extLst>
        </p:spPr>
      </p:pic>
      <p:sp>
        <p:nvSpPr>
          <p:cNvPr id="26" name="箭头: 右 25">
            <a:extLst>
              <a:ext uri="{FF2B5EF4-FFF2-40B4-BE49-F238E27FC236}">
                <a16:creationId xmlns:a16="http://schemas.microsoft.com/office/drawing/2014/main" id="{D4F3AC30-2058-E52D-CD79-EF88D04AC447}"/>
              </a:ext>
            </a:extLst>
          </p:cNvPr>
          <p:cNvSpPr/>
          <p:nvPr/>
        </p:nvSpPr>
        <p:spPr>
          <a:xfrm>
            <a:off x="4328182" y="2267750"/>
            <a:ext cx="1689100" cy="57126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a:extLst>
              <a:ext uri="{FF2B5EF4-FFF2-40B4-BE49-F238E27FC236}">
                <a16:creationId xmlns:a16="http://schemas.microsoft.com/office/drawing/2014/main" id="{3013060A-B40D-691F-39F5-55266610B558}"/>
              </a:ext>
            </a:extLst>
          </p:cNvPr>
          <p:cNvSpPr/>
          <p:nvPr/>
        </p:nvSpPr>
        <p:spPr>
          <a:xfrm rot="1109991">
            <a:off x="7204733" y="2219857"/>
            <a:ext cx="2679700" cy="107752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箭头: 下 35">
            <a:extLst>
              <a:ext uri="{FF2B5EF4-FFF2-40B4-BE49-F238E27FC236}">
                <a16:creationId xmlns:a16="http://schemas.microsoft.com/office/drawing/2014/main" id="{9107C8C7-776D-8979-B951-EFEB9F441C31}"/>
              </a:ext>
            </a:extLst>
          </p:cNvPr>
          <p:cNvSpPr/>
          <p:nvPr/>
        </p:nvSpPr>
        <p:spPr>
          <a:xfrm rot="12648845">
            <a:off x="8956128" y="1206680"/>
            <a:ext cx="114300" cy="1638300"/>
          </a:xfrm>
          <a:prstGeom prst="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箭头: 左弧形 42">
            <a:extLst>
              <a:ext uri="{FF2B5EF4-FFF2-40B4-BE49-F238E27FC236}">
                <a16:creationId xmlns:a16="http://schemas.microsoft.com/office/drawing/2014/main" id="{FB67311A-6C5D-FDA7-4127-06956D66149C}"/>
              </a:ext>
            </a:extLst>
          </p:cNvPr>
          <p:cNvSpPr/>
          <p:nvPr/>
        </p:nvSpPr>
        <p:spPr>
          <a:xfrm>
            <a:off x="8248624" y="2472986"/>
            <a:ext cx="242039" cy="571267"/>
          </a:xfrm>
          <a:prstGeom prst="curved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mc:AlternateContent xmlns:mc="http://schemas.openxmlformats.org/markup-compatibility/2006" xmlns:a14="http://schemas.microsoft.com/office/drawing/2010/main">
        <mc:Choice Requires="a14">
          <p:sp>
            <p:nvSpPr>
              <p:cNvPr id="44" name="文本框 43">
                <a:extLst>
                  <a:ext uri="{FF2B5EF4-FFF2-40B4-BE49-F238E27FC236}">
                    <a16:creationId xmlns:a16="http://schemas.microsoft.com/office/drawing/2014/main" id="{A30B6518-0304-D0C7-0EDD-9BA8016932EC}"/>
                  </a:ext>
                </a:extLst>
              </p:cNvPr>
              <p:cNvSpPr txBox="1"/>
              <p:nvPr/>
            </p:nvSpPr>
            <p:spPr>
              <a:xfrm>
                <a:off x="9394114" y="918249"/>
                <a:ext cx="825502" cy="49244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3200" b="1" i="1" smtClean="0">
                          <a:latin typeface="Cambria Math" panose="02040503050406030204" pitchFamily="18" charset="0"/>
                        </a:rPr>
                        <m:t>𝑭</m:t>
                      </m:r>
                    </m:oMath>
                  </m:oMathPara>
                </a14:m>
                <a:endParaRPr lang="zh-CN" altLang="en-US" b="1" dirty="0"/>
              </a:p>
            </p:txBody>
          </p:sp>
        </mc:Choice>
        <mc:Fallback xmlns="">
          <p:sp>
            <p:nvSpPr>
              <p:cNvPr id="44" name="文本框 43">
                <a:extLst>
                  <a:ext uri="{FF2B5EF4-FFF2-40B4-BE49-F238E27FC236}">
                    <a16:creationId xmlns:a16="http://schemas.microsoft.com/office/drawing/2014/main" id="{A30B6518-0304-D0C7-0EDD-9BA8016932EC}"/>
                  </a:ext>
                </a:extLst>
              </p:cNvPr>
              <p:cNvSpPr txBox="1">
                <a:spLocks noRot="1" noChangeAspect="1" noMove="1" noResize="1" noEditPoints="1" noAdjustHandles="1" noChangeArrowheads="1" noChangeShapeType="1" noTextEdit="1"/>
              </p:cNvSpPr>
              <p:nvPr/>
            </p:nvSpPr>
            <p:spPr>
              <a:xfrm>
                <a:off x="9394114" y="918249"/>
                <a:ext cx="825502" cy="492443"/>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5" name="文本框 44">
                <a:extLst>
                  <a:ext uri="{FF2B5EF4-FFF2-40B4-BE49-F238E27FC236}">
                    <a16:creationId xmlns:a16="http://schemas.microsoft.com/office/drawing/2014/main" id="{165A5F82-6049-B0BE-FAB0-1725E2736C15}"/>
                  </a:ext>
                </a:extLst>
              </p:cNvPr>
              <p:cNvSpPr txBox="1"/>
              <p:nvPr/>
            </p:nvSpPr>
            <p:spPr>
              <a:xfrm>
                <a:off x="7504497" y="2472986"/>
                <a:ext cx="825502" cy="49244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3200" b="1" i="1" smtClean="0">
                          <a:latin typeface="Cambria Math" panose="02040503050406030204" pitchFamily="18" charset="0"/>
                        </a:rPr>
                        <m:t>𝑴</m:t>
                      </m:r>
                    </m:oMath>
                  </m:oMathPara>
                </a14:m>
                <a:endParaRPr lang="zh-CN" altLang="en-US" b="1" dirty="0"/>
              </a:p>
            </p:txBody>
          </p:sp>
        </mc:Choice>
        <mc:Fallback xmlns="">
          <p:sp>
            <p:nvSpPr>
              <p:cNvPr id="45" name="文本框 44">
                <a:extLst>
                  <a:ext uri="{FF2B5EF4-FFF2-40B4-BE49-F238E27FC236}">
                    <a16:creationId xmlns:a16="http://schemas.microsoft.com/office/drawing/2014/main" id="{165A5F82-6049-B0BE-FAB0-1725E2736C15}"/>
                  </a:ext>
                </a:extLst>
              </p:cNvPr>
              <p:cNvSpPr txBox="1">
                <a:spLocks noRot="1" noChangeAspect="1" noMove="1" noResize="1" noEditPoints="1" noAdjustHandles="1" noChangeArrowheads="1" noChangeShapeType="1" noTextEdit="1"/>
              </p:cNvSpPr>
              <p:nvPr/>
            </p:nvSpPr>
            <p:spPr>
              <a:xfrm>
                <a:off x="7504497" y="2472986"/>
                <a:ext cx="825502" cy="492443"/>
              </a:xfrm>
              <a:prstGeom prst="rect">
                <a:avLst/>
              </a:prstGeom>
              <a:blipFill>
                <a:blip r:embed="rId12"/>
                <a:stretch>
                  <a:fillRect/>
                </a:stretch>
              </a:blipFill>
            </p:spPr>
            <p:txBody>
              <a:bodyPr/>
              <a:lstStyle/>
              <a:p>
                <a:r>
                  <a:rPr lang="zh-CN" altLang="en-US">
                    <a:noFill/>
                  </a:rPr>
                  <a:t> </a:t>
                </a:r>
              </a:p>
            </p:txBody>
          </p:sp>
        </mc:Fallback>
      </mc:AlternateContent>
      <p:sp>
        <p:nvSpPr>
          <p:cNvPr id="47" name="箭头: 右 46">
            <a:extLst>
              <a:ext uri="{FF2B5EF4-FFF2-40B4-BE49-F238E27FC236}">
                <a16:creationId xmlns:a16="http://schemas.microsoft.com/office/drawing/2014/main" id="{49EB7E76-33CD-61B8-311B-D9F1DF14C466}"/>
              </a:ext>
            </a:extLst>
          </p:cNvPr>
          <p:cNvSpPr/>
          <p:nvPr/>
        </p:nvSpPr>
        <p:spPr>
          <a:xfrm rot="5400000">
            <a:off x="6966376" y="3516291"/>
            <a:ext cx="844552" cy="57126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9" name="图片 48">
            <a:extLst>
              <a:ext uri="{FF2B5EF4-FFF2-40B4-BE49-F238E27FC236}">
                <a16:creationId xmlns:a16="http://schemas.microsoft.com/office/drawing/2014/main" id="{C972C6F3-0C71-2AF9-8320-1CDC5B808E87}"/>
              </a:ext>
            </a:extLst>
          </p:cNvPr>
          <p:cNvPicPr>
            <a:picLocks noChangeAspect="1"/>
          </p:cNvPicPr>
          <p:nvPr/>
        </p:nvPicPr>
        <p:blipFill>
          <a:blip r:embed="rId13">
            <a:extLst>
              <a:ext uri="{BEBA8EAE-BF5A-486C-A8C5-ECC9F3942E4B}">
                <a14:imgProps xmlns:a14="http://schemas.microsoft.com/office/drawing/2010/main">
                  <a14:imgLayer r:embed="rId14">
                    <a14:imgEffect>
                      <a14:backgroundRemoval t="25513" b="64237" l="6000" r="95333">
                        <a14:foregroundMark x1="13333" y1="49658" x2="13333" y2="49658"/>
                        <a14:foregroundMark x1="6000" y1="49431" x2="6000" y2="49431"/>
                        <a14:foregroundMark x1="37667" y1="47836" x2="37667" y2="47836"/>
                        <a14:foregroundMark x1="48333" y1="43964" x2="48333" y2="43964"/>
                        <a14:foregroundMark x1="48167" y1="38497" x2="48167" y2="38497"/>
                        <a14:foregroundMark x1="48000" y1="33030" x2="48000" y2="33030"/>
                        <a14:foregroundMark x1="48333" y1="30752" x2="48333" y2="30752"/>
                        <a14:foregroundMark x1="53667" y1="31891" x2="53667" y2="31891"/>
                        <a14:foregroundMark x1="53833" y1="27790" x2="53833" y2="27790"/>
                        <a14:foregroundMark x1="66167" y1="25740" x2="66167" y2="25740"/>
                        <a14:foregroundMark x1="77667" y1="43736" x2="77667" y2="43736"/>
                        <a14:foregroundMark x1="81833" y1="38724" x2="81833" y2="38724"/>
                        <a14:foregroundMark x1="91500" y1="61048" x2="91500" y2="61048"/>
                        <a14:foregroundMark x1="93833" y1="62642" x2="93833" y2="62642"/>
                        <a14:foregroundMark x1="95333" y1="64009" x2="95333" y2="64009"/>
                        <a14:foregroundMark x1="56833" y1="43964" x2="56833" y2="43964"/>
                        <a14:foregroundMark x1="57333" y1="53303" x2="57333" y2="53303"/>
                        <a14:foregroundMark x1="54500" y1="47836" x2="54500" y2="47836"/>
                        <a14:foregroundMark x1="45167" y1="52620" x2="45167" y2="52620"/>
                        <a14:foregroundMark x1="44333" y1="53531" x2="44333" y2="53531"/>
                        <a14:foregroundMark x1="44833" y1="51936" x2="44833" y2="51936"/>
                        <a14:foregroundMark x1="43000" y1="56264" x2="43000" y2="56264"/>
                        <a14:foregroundMark x1="53333" y1="26879" x2="53333" y2="26879"/>
                        <a14:foregroundMark x1="81167" y1="40547" x2="81167" y2="40547"/>
                        <a14:foregroundMark x1="79000" y1="40547" x2="79000" y2="40547"/>
                        <a14:backgroundMark x1="11333" y1="28018" x2="11333" y2="28018"/>
                        <a14:backgroundMark x1="21833" y1="31435" x2="21833" y2="31435"/>
                      </a14:backgroundRemoval>
                    </a14:imgEffect>
                  </a14:imgLayer>
                </a14:imgProps>
              </a:ext>
            </a:extLst>
          </a:blip>
          <a:srcRect t="22229" b="30983"/>
          <a:stretch>
            <a:fillRect/>
          </a:stretch>
        </p:blipFill>
        <p:spPr>
          <a:xfrm>
            <a:off x="4565223" y="4371701"/>
            <a:ext cx="5715000" cy="1956450"/>
          </a:xfrm>
          <a:prstGeom prst="rect">
            <a:avLst/>
          </a:prstGeom>
        </p:spPr>
      </p:pic>
      <p:sp>
        <p:nvSpPr>
          <p:cNvPr id="50" name="箭头: 下 49">
            <a:extLst>
              <a:ext uri="{FF2B5EF4-FFF2-40B4-BE49-F238E27FC236}">
                <a16:creationId xmlns:a16="http://schemas.microsoft.com/office/drawing/2014/main" id="{A0207647-FF92-0CE5-9F9E-DBB05F61FB30}"/>
              </a:ext>
            </a:extLst>
          </p:cNvPr>
          <p:cNvSpPr/>
          <p:nvPr/>
        </p:nvSpPr>
        <p:spPr>
          <a:xfrm rot="5400000">
            <a:off x="4988750" y="5300988"/>
            <a:ext cx="106641" cy="391822"/>
          </a:xfrm>
          <a:prstGeom prst="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51" name="文本框 50">
                <a:extLst>
                  <a:ext uri="{FF2B5EF4-FFF2-40B4-BE49-F238E27FC236}">
                    <a16:creationId xmlns:a16="http://schemas.microsoft.com/office/drawing/2014/main" id="{2BCE751E-870F-E9B7-7DB6-6C7E46F32FBF}"/>
                  </a:ext>
                </a:extLst>
              </p:cNvPr>
              <p:cNvSpPr txBox="1"/>
              <p:nvPr/>
            </p:nvSpPr>
            <p:spPr>
              <a:xfrm>
                <a:off x="5953392" y="5092161"/>
                <a:ext cx="825502"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𝑫</m:t>
                      </m:r>
                    </m:oMath>
                  </m:oMathPara>
                </a14:m>
                <a:endParaRPr lang="zh-CN" altLang="en-US" sz="1100" b="1" dirty="0"/>
              </a:p>
            </p:txBody>
          </p:sp>
        </mc:Choice>
        <mc:Fallback xmlns="">
          <p:sp>
            <p:nvSpPr>
              <p:cNvPr id="51" name="文本框 50">
                <a:extLst>
                  <a:ext uri="{FF2B5EF4-FFF2-40B4-BE49-F238E27FC236}">
                    <a16:creationId xmlns:a16="http://schemas.microsoft.com/office/drawing/2014/main" id="{2BCE751E-870F-E9B7-7DB6-6C7E46F32FBF}"/>
                  </a:ext>
                </a:extLst>
              </p:cNvPr>
              <p:cNvSpPr txBox="1">
                <a:spLocks noRot="1" noChangeAspect="1" noMove="1" noResize="1" noEditPoints="1" noAdjustHandles="1" noChangeArrowheads="1" noChangeShapeType="1" noTextEdit="1"/>
              </p:cNvSpPr>
              <p:nvPr/>
            </p:nvSpPr>
            <p:spPr>
              <a:xfrm>
                <a:off x="5953392" y="5092161"/>
                <a:ext cx="825502" cy="276999"/>
              </a:xfrm>
              <a:prstGeom prst="rect">
                <a:avLst/>
              </a:prstGeom>
              <a:blipFill>
                <a:blip r:embed="rId15"/>
                <a:stretch>
                  <a:fillRect b="-6522"/>
                </a:stretch>
              </a:blipFill>
            </p:spPr>
            <p:txBody>
              <a:bodyPr/>
              <a:lstStyle/>
              <a:p>
                <a:r>
                  <a:rPr lang="zh-CN" altLang="en-US">
                    <a:noFill/>
                  </a:rPr>
                  <a:t> </a:t>
                </a:r>
              </a:p>
            </p:txBody>
          </p:sp>
        </mc:Fallback>
      </mc:AlternateContent>
      <p:sp>
        <p:nvSpPr>
          <p:cNvPr id="52" name="箭头: 左弧形 51">
            <a:extLst>
              <a:ext uri="{FF2B5EF4-FFF2-40B4-BE49-F238E27FC236}">
                <a16:creationId xmlns:a16="http://schemas.microsoft.com/office/drawing/2014/main" id="{DDEEE710-EF7C-ABEB-48FD-8690DD30B3CF}"/>
              </a:ext>
            </a:extLst>
          </p:cNvPr>
          <p:cNvSpPr/>
          <p:nvPr/>
        </p:nvSpPr>
        <p:spPr>
          <a:xfrm rot="11772092">
            <a:off x="5510280" y="5341291"/>
            <a:ext cx="242039" cy="571267"/>
          </a:xfrm>
          <a:prstGeom prst="curved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mc:AlternateContent xmlns:mc="http://schemas.openxmlformats.org/markup-compatibility/2006" xmlns:a14="http://schemas.microsoft.com/office/drawing/2010/main">
        <mc:Choice Requires="a14">
          <p:sp>
            <p:nvSpPr>
              <p:cNvPr id="53" name="文本框 52">
                <a:extLst>
                  <a:ext uri="{FF2B5EF4-FFF2-40B4-BE49-F238E27FC236}">
                    <a16:creationId xmlns:a16="http://schemas.microsoft.com/office/drawing/2014/main" id="{0DBF052E-F1C5-4B26-66FF-A6C15089E3BD}"/>
                  </a:ext>
                </a:extLst>
              </p:cNvPr>
              <p:cNvSpPr txBox="1"/>
              <p:nvPr/>
            </p:nvSpPr>
            <p:spPr>
              <a:xfrm>
                <a:off x="4965821" y="5030481"/>
                <a:ext cx="825502" cy="30245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𝑴</m:t>
                          </m:r>
                        </m:e>
                        <m:sub>
                          <m:r>
                            <a:rPr lang="en-US" altLang="zh-CN" b="1" i="1" smtClean="0">
                              <a:latin typeface="Cambria Math" panose="02040503050406030204" pitchFamily="18" charset="0"/>
                            </a:rPr>
                            <m:t>𝒚</m:t>
                          </m:r>
                        </m:sub>
                      </m:sSub>
                    </m:oMath>
                  </m:oMathPara>
                </a14:m>
                <a:endParaRPr lang="zh-CN" altLang="en-US" b="1" dirty="0"/>
              </a:p>
            </p:txBody>
          </p:sp>
        </mc:Choice>
        <mc:Fallback xmlns="">
          <p:sp>
            <p:nvSpPr>
              <p:cNvPr id="53" name="文本框 52">
                <a:extLst>
                  <a:ext uri="{FF2B5EF4-FFF2-40B4-BE49-F238E27FC236}">
                    <a16:creationId xmlns:a16="http://schemas.microsoft.com/office/drawing/2014/main" id="{0DBF052E-F1C5-4B26-66FF-A6C15089E3BD}"/>
                  </a:ext>
                </a:extLst>
              </p:cNvPr>
              <p:cNvSpPr txBox="1">
                <a:spLocks noRot="1" noChangeAspect="1" noMove="1" noResize="1" noEditPoints="1" noAdjustHandles="1" noChangeArrowheads="1" noChangeShapeType="1" noTextEdit="1"/>
              </p:cNvSpPr>
              <p:nvPr/>
            </p:nvSpPr>
            <p:spPr>
              <a:xfrm>
                <a:off x="4965821" y="5030481"/>
                <a:ext cx="825502" cy="302455"/>
              </a:xfrm>
              <a:prstGeom prst="rect">
                <a:avLst/>
              </a:prstGeom>
              <a:blipFill>
                <a:blip r:embed="rId16"/>
                <a:stretch>
                  <a:fillRect b="-20000"/>
                </a:stretch>
              </a:blipFill>
            </p:spPr>
            <p:txBody>
              <a:bodyPr/>
              <a:lstStyle/>
              <a:p>
                <a:r>
                  <a:rPr lang="zh-CN" altLang="en-US">
                    <a:noFill/>
                  </a:rPr>
                  <a:t> </a:t>
                </a:r>
              </a:p>
            </p:txBody>
          </p:sp>
        </mc:Fallback>
      </mc:AlternateContent>
      <p:sp>
        <p:nvSpPr>
          <p:cNvPr id="54" name="箭头: 下 53">
            <a:extLst>
              <a:ext uri="{FF2B5EF4-FFF2-40B4-BE49-F238E27FC236}">
                <a16:creationId xmlns:a16="http://schemas.microsoft.com/office/drawing/2014/main" id="{49A1C675-D47F-54A4-F0C1-F902D5532AA1}"/>
              </a:ext>
            </a:extLst>
          </p:cNvPr>
          <p:cNvSpPr/>
          <p:nvPr/>
        </p:nvSpPr>
        <p:spPr>
          <a:xfrm rot="5400000">
            <a:off x="6716283" y="4947926"/>
            <a:ext cx="138498" cy="981050"/>
          </a:xfrm>
          <a:prstGeom prst="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55" name="文本框 54">
                <a:extLst>
                  <a:ext uri="{FF2B5EF4-FFF2-40B4-BE49-F238E27FC236}">
                    <a16:creationId xmlns:a16="http://schemas.microsoft.com/office/drawing/2014/main" id="{B400E080-C5CA-E972-1D73-DC9085DFA7B0}"/>
                  </a:ext>
                </a:extLst>
              </p:cNvPr>
              <p:cNvSpPr txBox="1"/>
              <p:nvPr/>
            </p:nvSpPr>
            <p:spPr>
              <a:xfrm>
                <a:off x="4348403" y="5143702"/>
                <a:ext cx="825502"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𝑫</m:t>
                      </m:r>
                    </m:oMath>
                  </m:oMathPara>
                </a14:m>
                <a:endParaRPr lang="zh-CN" altLang="en-US" sz="1100" b="1" dirty="0"/>
              </a:p>
            </p:txBody>
          </p:sp>
        </mc:Choice>
        <mc:Fallback xmlns="">
          <p:sp>
            <p:nvSpPr>
              <p:cNvPr id="55" name="文本框 54">
                <a:extLst>
                  <a:ext uri="{FF2B5EF4-FFF2-40B4-BE49-F238E27FC236}">
                    <a16:creationId xmlns:a16="http://schemas.microsoft.com/office/drawing/2014/main" id="{B400E080-C5CA-E972-1D73-DC9085DFA7B0}"/>
                  </a:ext>
                </a:extLst>
              </p:cNvPr>
              <p:cNvSpPr txBox="1">
                <a:spLocks noRot="1" noChangeAspect="1" noMove="1" noResize="1" noEditPoints="1" noAdjustHandles="1" noChangeArrowheads="1" noChangeShapeType="1" noTextEdit="1"/>
              </p:cNvSpPr>
              <p:nvPr/>
            </p:nvSpPr>
            <p:spPr>
              <a:xfrm>
                <a:off x="4348403" y="5143702"/>
                <a:ext cx="825502" cy="276999"/>
              </a:xfrm>
              <a:prstGeom prst="rect">
                <a:avLst/>
              </a:prstGeom>
              <a:blipFill>
                <a:blip r:embed="rId17"/>
                <a:stretch>
                  <a:fillRect b="-6667"/>
                </a:stretch>
              </a:blipFill>
            </p:spPr>
            <p:txBody>
              <a:bodyPr/>
              <a:lstStyle/>
              <a:p>
                <a:r>
                  <a:rPr lang="zh-CN" altLang="en-US">
                    <a:noFill/>
                  </a:rPr>
                  <a:t> </a:t>
                </a:r>
              </a:p>
            </p:txBody>
          </p:sp>
        </mc:Fallback>
      </mc:AlternateContent>
      <p:sp>
        <p:nvSpPr>
          <p:cNvPr id="56" name="文本框 55">
            <a:extLst>
              <a:ext uri="{FF2B5EF4-FFF2-40B4-BE49-F238E27FC236}">
                <a16:creationId xmlns:a16="http://schemas.microsoft.com/office/drawing/2014/main" id="{AE41D184-F1C8-4F38-1A4B-D7E87E72C0E0}"/>
              </a:ext>
            </a:extLst>
          </p:cNvPr>
          <p:cNvSpPr txBox="1"/>
          <p:nvPr/>
        </p:nvSpPr>
        <p:spPr>
          <a:xfrm>
            <a:off x="6603572" y="6063546"/>
            <a:ext cx="748303" cy="338554"/>
          </a:xfrm>
          <a:prstGeom prst="rect">
            <a:avLst/>
          </a:prstGeom>
          <a:noFill/>
        </p:spPr>
        <p:txBody>
          <a:bodyPr wrap="square" rtlCol="0">
            <a:spAutoFit/>
          </a:bodyPr>
          <a:lstStyle/>
          <a:p>
            <a:pPr algn="ctr"/>
            <a:r>
              <a:rPr lang="zh-CN" altLang="en-US" sz="1600" dirty="0">
                <a:latin typeface="微软雅黑" panose="020B0503020204020204" pitchFamily="34" charset="-122"/>
                <a:ea typeface="微软雅黑" panose="020B0503020204020204" pitchFamily="34" charset="-122"/>
              </a:rPr>
              <a:t>减速</a:t>
            </a:r>
          </a:p>
        </p:txBody>
      </p:sp>
      <p:sp>
        <p:nvSpPr>
          <p:cNvPr id="57" name="箭头: 左弧形 56">
            <a:extLst>
              <a:ext uri="{FF2B5EF4-FFF2-40B4-BE49-F238E27FC236}">
                <a16:creationId xmlns:a16="http://schemas.microsoft.com/office/drawing/2014/main" id="{37F137F0-818A-3D4B-096C-8918F7346057}"/>
              </a:ext>
            </a:extLst>
          </p:cNvPr>
          <p:cNvSpPr/>
          <p:nvPr/>
        </p:nvSpPr>
        <p:spPr>
          <a:xfrm rot="1269844" flipV="1">
            <a:off x="8519601" y="5163470"/>
            <a:ext cx="242039" cy="514462"/>
          </a:xfrm>
          <a:prstGeom prst="curved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mc:AlternateContent xmlns:mc="http://schemas.openxmlformats.org/markup-compatibility/2006" xmlns:a14="http://schemas.microsoft.com/office/drawing/2010/main">
        <mc:Choice Requires="a14">
          <p:sp>
            <p:nvSpPr>
              <p:cNvPr id="58" name="文本框 57">
                <a:extLst>
                  <a:ext uri="{FF2B5EF4-FFF2-40B4-BE49-F238E27FC236}">
                    <a16:creationId xmlns:a16="http://schemas.microsoft.com/office/drawing/2014/main" id="{B42AB249-CE0E-4904-144A-CD2C5B29F972}"/>
                  </a:ext>
                </a:extLst>
              </p:cNvPr>
              <p:cNvSpPr txBox="1"/>
              <p:nvPr/>
            </p:nvSpPr>
            <p:spPr>
              <a:xfrm>
                <a:off x="8433597" y="4797697"/>
                <a:ext cx="825502" cy="30245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𝑴</m:t>
                          </m:r>
                        </m:e>
                        <m:sub>
                          <m:r>
                            <a:rPr lang="en-US" altLang="zh-CN" b="1" i="1" smtClean="0">
                              <a:latin typeface="Cambria Math" panose="02040503050406030204" pitchFamily="18" charset="0"/>
                            </a:rPr>
                            <m:t>𝒚</m:t>
                          </m:r>
                        </m:sub>
                      </m:sSub>
                    </m:oMath>
                  </m:oMathPara>
                </a14:m>
                <a:endParaRPr lang="zh-CN" altLang="en-US" b="1" dirty="0"/>
              </a:p>
            </p:txBody>
          </p:sp>
        </mc:Choice>
        <mc:Fallback xmlns="">
          <p:sp>
            <p:nvSpPr>
              <p:cNvPr id="58" name="文本框 57">
                <a:extLst>
                  <a:ext uri="{FF2B5EF4-FFF2-40B4-BE49-F238E27FC236}">
                    <a16:creationId xmlns:a16="http://schemas.microsoft.com/office/drawing/2014/main" id="{B42AB249-CE0E-4904-144A-CD2C5B29F972}"/>
                  </a:ext>
                </a:extLst>
              </p:cNvPr>
              <p:cNvSpPr txBox="1">
                <a:spLocks noRot="1" noChangeAspect="1" noMove="1" noResize="1" noEditPoints="1" noAdjustHandles="1" noChangeArrowheads="1" noChangeShapeType="1" noTextEdit="1"/>
              </p:cNvSpPr>
              <p:nvPr/>
            </p:nvSpPr>
            <p:spPr>
              <a:xfrm>
                <a:off x="8433597" y="4797697"/>
                <a:ext cx="825502" cy="302455"/>
              </a:xfrm>
              <a:prstGeom prst="rect">
                <a:avLst/>
              </a:prstGeom>
              <a:blipFill>
                <a:blip r:embed="rId18"/>
                <a:stretch>
                  <a:fillRect b="-20000"/>
                </a:stretch>
              </a:blipFill>
            </p:spPr>
            <p:txBody>
              <a:bodyPr/>
              <a:lstStyle/>
              <a:p>
                <a:r>
                  <a:rPr lang="zh-CN" altLang="en-US">
                    <a:noFill/>
                  </a:rPr>
                  <a:t> </a:t>
                </a:r>
              </a:p>
            </p:txBody>
          </p:sp>
        </mc:Fallback>
      </mc:AlternateContent>
      <p:sp>
        <p:nvSpPr>
          <p:cNvPr id="2" name="文本框 1">
            <a:extLst>
              <a:ext uri="{FF2B5EF4-FFF2-40B4-BE49-F238E27FC236}">
                <a16:creationId xmlns:a16="http://schemas.microsoft.com/office/drawing/2014/main" id="{560B013B-0656-ABAC-B88B-9E812A0A3816}"/>
              </a:ext>
            </a:extLst>
          </p:cNvPr>
          <p:cNvSpPr txBox="1"/>
          <p:nvPr/>
        </p:nvSpPr>
        <p:spPr>
          <a:xfrm>
            <a:off x="9977104" y="3298476"/>
            <a:ext cx="1510046" cy="338554"/>
          </a:xfrm>
          <a:prstGeom prst="rect">
            <a:avLst/>
          </a:prstGeom>
          <a:noFill/>
        </p:spPr>
        <p:txBody>
          <a:bodyPr wrap="square" rtlCol="0">
            <a:spAutoFit/>
          </a:bodyPr>
          <a:lstStyle/>
          <a:p>
            <a:pPr algn="ctr"/>
            <a:r>
              <a:rPr lang="zh-CN" altLang="en-US" sz="1600" dirty="0">
                <a:latin typeface="微软雅黑" panose="020B0503020204020204" pitchFamily="34" charset="-122"/>
                <a:ea typeface="微软雅黑" panose="020B0503020204020204" pitchFamily="34" charset="-122"/>
              </a:rPr>
              <a:t>抽象刚体</a:t>
            </a:r>
          </a:p>
        </p:txBody>
      </p:sp>
      <p:sp>
        <p:nvSpPr>
          <p:cNvPr id="3" name="文本框 2">
            <a:extLst>
              <a:ext uri="{FF2B5EF4-FFF2-40B4-BE49-F238E27FC236}">
                <a16:creationId xmlns:a16="http://schemas.microsoft.com/office/drawing/2014/main" id="{308E9BAB-45A1-9FAD-0422-BBB63283973A}"/>
              </a:ext>
            </a:extLst>
          </p:cNvPr>
          <p:cNvSpPr txBox="1"/>
          <p:nvPr/>
        </p:nvSpPr>
        <p:spPr>
          <a:xfrm>
            <a:off x="9986147" y="5724992"/>
            <a:ext cx="1510046" cy="338554"/>
          </a:xfrm>
          <a:prstGeom prst="rect">
            <a:avLst/>
          </a:prstGeom>
          <a:noFill/>
        </p:spPr>
        <p:txBody>
          <a:bodyPr wrap="square" rtlCol="0">
            <a:spAutoFit/>
          </a:bodyPr>
          <a:lstStyle/>
          <a:p>
            <a:pPr algn="ctr"/>
            <a:r>
              <a:rPr lang="zh-CN" altLang="en-US" sz="1600" dirty="0">
                <a:latin typeface="微软雅黑" panose="020B0503020204020204" pitchFamily="34" charset="-122"/>
                <a:ea typeface="微软雅黑" panose="020B0503020204020204" pitchFamily="34" charset="-122"/>
              </a:rPr>
              <a:t>眼镜蛇机动</a:t>
            </a:r>
          </a:p>
        </p:txBody>
      </p:sp>
    </p:spTree>
    <p:extLst>
      <p:ext uri="{BB962C8B-B14F-4D97-AF65-F5344CB8AC3E}">
        <p14:creationId xmlns:p14="http://schemas.microsoft.com/office/powerpoint/2010/main" val="4008737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76"/>
                                        </p:tgtEl>
                                        <p:attrNameLst>
                                          <p:attrName>style.visibility</p:attrName>
                                        </p:attrNameLst>
                                      </p:cBhvr>
                                      <p:to>
                                        <p:strVal val="visible"/>
                                      </p:to>
                                    </p:set>
                                    <p:animEffect transition="in" filter="fade">
                                      <p:cBhvr>
                                        <p:cTn id="12" dur="500"/>
                                        <p:tgtEl>
                                          <p:spTgt spid="307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5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078"/>
                                        </p:tgtEl>
                                        <p:attrNameLst>
                                          <p:attrName>style.visibility</p:attrName>
                                        </p:attrNameLst>
                                      </p:cBhvr>
                                      <p:to>
                                        <p:strVal val="visible"/>
                                      </p:to>
                                    </p:set>
                                    <p:animEffect transition="in" filter="fade">
                                      <p:cBhvr>
                                        <p:cTn id="22" dur="500"/>
                                        <p:tgtEl>
                                          <p:spTgt spid="307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500"/>
                                        <p:tgtEl>
                                          <p:spTgt spid="26"/>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2"/>
                                        </p:tgtEl>
                                        <p:attrNameLst>
                                          <p:attrName>style.visibility</p:attrName>
                                        </p:attrNameLst>
                                      </p:cBhvr>
                                      <p:to>
                                        <p:strVal val="visible"/>
                                      </p:to>
                                    </p:set>
                                    <p:animEffect transition="in" filter="fade">
                                      <p:cBhvr>
                                        <p:cTn id="30" dur="500"/>
                                        <p:tgtEl>
                                          <p:spTgt spid="3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
                                        </p:tgtEl>
                                        <p:attrNameLst>
                                          <p:attrName>style.visibility</p:attrName>
                                        </p:attrNameLst>
                                      </p:cBhvr>
                                      <p:to>
                                        <p:strVal val="visible"/>
                                      </p:to>
                                    </p:set>
                                    <p:animEffect transition="in" filter="fade">
                                      <p:cBhvr>
                                        <p:cTn id="33" dur="500"/>
                                        <p:tgtEl>
                                          <p:spTgt spid="2"/>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45"/>
                                        </p:tgtEl>
                                        <p:attrNameLst>
                                          <p:attrName>style.visibility</p:attrName>
                                        </p:attrNameLst>
                                      </p:cBhvr>
                                      <p:to>
                                        <p:strVal val="visible"/>
                                      </p:to>
                                    </p:set>
                                    <p:animEffect transition="in" filter="fade">
                                      <p:cBhvr>
                                        <p:cTn id="38" dur="500"/>
                                        <p:tgtEl>
                                          <p:spTgt spid="4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6"/>
                                        </p:tgtEl>
                                        <p:attrNameLst>
                                          <p:attrName>style.visibility</p:attrName>
                                        </p:attrNameLst>
                                      </p:cBhvr>
                                      <p:to>
                                        <p:strVal val="visible"/>
                                      </p:to>
                                    </p:set>
                                    <p:animEffect transition="in" filter="fade">
                                      <p:cBhvr>
                                        <p:cTn id="41" dur="500"/>
                                        <p:tgtEl>
                                          <p:spTgt spid="3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44"/>
                                        </p:tgtEl>
                                        <p:attrNameLst>
                                          <p:attrName>style.visibility</p:attrName>
                                        </p:attrNameLst>
                                      </p:cBhvr>
                                      <p:to>
                                        <p:strVal val="visible"/>
                                      </p:to>
                                    </p:set>
                                    <p:animEffect transition="in" filter="fade">
                                      <p:cBhvr>
                                        <p:cTn id="44" dur="500"/>
                                        <p:tgtEl>
                                          <p:spTgt spid="44"/>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43"/>
                                        </p:tgtEl>
                                        <p:attrNameLst>
                                          <p:attrName>style.visibility</p:attrName>
                                        </p:attrNameLst>
                                      </p:cBhvr>
                                      <p:to>
                                        <p:strVal val="visible"/>
                                      </p:to>
                                    </p:set>
                                    <p:animEffect transition="in" filter="fade">
                                      <p:cBhvr>
                                        <p:cTn id="47" dur="500"/>
                                        <p:tgtEl>
                                          <p:spTgt spid="43"/>
                                        </p:tgtEl>
                                      </p:cBhvr>
                                    </p:animEffect>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grpId="0" nodeType="clickEffect">
                                  <p:stCondLst>
                                    <p:cond delay="0"/>
                                  </p:stCondLst>
                                  <p:childTnLst>
                                    <p:set>
                                      <p:cBhvr>
                                        <p:cTn id="51" dur="1" fill="hold">
                                          <p:stCondLst>
                                            <p:cond delay="0"/>
                                          </p:stCondLst>
                                        </p:cTn>
                                        <p:tgtEl>
                                          <p:spTgt spid="47"/>
                                        </p:tgtEl>
                                        <p:attrNameLst>
                                          <p:attrName>style.visibility</p:attrName>
                                        </p:attrNameLst>
                                      </p:cBhvr>
                                      <p:to>
                                        <p:strVal val="visible"/>
                                      </p:to>
                                    </p:set>
                                    <p:anim calcmode="lin" valueType="num">
                                      <p:cBhvr additive="base">
                                        <p:cTn id="52" dur="500" fill="hold"/>
                                        <p:tgtEl>
                                          <p:spTgt spid="47"/>
                                        </p:tgtEl>
                                        <p:attrNameLst>
                                          <p:attrName>ppt_x</p:attrName>
                                        </p:attrNameLst>
                                      </p:cBhvr>
                                      <p:tavLst>
                                        <p:tav tm="0">
                                          <p:val>
                                            <p:strVal val="#ppt_x"/>
                                          </p:val>
                                        </p:tav>
                                        <p:tav tm="100000">
                                          <p:val>
                                            <p:strVal val="#ppt_x"/>
                                          </p:val>
                                        </p:tav>
                                      </p:tavLst>
                                    </p:anim>
                                    <p:anim calcmode="lin" valueType="num">
                                      <p:cBhvr additive="base">
                                        <p:cTn id="53" dur="500" fill="hold"/>
                                        <p:tgtEl>
                                          <p:spTgt spid="47"/>
                                        </p:tgtEl>
                                        <p:attrNameLst>
                                          <p:attrName>ppt_y</p:attrName>
                                        </p:attrNameLst>
                                      </p:cBhvr>
                                      <p:tavLst>
                                        <p:tav tm="0">
                                          <p:val>
                                            <p:strVal val="1+#ppt_h/2"/>
                                          </p:val>
                                        </p:tav>
                                        <p:tav tm="100000">
                                          <p:val>
                                            <p:strVal val="#ppt_y"/>
                                          </p:val>
                                        </p:tav>
                                      </p:tavLst>
                                    </p:anim>
                                  </p:childTnLst>
                                </p:cTn>
                              </p:par>
                              <p:par>
                                <p:cTn id="54" presetID="2" presetClass="entr" presetSubtype="4" fill="hold" nodeType="withEffect">
                                  <p:stCondLst>
                                    <p:cond delay="0"/>
                                  </p:stCondLst>
                                  <p:childTnLst>
                                    <p:set>
                                      <p:cBhvr>
                                        <p:cTn id="55" dur="1" fill="hold">
                                          <p:stCondLst>
                                            <p:cond delay="0"/>
                                          </p:stCondLst>
                                        </p:cTn>
                                        <p:tgtEl>
                                          <p:spTgt spid="49"/>
                                        </p:tgtEl>
                                        <p:attrNameLst>
                                          <p:attrName>style.visibility</p:attrName>
                                        </p:attrNameLst>
                                      </p:cBhvr>
                                      <p:to>
                                        <p:strVal val="visible"/>
                                      </p:to>
                                    </p:set>
                                    <p:anim calcmode="lin" valueType="num">
                                      <p:cBhvr additive="base">
                                        <p:cTn id="56" dur="500" fill="hold"/>
                                        <p:tgtEl>
                                          <p:spTgt spid="49"/>
                                        </p:tgtEl>
                                        <p:attrNameLst>
                                          <p:attrName>ppt_x</p:attrName>
                                        </p:attrNameLst>
                                      </p:cBhvr>
                                      <p:tavLst>
                                        <p:tav tm="0">
                                          <p:val>
                                            <p:strVal val="#ppt_x"/>
                                          </p:val>
                                        </p:tav>
                                        <p:tav tm="100000">
                                          <p:val>
                                            <p:strVal val="#ppt_x"/>
                                          </p:val>
                                        </p:tav>
                                      </p:tavLst>
                                    </p:anim>
                                    <p:anim calcmode="lin" valueType="num">
                                      <p:cBhvr additive="base">
                                        <p:cTn id="57" dur="500" fill="hold"/>
                                        <p:tgtEl>
                                          <p:spTgt spid="49"/>
                                        </p:tgtEl>
                                        <p:attrNameLst>
                                          <p:attrName>ppt_y</p:attrName>
                                        </p:attrNameLst>
                                      </p:cBhvr>
                                      <p:tavLst>
                                        <p:tav tm="0">
                                          <p:val>
                                            <p:strVal val="1+#ppt_h/2"/>
                                          </p:val>
                                        </p:tav>
                                        <p:tav tm="100000">
                                          <p:val>
                                            <p:strVal val="#ppt_y"/>
                                          </p:val>
                                        </p:tav>
                                      </p:tavLst>
                                    </p:anim>
                                  </p:childTnLst>
                                </p:cTn>
                              </p:par>
                              <p:par>
                                <p:cTn id="58" presetID="2" presetClass="entr" presetSubtype="4" fill="hold" grpId="0" nodeType="withEffect">
                                  <p:stCondLst>
                                    <p:cond delay="0"/>
                                  </p:stCondLst>
                                  <p:childTnLst>
                                    <p:set>
                                      <p:cBhvr>
                                        <p:cTn id="59" dur="1" fill="hold">
                                          <p:stCondLst>
                                            <p:cond delay="0"/>
                                          </p:stCondLst>
                                        </p:cTn>
                                        <p:tgtEl>
                                          <p:spTgt spid="3"/>
                                        </p:tgtEl>
                                        <p:attrNameLst>
                                          <p:attrName>style.visibility</p:attrName>
                                        </p:attrNameLst>
                                      </p:cBhvr>
                                      <p:to>
                                        <p:strVal val="visible"/>
                                      </p:to>
                                    </p:set>
                                    <p:anim calcmode="lin" valueType="num">
                                      <p:cBhvr additive="base">
                                        <p:cTn id="60" dur="500" fill="hold"/>
                                        <p:tgtEl>
                                          <p:spTgt spid="3"/>
                                        </p:tgtEl>
                                        <p:attrNameLst>
                                          <p:attrName>ppt_x</p:attrName>
                                        </p:attrNameLst>
                                      </p:cBhvr>
                                      <p:tavLst>
                                        <p:tav tm="0">
                                          <p:val>
                                            <p:strVal val="#ppt_x"/>
                                          </p:val>
                                        </p:tav>
                                        <p:tav tm="100000">
                                          <p:val>
                                            <p:strVal val="#ppt_x"/>
                                          </p:val>
                                        </p:tav>
                                      </p:tavLst>
                                    </p:anim>
                                    <p:anim calcmode="lin" valueType="num">
                                      <p:cBhvr additive="base">
                                        <p:cTn id="61"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 presetClass="entr" presetSubtype="4" fill="hold" grpId="0" nodeType="clickEffect">
                                  <p:stCondLst>
                                    <p:cond delay="0"/>
                                  </p:stCondLst>
                                  <p:childTnLst>
                                    <p:set>
                                      <p:cBhvr>
                                        <p:cTn id="65" dur="1" fill="hold">
                                          <p:stCondLst>
                                            <p:cond delay="0"/>
                                          </p:stCondLst>
                                        </p:cTn>
                                        <p:tgtEl>
                                          <p:spTgt spid="52"/>
                                        </p:tgtEl>
                                        <p:attrNameLst>
                                          <p:attrName>style.visibility</p:attrName>
                                        </p:attrNameLst>
                                      </p:cBhvr>
                                      <p:to>
                                        <p:strVal val="visible"/>
                                      </p:to>
                                    </p:set>
                                    <p:anim calcmode="lin" valueType="num">
                                      <p:cBhvr additive="base">
                                        <p:cTn id="66" dur="500" fill="hold"/>
                                        <p:tgtEl>
                                          <p:spTgt spid="52"/>
                                        </p:tgtEl>
                                        <p:attrNameLst>
                                          <p:attrName>ppt_x</p:attrName>
                                        </p:attrNameLst>
                                      </p:cBhvr>
                                      <p:tavLst>
                                        <p:tav tm="0">
                                          <p:val>
                                            <p:strVal val="#ppt_x"/>
                                          </p:val>
                                        </p:tav>
                                        <p:tav tm="100000">
                                          <p:val>
                                            <p:strVal val="#ppt_x"/>
                                          </p:val>
                                        </p:tav>
                                      </p:tavLst>
                                    </p:anim>
                                    <p:anim calcmode="lin" valueType="num">
                                      <p:cBhvr additive="base">
                                        <p:cTn id="67" dur="500" fill="hold"/>
                                        <p:tgtEl>
                                          <p:spTgt spid="52"/>
                                        </p:tgtEl>
                                        <p:attrNameLst>
                                          <p:attrName>ppt_y</p:attrName>
                                        </p:attrNameLst>
                                      </p:cBhvr>
                                      <p:tavLst>
                                        <p:tav tm="0">
                                          <p:val>
                                            <p:strVal val="1+#ppt_h/2"/>
                                          </p:val>
                                        </p:tav>
                                        <p:tav tm="100000">
                                          <p:val>
                                            <p:strVal val="#ppt_y"/>
                                          </p:val>
                                        </p:tav>
                                      </p:tavLst>
                                    </p:anim>
                                  </p:childTnLst>
                                </p:cTn>
                              </p:par>
                              <p:par>
                                <p:cTn id="68" presetID="2" presetClass="entr" presetSubtype="4" fill="hold" grpId="0" nodeType="withEffect">
                                  <p:stCondLst>
                                    <p:cond delay="0"/>
                                  </p:stCondLst>
                                  <p:childTnLst>
                                    <p:set>
                                      <p:cBhvr>
                                        <p:cTn id="69" dur="1" fill="hold">
                                          <p:stCondLst>
                                            <p:cond delay="0"/>
                                          </p:stCondLst>
                                        </p:cTn>
                                        <p:tgtEl>
                                          <p:spTgt spid="53"/>
                                        </p:tgtEl>
                                        <p:attrNameLst>
                                          <p:attrName>style.visibility</p:attrName>
                                        </p:attrNameLst>
                                      </p:cBhvr>
                                      <p:to>
                                        <p:strVal val="visible"/>
                                      </p:to>
                                    </p:set>
                                    <p:anim calcmode="lin" valueType="num">
                                      <p:cBhvr additive="base">
                                        <p:cTn id="70" dur="500" fill="hold"/>
                                        <p:tgtEl>
                                          <p:spTgt spid="53"/>
                                        </p:tgtEl>
                                        <p:attrNameLst>
                                          <p:attrName>ppt_x</p:attrName>
                                        </p:attrNameLst>
                                      </p:cBhvr>
                                      <p:tavLst>
                                        <p:tav tm="0">
                                          <p:val>
                                            <p:strVal val="#ppt_x"/>
                                          </p:val>
                                        </p:tav>
                                        <p:tav tm="100000">
                                          <p:val>
                                            <p:strVal val="#ppt_x"/>
                                          </p:val>
                                        </p:tav>
                                      </p:tavLst>
                                    </p:anim>
                                    <p:anim calcmode="lin" valueType="num">
                                      <p:cBhvr additive="base">
                                        <p:cTn id="71"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42" presetClass="entr" presetSubtype="0" fill="hold" grpId="0" nodeType="clickEffect">
                                  <p:stCondLst>
                                    <p:cond delay="0"/>
                                  </p:stCondLst>
                                  <p:childTnLst>
                                    <p:set>
                                      <p:cBhvr>
                                        <p:cTn id="75" dur="1" fill="hold">
                                          <p:stCondLst>
                                            <p:cond delay="0"/>
                                          </p:stCondLst>
                                        </p:cTn>
                                        <p:tgtEl>
                                          <p:spTgt spid="55"/>
                                        </p:tgtEl>
                                        <p:attrNameLst>
                                          <p:attrName>style.visibility</p:attrName>
                                        </p:attrNameLst>
                                      </p:cBhvr>
                                      <p:to>
                                        <p:strVal val="visible"/>
                                      </p:to>
                                    </p:set>
                                    <p:animEffect transition="in" filter="fade">
                                      <p:cBhvr>
                                        <p:cTn id="76" dur="500"/>
                                        <p:tgtEl>
                                          <p:spTgt spid="55"/>
                                        </p:tgtEl>
                                      </p:cBhvr>
                                    </p:animEffect>
                                    <p:anim calcmode="lin" valueType="num">
                                      <p:cBhvr>
                                        <p:cTn id="77" dur="500" fill="hold"/>
                                        <p:tgtEl>
                                          <p:spTgt spid="55"/>
                                        </p:tgtEl>
                                        <p:attrNameLst>
                                          <p:attrName>ppt_x</p:attrName>
                                        </p:attrNameLst>
                                      </p:cBhvr>
                                      <p:tavLst>
                                        <p:tav tm="0">
                                          <p:val>
                                            <p:strVal val="#ppt_x"/>
                                          </p:val>
                                        </p:tav>
                                        <p:tav tm="100000">
                                          <p:val>
                                            <p:strVal val="#ppt_x"/>
                                          </p:val>
                                        </p:tav>
                                      </p:tavLst>
                                    </p:anim>
                                    <p:anim calcmode="lin" valueType="num">
                                      <p:cBhvr>
                                        <p:cTn id="78" dur="500" fill="hold"/>
                                        <p:tgtEl>
                                          <p:spTgt spid="55"/>
                                        </p:tgtEl>
                                        <p:attrNameLst>
                                          <p:attrName>ppt_y</p:attrName>
                                        </p:attrNameLst>
                                      </p:cBhvr>
                                      <p:tavLst>
                                        <p:tav tm="0">
                                          <p:val>
                                            <p:strVal val="#ppt_y+.1"/>
                                          </p:val>
                                        </p:tav>
                                        <p:tav tm="100000">
                                          <p:val>
                                            <p:strVal val="#ppt_y"/>
                                          </p:val>
                                        </p:tav>
                                      </p:tavLst>
                                    </p:anim>
                                  </p:childTnLst>
                                </p:cTn>
                              </p:par>
                              <p:par>
                                <p:cTn id="79" presetID="42" presetClass="entr" presetSubtype="0" fill="hold" grpId="0" nodeType="withEffect">
                                  <p:stCondLst>
                                    <p:cond delay="0"/>
                                  </p:stCondLst>
                                  <p:childTnLst>
                                    <p:set>
                                      <p:cBhvr>
                                        <p:cTn id="80" dur="1" fill="hold">
                                          <p:stCondLst>
                                            <p:cond delay="0"/>
                                          </p:stCondLst>
                                        </p:cTn>
                                        <p:tgtEl>
                                          <p:spTgt spid="50"/>
                                        </p:tgtEl>
                                        <p:attrNameLst>
                                          <p:attrName>style.visibility</p:attrName>
                                        </p:attrNameLst>
                                      </p:cBhvr>
                                      <p:to>
                                        <p:strVal val="visible"/>
                                      </p:to>
                                    </p:set>
                                    <p:animEffect transition="in" filter="fade">
                                      <p:cBhvr>
                                        <p:cTn id="81" dur="500"/>
                                        <p:tgtEl>
                                          <p:spTgt spid="50"/>
                                        </p:tgtEl>
                                      </p:cBhvr>
                                    </p:animEffect>
                                    <p:anim calcmode="lin" valueType="num">
                                      <p:cBhvr>
                                        <p:cTn id="82" dur="500" fill="hold"/>
                                        <p:tgtEl>
                                          <p:spTgt spid="50"/>
                                        </p:tgtEl>
                                        <p:attrNameLst>
                                          <p:attrName>ppt_x</p:attrName>
                                        </p:attrNameLst>
                                      </p:cBhvr>
                                      <p:tavLst>
                                        <p:tav tm="0">
                                          <p:val>
                                            <p:strVal val="#ppt_x"/>
                                          </p:val>
                                        </p:tav>
                                        <p:tav tm="100000">
                                          <p:val>
                                            <p:strVal val="#ppt_x"/>
                                          </p:val>
                                        </p:tav>
                                      </p:tavLst>
                                    </p:anim>
                                    <p:anim calcmode="lin" valueType="num">
                                      <p:cBhvr>
                                        <p:cTn id="83" dur="500" fill="hold"/>
                                        <p:tgtEl>
                                          <p:spTgt spid="50"/>
                                        </p:tgtEl>
                                        <p:attrNameLst>
                                          <p:attrName>ppt_y</p:attrName>
                                        </p:attrNameLst>
                                      </p:cBhvr>
                                      <p:tavLst>
                                        <p:tav tm="0">
                                          <p:val>
                                            <p:strVal val="#ppt_y+.1"/>
                                          </p:val>
                                        </p:tav>
                                        <p:tav tm="100000">
                                          <p:val>
                                            <p:strVal val="#ppt_y"/>
                                          </p:val>
                                        </p:tav>
                                      </p:tavLst>
                                    </p:anim>
                                  </p:childTnLst>
                                </p:cTn>
                              </p:par>
                              <p:par>
                                <p:cTn id="84" presetID="42" presetClass="entr" presetSubtype="0" fill="hold" grpId="0" nodeType="withEffect">
                                  <p:stCondLst>
                                    <p:cond delay="0"/>
                                  </p:stCondLst>
                                  <p:childTnLst>
                                    <p:set>
                                      <p:cBhvr>
                                        <p:cTn id="85" dur="1" fill="hold">
                                          <p:stCondLst>
                                            <p:cond delay="0"/>
                                          </p:stCondLst>
                                        </p:cTn>
                                        <p:tgtEl>
                                          <p:spTgt spid="54"/>
                                        </p:tgtEl>
                                        <p:attrNameLst>
                                          <p:attrName>style.visibility</p:attrName>
                                        </p:attrNameLst>
                                      </p:cBhvr>
                                      <p:to>
                                        <p:strVal val="visible"/>
                                      </p:to>
                                    </p:set>
                                    <p:animEffect transition="in" filter="fade">
                                      <p:cBhvr>
                                        <p:cTn id="86" dur="500"/>
                                        <p:tgtEl>
                                          <p:spTgt spid="54"/>
                                        </p:tgtEl>
                                      </p:cBhvr>
                                    </p:animEffect>
                                    <p:anim calcmode="lin" valueType="num">
                                      <p:cBhvr>
                                        <p:cTn id="87" dur="500" fill="hold"/>
                                        <p:tgtEl>
                                          <p:spTgt spid="54"/>
                                        </p:tgtEl>
                                        <p:attrNameLst>
                                          <p:attrName>ppt_x</p:attrName>
                                        </p:attrNameLst>
                                      </p:cBhvr>
                                      <p:tavLst>
                                        <p:tav tm="0">
                                          <p:val>
                                            <p:strVal val="#ppt_x"/>
                                          </p:val>
                                        </p:tav>
                                        <p:tav tm="100000">
                                          <p:val>
                                            <p:strVal val="#ppt_x"/>
                                          </p:val>
                                        </p:tav>
                                      </p:tavLst>
                                    </p:anim>
                                    <p:anim calcmode="lin" valueType="num">
                                      <p:cBhvr>
                                        <p:cTn id="88" dur="500" fill="hold"/>
                                        <p:tgtEl>
                                          <p:spTgt spid="54"/>
                                        </p:tgtEl>
                                        <p:attrNameLst>
                                          <p:attrName>ppt_y</p:attrName>
                                        </p:attrNameLst>
                                      </p:cBhvr>
                                      <p:tavLst>
                                        <p:tav tm="0">
                                          <p:val>
                                            <p:strVal val="#ppt_y+.1"/>
                                          </p:val>
                                        </p:tav>
                                        <p:tav tm="100000">
                                          <p:val>
                                            <p:strVal val="#ppt_y"/>
                                          </p:val>
                                        </p:tav>
                                      </p:tavLst>
                                    </p:anim>
                                  </p:childTnLst>
                                </p:cTn>
                              </p:par>
                              <p:par>
                                <p:cTn id="89" presetID="42" presetClass="entr" presetSubtype="0" fill="hold" grpId="0" nodeType="withEffect">
                                  <p:stCondLst>
                                    <p:cond delay="0"/>
                                  </p:stCondLst>
                                  <p:childTnLst>
                                    <p:set>
                                      <p:cBhvr>
                                        <p:cTn id="90" dur="1" fill="hold">
                                          <p:stCondLst>
                                            <p:cond delay="0"/>
                                          </p:stCondLst>
                                        </p:cTn>
                                        <p:tgtEl>
                                          <p:spTgt spid="51"/>
                                        </p:tgtEl>
                                        <p:attrNameLst>
                                          <p:attrName>style.visibility</p:attrName>
                                        </p:attrNameLst>
                                      </p:cBhvr>
                                      <p:to>
                                        <p:strVal val="visible"/>
                                      </p:to>
                                    </p:set>
                                    <p:animEffect transition="in" filter="fade">
                                      <p:cBhvr>
                                        <p:cTn id="91" dur="500"/>
                                        <p:tgtEl>
                                          <p:spTgt spid="51"/>
                                        </p:tgtEl>
                                      </p:cBhvr>
                                    </p:animEffect>
                                    <p:anim calcmode="lin" valueType="num">
                                      <p:cBhvr>
                                        <p:cTn id="92" dur="500" fill="hold"/>
                                        <p:tgtEl>
                                          <p:spTgt spid="51"/>
                                        </p:tgtEl>
                                        <p:attrNameLst>
                                          <p:attrName>ppt_x</p:attrName>
                                        </p:attrNameLst>
                                      </p:cBhvr>
                                      <p:tavLst>
                                        <p:tav tm="0">
                                          <p:val>
                                            <p:strVal val="#ppt_x"/>
                                          </p:val>
                                        </p:tav>
                                        <p:tav tm="100000">
                                          <p:val>
                                            <p:strVal val="#ppt_x"/>
                                          </p:val>
                                        </p:tav>
                                      </p:tavLst>
                                    </p:anim>
                                    <p:anim calcmode="lin" valueType="num">
                                      <p:cBhvr>
                                        <p:cTn id="93" dur="500" fill="hold"/>
                                        <p:tgtEl>
                                          <p:spTgt spid="51"/>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1" presetClass="entr" presetSubtype="0" fill="hold" grpId="0" nodeType="clickEffect">
                                  <p:stCondLst>
                                    <p:cond delay="0"/>
                                  </p:stCondLst>
                                  <p:childTnLst>
                                    <p:set>
                                      <p:cBhvr>
                                        <p:cTn id="97" dur="1" fill="hold">
                                          <p:stCondLst>
                                            <p:cond delay="0"/>
                                          </p:stCondLst>
                                        </p:cTn>
                                        <p:tgtEl>
                                          <p:spTgt spid="56"/>
                                        </p:tgtEl>
                                        <p:attrNameLst>
                                          <p:attrName>style.visibility</p:attrName>
                                        </p:attrNameLst>
                                      </p:cBhvr>
                                      <p:to>
                                        <p:strVal val="visible"/>
                                      </p:to>
                                    </p:se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57"/>
                                        </p:tgtEl>
                                        <p:attrNameLst>
                                          <p:attrName>style.visibility</p:attrName>
                                        </p:attrNameLst>
                                      </p:cBhvr>
                                      <p:to>
                                        <p:strVal val="visible"/>
                                      </p:to>
                                    </p:set>
                                    <p:animEffect transition="in" filter="fade">
                                      <p:cBhvr>
                                        <p:cTn id="102" dur="500"/>
                                        <p:tgtEl>
                                          <p:spTgt spid="57"/>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58"/>
                                        </p:tgtEl>
                                        <p:attrNameLst>
                                          <p:attrName>style.visibility</p:attrName>
                                        </p:attrNameLst>
                                      </p:cBhvr>
                                      <p:to>
                                        <p:strVal val="visible"/>
                                      </p:to>
                                    </p:set>
                                    <p:animEffect transition="in" filter="fade">
                                      <p:cBhvr>
                                        <p:cTn id="105"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32" grpId="0" animBg="1"/>
      <p:bldP spid="36" grpId="0" animBg="1"/>
      <p:bldP spid="43" grpId="0" animBg="1"/>
      <p:bldP spid="44" grpId="0"/>
      <p:bldP spid="45" grpId="0"/>
      <p:bldP spid="47" grpId="0" animBg="1"/>
      <p:bldP spid="50" grpId="0" animBg="1"/>
      <p:bldP spid="51" grpId="0"/>
      <p:bldP spid="52" grpId="0" animBg="1"/>
      <p:bldP spid="53" grpId="0"/>
      <p:bldP spid="54" grpId="0" animBg="1"/>
      <p:bldP spid="55" grpId="0"/>
      <p:bldP spid="56" grpId="0"/>
      <p:bldP spid="57" grpId="0" animBg="1"/>
      <p:bldP spid="58" grpId="0"/>
      <p:bldP spid="2" grpId="0"/>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E7E03B-5512-A555-4EE0-C70277742FFF}"/>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DED469B1-E02F-F564-CCF7-FDE6E81B631B}"/>
              </a:ext>
            </a:extLst>
          </p:cNvPr>
          <p:cNvPicPr>
            <a:picLocks noChangeAspect="1"/>
          </p:cNvPicPr>
          <p:nvPr/>
        </p:nvPicPr>
        <p:blipFill>
          <a:blip r:embed="rId3"/>
          <a:stretch>
            <a:fillRect/>
          </a:stretch>
        </p:blipFill>
        <p:spPr>
          <a:xfrm>
            <a:off x="11419972" y="99001"/>
            <a:ext cx="513560" cy="513560"/>
          </a:xfrm>
          <a:prstGeom prst="rect">
            <a:avLst/>
          </a:prstGeom>
        </p:spPr>
      </p:pic>
      <p:sp>
        <p:nvSpPr>
          <p:cNvPr id="5" name="文本框 4">
            <a:extLst>
              <a:ext uri="{FF2B5EF4-FFF2-40B4-BE49-F238E27FC236}">
                <a16:creationId xmlns:a16="http://schemas.microsoft.com/office/drawing/2014/main" id="{03D46FDE-487B-5B3E-1B1A-62441405B460}"/>
              </a:ext>
            </a:extLst>
          </p:cNvPr>
          <p:cNvSpPr txBox="1"/>
          <p:nvPr/>
        </p:nvSpPr>
        <p:spPr>
          <a:xfrm>
            <a:off x="10280223" y="274007"/>
            <a:ext cx="1653309" cy="338554"/>
          </a:xfrm>
          <a:prstGeom prst="rect">
            <a:avLst/>
          </a:prstGeom>
          <a:noFill/>
        </p:spPr>
        <p:txBody>
          <a:bodyPr wrap="square" rtlCol="0">
            <a:spAutoFit/>
          </a:bodyPr>
          <a:lstStyle/>
          <a:p>
            <a:r>
              <a:rPr lang="zh-CN" altLang="en-US" sz="1600" b="1" dirty="0">
                <a:solidFill>
                  <a:srgbClr val="0070C0"/>
                </a:solidFill>
                <a:latin typeface="微软雅黑" panose="020B0503020204020204" pitchFamily="34" charset="-122"/>
                <a:ea typeface="微软雅黑" panose="020B0503020204020204" pitchFamily="34" charset="-122"/>
              </a:rPr>
              <a:t>酸沙柠檬</a:t>
            </a:r>
          </a:p>
        </p:txBody>
      </p:sp>
      <p:sp>
        <p:nvSpPr>
          <p:cNvPr id="6" name="矩形 5">
            <a:extLst>
              <a:ext uri="{FF2B5EF4-FFF2-40B4-BE49-F238E27FC236}">
                <a16:creationId xmlns:a16="http://schemas.microsoft.com/office/drawing/2014/main" id="{6B29C9C0-8C60-6803-6360-EB209492671D}"/>
              </a:ext>
            </a:extLst>
          </p:cNvPr>
          <p:cNvSpPr/>
          <p:nvPr/>
        </p:nvSpPr>
        <p:spPr>
          <a:xfrm>
            <a:off x="9517283" y="704440"/>
            <a:ext cx="2416249" cy="83127"/>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 name="图片 19">
            <a:extLst>
              <a:ext uri="{FF2B5EF4-FFF2-40B4-BE49-F238E27FC236}">
                <a16:creationId xmlns:a16="http://schemas.microsoft.com/office/drawing/2014/main" id="{3200224C-A949-6E89-1FFD-C3DE022D04CF}"/>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9602" b="89930" l="4219" r="96250">
                        <a14:foregroundMark x1="8750" y1="35597" x2="8750" y2="35597"/>
                        <a14:foregroundMark x1="4219" y1="34660" x2="4219" y2="34660"/>
                        <a14:foregroundMark x1="23594" y1="31850" x2="23594" y2="31850"/>
                        <a14:foregroundMark x1="22813" y1="32319" x2="22813" y2="32319"/>
                        <a14:foregroundMark x1="92031" y1="62763" x2="92031" y2="62763"/>
                        <a14:foregroundMark x1="96250" y1="63934" x2="96250" y2="63934"/>
                        <a14:foregroundMark x1="26250" y1="30913" x2="26250" y2="30913"/>
                        <a14:foregroundMark x1="31406" y1="30679" x2="31406" y2="30679"/>
                        <a14:foregroundMark x1="33750" y1="31148" x2="33750" y2="31148"/>
                        <a14:foregroundMark x1="34375" y1="31382" x2="34375" y2="31382"/>
                        <a14:foregroundMark x1="28438" y1="30445" x2="28438" y2="30445"/>
                        <a14:foregroundMark x1="25313" y1="31148" x2="25313" y2="31148"/>
                        <a14:foregroundMark x1="21563" y1="32084" x2="21563" y2="32084"/>
                      </a14:backgroundRemoval>
                    </a14:imgEffect>
                  </a14:imgLayer>
                </a14:imgProps>
              </a:ext>
            </a:extLst>
          </a:blip>
          <a:stretch>
            <a:fillRect/>
          </a:stretch>
        </p:blipFill>
        <p:spPr>
          <a:xfrm>
            <a:off x="432973" y="2329061"/>
            <a:ext cx="3077566" cy="2053313"/>
          </a:xfrm>
          <a:prstGeom prst="rect">
            <a:avLst/>
          </a:prstGeom>
        </p:spPr>
      </p:pic>
      <p:sp>
        <p:nvSpPr>
          <p:cNvPr id="25" name="箭头: 下 24">
            <a:extLst>
              <a:ext uri="{FF2B5EF4-FFF2-40B4-BE49-F238E27FC236}">
                <a16:creationId xmlns:a16="http://schemas.microsoft.com/office/drawing/2014/main" id="{1DF14DEA-6AB5-BEF9-1042-9FE0B8FC6D35}"/>
              </a:ext>
            </a:extLst>
          </p:cNvPr>
          <p:cNvSpPr/>
          <p:nvPr/>
        </p:nvSpPr>
        <p:spPr>
          <a:xfrm rot="2257772" flipV="1">
            <a:off x="4131636" y="1781175"/>
            <a:ext cx="266700" cy="147017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a:extLst>
              <a:ext uri="{FF2B5EF4-FFF2-40B4-BE49-F238E27FC236}">
                <a16:creationId xmlns:a16="http://schemas.microsoft.com/office/drawing/2014/main" id="{8F556E72-5B2C-E46D-DE57-9557598D6590}"/>
              </a:ext>
            </a:extLst>
          </p:cNvPr>
          <p:cNvSpPr txBox="1"/>
          <p:nvPr/>
        </p:nvSpPr>
        <p:spPr>
          <a:xfrm>
            <a:off x="4602382" y="1483342"/>
            <a:ext cx="2844800" cy="369332"/>
          </a:xfrm>
          <a:prstGeom prst="rect">
            <a:avLst/>
          </a:prstGeom>
          <a:noFill/>
        </p:spPr>
        <p:txBody>
          <a:bodyPr wrap="square" rtlCol="0">
            <a:spAutoFit/>
          </a:bodyPr>
          <a:lstStyle/>
          <a:p>
            <a:pPr algn="ctr"/>
            <a:r>
              <a:rPr lang="zh-CN" altLang="en-US" dirty="0">
                <a:latin typeface="微软雅黑" panose="020B0503020204020204" pitchFamily="34" charset="-122"/>
                <a:ea typeface="微软雅黑" panose="020B0503020204020204" pitchFamily="34" charset="-122"/>
              </a:rPr>
              <a:t>配平与稳态保持能力</a:t>
            </a:r>
          </a:p>
        </p:txBody>
      </p:sp>
      <p:sp>
        <p:nvSpPr>
          <p:cNvPr id="30" name="箭头: 下 29">
            <a:extLst>
              <a:ext uri="{FF2B5EF4-FFF2-40B4-BE49-F238E27FC236}">
                <a16:creationId xmlns:a16="http://schemas.microsoft.com/office/drawing/2014/main" id="{58F2C1D4-7C01-46DE-9958-37EA34BBC70F}"/>
              </a:ext>
            </a:extLst>
          </p:cNvPr>
          <p:cNvSpPr/>
          <p:nvPr/>
        </p:nvSpPr>
        <p:spPr>
          <a:xfrm rot="5400000" flipV="1">
            <a:off x="4485496" y="2655726"/>
            <a:ext cx="266700" cy="147017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框 30">
            <a:extLst>
              <a:ext uri="{FF2B5EF4-FFF2-40B4-BE49-F238E27FC236}">
                <a16:creationId xmlns:a16="http://schemas.microsoft.com/office/drawing/2014/main" id="{F79C23FB-51B1-D21F-B436-C4366A028B97}"/>
              </a:ext>
            </a:extLst>
          </p:cNvPr>
          <p:cNvSpPr txBox="1"/>
          <p:nvPr/>
        </p:nvSpPr>
        <p:spPr>
          <a:xfrm>
            <a:off x="5613399" y="3171051"/>
            <a:ext cx="1833783" cy="369332"/>
          </a:xfrm>
          <a:prstGeom prst="rect">
            <a:avLst/>
          </a:prstGeom>
          <a:noFill/>
        </p:spPr>
        <p:txBody>
          <a:bodyPr wrap="square" rtlCol="0">
            <a:spAutoFit/>
          </a:bodyPr>
          <a:lstStyle/>
          <a:p>
            <a:pPr algn="ctr"/>
            <a:r>
              <a:rPr lang="zh-CN" altLang="en-US" dirty="0">
                <a:latin typeface="微软雅黑" panose="020B0503020204020204" pitchFamily="34" charset="-122"/>
                <a:ea typeface="微软雅黑" panose="020B0503020204020204" pitchFamily="34" charset="-122"/>
              </a:rPr>
              <a:t>操纵与机动能力</a:t>
            </a:r>
          </a:p>
        </p:txBody>
      </p:sp>
      <p:sp>
        <p:nvSpPr>
          <p:cNvPr id="34" name="箭头: 下 33">
            <a:extLst>
              <a:ext uri="{FF2B5EF4-FFF2-40B4-BE49-F238E27FC236}">
                <a16:creationId xmlns:a16="http://schemas.microsoft.com/office/drawing/2014/main" id="{DA0102DC-E737-072A-5FD8-5DF1A11659D4}"/>
              </a:ext>
            </a:extLst>
          </p:cNvPr>
          <p:cNvSpPr/>
          <p:nvPr/>
        </p:nvSpPr>
        <p:spPr>
          <a:xfrm rot="8134545" flipV="1">
            <a:off x="4186985" y="3485011"/>
            <a:ext cx="266700" cy="147017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框 34">
            <a:extLst>
              <a:ext uri="{FF2B5EF4-FFF2-40B4-BE49-F238E27FC236}">
                <a16:creationId xmlns:a16="http://schemas.microsoft.com/office/drawing/2014/main" id="{F4816533-C951-A91C-CDC2-FDB0222B92AE}"/>
              </a:ext>
            </a:extLst>
          </p:cNvPr>
          <p:cNvSpPr txBox="1"/>
          <p:nvPr/>
        </p:nvSpPr>
        <p:spPr>
          <a:xfrm>
            <a:off x="4618846" y="4758331"/>
            <a:ext cx="2844800" cy="369332"/>
          </a:xfrm>
          <a:prstGeom prst="rect">
            <a:avLst/>
          </a:prstGeom>
          <a:noFill/>
        </p:spPr>
        <p:txBody>
          <a:bodyPr wrap="square" rtlCol="0">
            <a:spAutoFit/>
          </a:bodyPr>
          <a:lstStyle/>
          <a:p>
            <a:pPr algn="ctr"/>
            <a:r>
              <a:rPr lang="zh-CN" altLang="en-US" dirty="0">
                <a:latin typeface="微软雅黑" panose="020B0503020204020204" pitchFamily="34" charset="-122"/>
                <a:ea typeface="微软雅黑" panose="020B0503020204020204" pitchFamily="34" charset="-122"/>
              </a:rPr>
              <a:t>稳定性与抗扰能力</a:t>
            </a:r>
          </a:p>
        </p:txBody>
      </p:sp>
      <p:sp>
        <p:nvSpPr>
          <p:cNvPr id="37" name="箭头: 下 36">
            <a:extLst>
              <a:ext uri="{FF2B5EF4-FFF2-40B4-BE49-F238E27FC236}">
                <a16:creationId xmlns:a16="http://schemas.microsoft.com/office/drawing/2014/main" id="{0CEED80D-081D-F81A-C5CC-F341D2F617BA}"/>
              </a:ext>
            </a:extLst>
          </p:cNvPr>
          <p:cNvSpPr/>
          <p:nvPr/>
        </p:nvSpPr>
        <p:spPr>
          <a:xfrm rot="5400000" flipV="1">
            <a:off x="7884486" y="913215"/>
            <a:ext cx="266700" cy="147017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箭头: 下 37">
            <a:extLst>
              <a:ext uri="{FF2B5EF4-FFF2-40B4-BE49-F238E27FC236}">
                <a16:creationId xmlns:a16="http://schemas.microsoft.com/office/drawing/2014/main" id="{A00A7C23-7D42-BE0C-67F1-5914C283C3DF}"/>
              </a:ext>
            </a:extLst>
          </p:cNvPr>
          <p:cNvSpPr/>
          <p:nvPr/>
        </p:nvSpPr>
        <p:spPr>
          <a:xfrm rot="5400000" flipV="1">
            <a:off x="8021011" y="2757153"/>
            <a:ext cx="266700" cy="119712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箭头: 下 38">
            <a:extLst>
              <a:ext uri="{FF2B5EF4-FFF2-40B4-BE49-F238E27FC236}">
                <a16:creationId xmlns:a16="http://schemas.microsoft.com/office/drawing/2014/main" id="{D12D569A-AF65-0BAB-DFB2-30C1757A3DDE}"/>
              </a:ext>
            </a:extLst>
          </p:cNvPr>
          <p:cNvSpPr/>
          <p:nvPr/>
        </p:nvSpPr>
        <p:spPr>
          <a:xfrm rot="5400000" flipV="1">
            <a:off x="7884486" y="4207908"/>
            <a:ext cx="266700" cy="147017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文本框 39">
            <a:extLst>
              <a:ext uri="{FF2B5EF4-FFF2-40B4-BE49-F238E27FC236}">
                <a16:creationId xmlns:a16="http://schemas.microsoft.com/office/drawing/2014/main" id="{DD7FF8B3-405F-821B-27E7-EC5483545002}"/>
              </a:ext>
            </a:extLst>
          </p:cNvPr>
          <p:cNvSpPr txBox="1"/>
          <p:nvPr/>
        </p:nvSpPr>
        <p:spPr>
          <a:xfrm>
            <a:off x="8766352" y="1344842"/>
            <a:ext cx="2844800" cy="646331"/>
          </a:xfrm>
          <a:prstGeom prst="rect">
            <a:avLst/>
          </a:prstGeom>
          <a:noFill/>
        </p:spPr>
        <p:txBody>
          <a:bodyPr wrap="square" rtlCol="0">
            <a:spAutoFit/>
          </a:bodyPr>
          <a:lstStyle/>
          <a:p>
            <a:pPr algn="ctr"/>
            <a:r>
              <a:rPr lang="zh-CN" altLang="en-US" dirty="0">
                <a:latin typeface="微软雅黑" panose="020B0503020204020204" pitchFamily="34" charset="-122"/>
                <a:ea typeface="微软雅黑" panose="020B0503020204020204" pitchFamily="34" charset="-122"/>
              </a:rPr>
              <a:t>平衡点附近的飞行效率与静稳定裕度</a:t>
            </a:r>
          </a:p>
        </p:txBody>
      </p:sp>
      <p:sp>
        <p:nvSpPr>
          <p:cNvPr id="41" name="文本框 40">
            <a:extLst>
              <a:ext uri="{FF2B5EF4-FFF2-40B4-BE49-F238E27FC236}">
                <a16:creationId xmlns:a16="http://schemas.microsoft.com/office/drawing/2014/main" id="{575B0DAD-A8F0-07BE-896D-A766FA7DF195}"/>
              </a:ext>
            </a:extLst>
          </p:cNvPr>
          <p:cNvSpPr txBox="1"/>
          <p:nvPr/>
        </p:nvSpPr>
        <p:spPr>
          <a:xfrm>
            <a:off x="8671102" y="3171051"/>
            <a:ext cx="2844800" cy="369332"/>
          </a:xfrm>
          <a:prstGeom prst="rect">
            <a:avLst/>
          </a:prstGeom>
          <a:noFill/>
        </p:spPr>
        <p:txBody>
          <a:bodyPr wrap="square" rtlCol="0">
            <a:spAutoFit/>
          </a:bodyPr>
          <a:lstStyle/>
          <a:p>
            <a:pPr algn="ctr"/>
            <a:r>
              <a:rPr lang="zh-CN" altLang="en-US" dirty="0">
                <a:latin typeface="微软雅黑" panose="020B0503020204020204" pitchFamily="34" charset="-122"/>
                <a:ea typeface="微软雅黑" panose="020B0503020204020204" pitchFamily="34" charset="-122"/>
              </a:rPr>
              <a:t>控制面操纵效能</a:t>
            </a:r>
          </a:p>
        </p:txBody>
      </p:sp>
      <p:sp>
        <p:nvSpPr>
          <p:cNvPr id="42" name="文本框 41">
            <a:extLst>
              <a:ext uri="{FF2B5EF4-FFF2-40B4-BE49-F238E27FC236}">
                <a16:creationId xmlns:a16="http://schemas.microsoft.com/office/drawing/2014/main" id="{24317FA5-286A-5C56-A1DA-A67B901F32F1}"/>
              </a:ext>
            </a:extLst>
          </p:cNvPr>
          <p:cNvSpPr txBox="1"/>
          <p:nvPr/>
        </p:nvSpPr>
        <p:spPr>
          <a:xfrm>
            <a:off x="8766352" y="4758331"/>
            <a:ext cx="2844800" cy="369332"/>
          </a:xfrm>
          <a:prstGeom prst="rect">
            <a:avLst/>
          </a:prstGeom>
          <a:noFill/>
        </p:spPr>
        <p:txBody>
          <a:bodyPr wrap="square" rtlCol="0">
            <a:spAutoFit/>
          </a:bodyPr>
          <a:lstStyle/>
          <a:p>
            <a:pPr algn="ctr"/>
            <a:r>
              <a:rPr lang="zh-CN" altLang="en-US" dirty="0">
                <a:latin typeface="微软雅黑" panose="020B0503020204020204" pitchFamily="34" charset="-122"/>
                <a:ea typeface="微软雅黑" panose="020B0503020204020204" pitchFamily="34" charset="-122"/>
              </a:rPr>
              <a:t>静稳定与动导数</a:t>
            </a:r>
          </a:p>
        </p:txBody>
      </p:sp>
    </p:spTree>
    <p:extLst>
      <p:ext uri="{BB962C8B-B14F-4D97-AF65-F5344CB8AC3E}">
        <p14:creationId xmlns:p14="http://schemas.microsoft.com/office/powerpoint/2010/main" val="92306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fade">
                                      <p:cBhvr>
                                        <p:cTn id="10" dur="500"/>
                                        <p:tgtEl>
                                          <p:spTgt spid="25"/>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37"/>
                                        </p:tgtEl>
                                        <p:attrNameLst>
                                          <p:attrName>style.visibility</p:attrName>
                                        </p:attrNameLst>
                                      </p:cBhvr>
                                      <p:to>
                                        <p:strVal val="visible"/>
                                      </p:to>
                                    </p:set>
                                    <p:anim calcmode="lin" valueType="num">
                                      <p:cBhvr additive="base">
                                        <p:cTn id="15" dur="500" fill="hold"/>
                                        <p:tgtEl>
                                          <p:spTgt spid="37"/>
                                        </p:tgtEl>
                                        <p:attrNameLst>
                                          <p:attrName>ppt_x</p:attrName>
                                        </p:attrNameLst>
                                      </p:cBhvr>
                                      <p:tavLst>
                                        <p:tav tm="0">
                                          <p:val>
                                            <p:strVal val="#ppt_x"/>
                                          </p:val>
                                        </p:tav>
                                        <p:tav tm="100000">
                                          <p:val>
                                            <p:strVal val="#ppt_x"/>
                                          </p:val>
                                        </p:tav>
                                      </p:tavLst>
                                    </p:anim>
                                    <p:anim calcmode="lin" valueType="num">
                                      <p:cBhvr additive="base">
                                        <p:cTn id="16" dur="500" fill="hold"/>
                                        <p:tgtEl>
                                          <p:spTgt spid="37"/>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40"/>
                                        </p:tgtEl>
                                        <p:attrNameLst>
                                          <p:attrName>style.visibility</p:attrName>
                                        </p:attrNameLst>
                                      </p:cBhvr>
                                      <p:to>
                                        <p:strVal val="visible"/>
                                      </p:to>
                                    </p:set>
                                    <p:anim calcmode="lin" valueType="num">
                                      <p:cBhvr additive="base">
                                        <p:cTn id="19" dur="500" fill="hold"/>
                                        <p:tgtEl>
                                          <p:spTgt spid="40"/>
                                        </p:tgtEl>
                                        <p:attrNameLst>
                                          <p:attrName>ppt_x</p:attrName>
                                        </p:attrNameLst>
                                      </p:cBhvr>
                                      <p:tavLst>
                                        <p:tav tm="0">
                                          <p:val>
                                            <p:strVal val="#ppt_x"/>
                                          </p:val>
                                        </p:tav>
                                        <p:tav tm="100000">
                                          <p:val>
                                            <p:strVal val="#ppt_x"/>
                                          </p:val>
                                        </p:tav>
                                      </p:tavLst>
                                    </p:anim>
                                    <p:anim calcmode="lin" valueType="num">
                                      <p:cBhvr additive="base">
                                        <p:cTn id="20"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0"/>
                                        </p:tgtEl>
                                        <p:attrNameLst>
                                          <p:attrName>style.visibility</p:attrName>
                                        </p:attrNameLst>
                                      </p:cBhvr>
                                      <p:to>
                                        <p:strVal val="visible"/>
                                      </p:to>
                                    </p:set>
                                    <p:animEffect transition="in" filter="fade">
                                      <p:cBhvr>
                                        <p:cTn id="25" dur="500"/>
                                        <p:tgtEl>
                                          <p:spTgt spid="3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1"/>
                                        </p:tgtEl>
                                        <p:attrNameLst>
                                          <p:attrName>style.visibility</p:attrName>
                                        </p:attrNameLst>
                                      </p:cBhvr>
                                      <p:to>
                                        <p:strVal val="visible"/>
                                      </p:to>
                                    </p:set>
                                    <p:animEffect transition="in" filter="fade">
                                      <p:cBhvr>
                                        <p:cTn id="28" dur="500"/>
                                        <p:tgtEl>
                                          <p:spTgt spid="31"/>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38"/>
                                        </p:tgtEl>
                                        <p:attrNameLst>
                                          <p:attrName>style.visibility</p:attrName>
                                        </p:attrNameLst>
                                      </p:cBhvr>
                                      <p:to>
                                        <p:strVal val="visible"/>
                                      </p:to>
                                    </p:set>
                                    <p:anim calcmode="lin" valueType="num">
                                      <p:cBhvr additive="base">
                                        <p:cTn id="33" dur="500" fill="hold"/>
                                        <p:tgtEl>
                                          <p:spTgt spid="38"/>
                                        </p:tgtEl>
                                        <p:attrNameLst>
                                          <p:attrName>ppt_x</p:attrName>
                                        </p:attrNameLst>
                                      </p:cBhvr>
                                      <p:tavLst>
                                        <p:tav tm="0">
                                          <p:val>
                                            <p:strVal val="#ppt_x"/>
                                          </p:val>
                                        </p:tav>
                                        <p:tav tm="100000">
                                          <p:val>
                                            <p:strVal val="#ppt_x"/>
                                          </p:val>
                                        </p:tav>
                                      </p:tavLst>
                                    </p:anim>
                                    <p:anim calcmode="lin" valueType="num">
                                      <p:cBhvr additive="base">
                                        <p:cTn id="34" dur="500" fill="hold"/>
                                        <p:tgtEl>
                                          <p:spTgt spid="38"/>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41"/>
                                        </p:tgtEl>
                                        <p:attrNameLst>
                                          <p:attrName>style.visibility</p:attrName>
                                        </p:attrNameLst>
                                      </p:cBhvr>
                                      <p:to>
                                        <p:strVal val="visible"/>
                                      </p:to>
                                    </p:set>
                                    <p:anim calcmode="lin" valueType="num">
                                      <p:cBhvr additive="base">
                                        <p:cTn id="37" dur="500" fill="hold"/>
                                        <p:tgtEl>
                                          <p:spTgt spid="41"/>
                                        </p:tgtEl>
                                        <p:attrNameLst>
                                          <p:attrName>ppt_x</p:attrName>
                                        </p:attrNameLst>
                                      </p:cBhvr>
                                      <p:tavLst>
                                        <p:tav tm="0">
                                          <p:val>
                                            <p:strVal val="#ppt_x"/>
                                          </p:val>
                                        </p:tav>
                                        <p:tav tm="100000">
                                          <p:val>
                                            <p:strVal val="#ppt_x"/>
                                          </p:val>
                                        </p:tav>
                                      </p:tavLst>
                                    </p:anim>
                                    <p:anim calcmode="lin" valueType="num">
                                      <p:cBhvr additive="base">
                                        <p:cTn id="38"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34"/>
                                        </p:tgtEl>
                                        <p:attrNameLst>
                                          <p:attrName>style.visibility</p:attrName>
                                        </p:attrNameLst>
                                      </p:cBhvr>
                                      <p:to>
                                        <p:strVal val="visible"/>
                                      </p:to>
                                    </p:set>
                                    <p:animEffect transition="in" filter="fade">
                                      <p:cBhvr>
                                        <p:cTn id="43" dur="500"/>
                                        <p:tgtEl>
                                          <p:spTgt spid="3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5"/>
                                        </p:tgtEl>
                                        <p:attrNameLst>
                                          <p:attrName>style.visibility</p:attrName>
                                        </p:attrNameLst>
                                      </p:cBhvr>
                                      <p:to>
                                        <p:strVal val="visible"/>
                                      </p:to>
                                    </p:set>
                                    <p:animEffect transition="in" filter="fade">
                                      <p:cBhvr>
                                        <p:cTn id="46" dur="500"/>
                                        <p:tgtEl>
                                          <p:spTgt spid="35"/>
                                        </p:tgtEl>
                                      </p:cBhvr>
                                    </p:animEffect>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39"/>
                                        </p:tgtEl>
                                        <p:attrNameLst>
                                          <p:attrName>style.visibility</p:attrName>
                                        </p:attrNameLst>
                                      </p:cBhvr>
                                      <p:to>
                                        <p:strVal val="visible"/>
                                      </p:to>
                                    </p:set>
                                    <p:anim calcmode="lin" valueType="num">
                                      <p:cBhvr additive="base">
                                        <p:cTn id="51" dur="500" fill="hold"/>
                                        <p:tgtEl>
                                          <p:spTgt spid="39"/>
                                        </p:tgtEl>
                                        <p:attrNameLst>
                                          <p:attrName>ppt_x</p:attrName>
                                        </p:attrNameLst>
                                      </p:cBhvr>
                                      <p:tavLst>
                                        <p:tav tm="0">
                                          <p:val>
                                            <p:strVal val="#ppt_x"/>
                                          </p:val>
                                        </p:tav>
                                        <p:tav tm="100000">
                                          <p:val>
                                            <p:strVal val="#ppt_x"/>
                                          </p:val>
                                        </p:tav>
                                      </p:tavLst>
                                    </p:anim>
                                    <p:anim calcmode="lin" valueType="num">
                                      <p:cBhvr additive="base">
                                        <p:cTn id="52" dur="500" fill="hold"/>
                                        <p:tgtEl>
                                          <p:spTgt spid="39"/>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42"/>
                                        </p:tgtEl>
                                        <p:attrNameLst>
                                          <p:attrName>style.visibility</p:attrName>
                                        </p:attrNameLst>
                                      </p:cBhvr>
                                      <p:to>
                                        <p:strVal val="visible"/>
                                      </p:to>
                                    </p:set>
                                    <p:anim calcmode="lin" valueType="num">
                                      <p:cBhvr additive="base">
                                        <p:cTn id="55" dur="500" fill="hold"/>
                                        <p:tgtEl>
                                          <p:spTgt spid="42"/>
                                        </p:tgtEl>
                                        <p:attrNameLst>
                                          <p:attrName>ppt_x</p:attrName>
                                        </p:attrNameLst>
                                      </p:cBhvr>
                                      <p:tavLst>
                                        <p:tav tm="0">
                                          <p:val>
                                            <p:strVal val="#ppt_x"/>
                                          </p:val>
                                        </p:tav>
                                        <p:tav tm="100000">
                                          <p:val>
                                            <p:strVal val="#ppt_x"/>
                                          </p:val>
                                        </p:tav>
                                      </p:tavLst>
                                    </p:anim>
                                    <p:anim calcmode="lin" valueType="num">
                                      <p:cBhvr additive="base">
                                        <p:cTn id="56"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9" grpId="0"/>
      <p:bldP spid="30" grpId="0" animBg="1"/>
      <p:bldP spid="31" grpId="0"/>
      <p:bldP spid="34" grpId="0" animBg="1"/>
      <p:bldP spid="35" grpId="0"/>
      <p:bldP spid="37" grpId="0" animBg="1"/>
      <p:bldP spid="38" grpId="0" animBg="1"/>
      <p:bldP spid="39" grpId="0" animBg="1"/>
      <p:bldP spid="40" grpId="0"/>
      <p:bldP spid="41" grpId="0"/>
      <p:bldP spid="4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038685-BAA0-3111-EA5F-A8FAADA847F6}"/>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B709189F-E974-58D7-575D-A5FA2F40CD1F}"/>
              </a:ext>
            </a:extLst>
          </p:cNvPr>
          <p:cNvPicPr>
            <a:picLocks noChangeAspect="1"/>
          </p:cNvPicPr>
          <p:nvPr/>
        </p:nvPicPr>
        <p:blipFill>
          <a:blip r:embed="rId3"/>
          <a:stretch>
            <a:fillRect/>
          </a:stretch>
        </p:blipFill>
        <p:spPr>
          <a:xfrm>
            <a:off x="11419972" y="99001"/>
            <a:ext cx="513560" cy="513560"/>
          </a:xfrm>
          <a:prstGeom prst="rect">
            <a:avLst/>
          </a:prstGeom>
        </p:spPr>
      </p:pic>
      <p:sp>
        <p:nvSpPr>
          <p:cNvPr id="5" name="文本框 4">
            <a:extLst>
              <a:ext uri="{FF2B5EF4-FFF2-40B4-BE49-F238E27FC236}">
                <a16:creationId xmlns:a16="http://schemas.microsoft.com/office/drawing/2014/main" id="{B8AAA7EE-E192-62FC-AEB7-24B7217099F1}"/>
              </a:ext>
            </a:extLst>
          </p:cNvPr>
          <p:cNvSpPr txBox="1"/>
          <p:nvPr/>
        </p:nvSpPr>
        <p:spPr>
          <a:xfrm>
            <a:off x="10280223" y="274007"/>
            <a:ext cx="1653309" cy="338554"/>
          </a:xfrm>
          <a:prstGeom prst="rect">
            <a:avLst/>
          </a:prstGeom>
          <a:noFill/>
        </p:spPr>
        <p:txBody>
          <a:bodyPr wrap="square" rtlCol="0">
            <a:spAutoFit/>
          </a:bodyPr>
          <a:lstStyle/>
          <a:p>
            <a:r>
              <a:rPr lang="zh-CN" altLang="en-US" sz="1600" b="1" dirty="0">
                <a:solidFill>
                  <a:srgbClr val="0070C0"/>
                </a:solidFill>
                <a:latin typeface="微软雅黑" panose="020B0503020204020204" pitchFamily="34" charset="-122"/>
                <a:ea typeface="微软雅黑" panose="020B0503020204020204" pitchFamily="34" charset="-122"/>
              </a:rPr>
              <a:t>酸沙柠檬</a:t>
            </a:r>
          </a:p>
        </p:txBody>
      </p:sp>
      <p:sp>
        <p:nvSpPr>
          <p:cNvPr id="6" name="矩形 5">
            <a:extLst>
              <a:ext uri="{FF2B5EF4-FFF2-40B4-BE49-F238E27FC236}">
                <a16:creationId xmlns:a16="http://schemas.microsoft.com/office/drawing/2014/main" id="{79556F56-3EBF-252C-C323-1879C68D85C9}"/>
              </a:ext>
            </a:extLst>
          </p:cNvPr>
          <p:cNvSpPr/>
          <p:nvPr/>
        </p:nvSpPr>
        <p:spPr>
          <a:xfrm>
            <a:off x="9517283" y="704440"/>
            <a:ext cx="2416249" cy="83127"/>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a:extLst>
              <a:ext uri="{FF2B5EF4-FFF2-40B4-BE49-F238E27FC236}">
                <a16:creationId xmlns:a16="http://schemas.microsoft.com/office/drawing/2014/main" id="{936AE0D6-06AE-F801-0ED6-12247CEE7C28}"/>
              </a:ext>
            </a:extLst>
          </p:cNvPr>
          <p:cNvSpPr txBox="1"/>
          <p:nvPr/>
        </p:nvSpPr>
        <p:spPr>
          <a:xfrm>
            <a:off x="432973" y="443284"/>
            <a:ext cx="2844800" cy="369332"/>
          </a:xfrm>
          <a:prstGeom prst="rect">
            <a:avLst/>
          </a:prstGeom>
          <a:solidFill>
            <a:srgbClr val="0070C0"/>
          </a:solidFill>
        </p:spPr>
        <p:txBody>
          <a:bodyPr wrap="square" rtlCol="0">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rPr>
              <a:t>配平与稳态保持能力</a:t>
            </a:r>
          </a:p>
        </p:txBody>
      </p:sp>
      <p:pic>
        <p:nvPicPr>
          <p:cNvPr id="3" name="图片 2">
            <a:extLst>
              <a:ext uri="{FF2B5EF4-FFF2-40B4-BE49-F238E27FC236}">
                <a16:creationId xmlns:a16="http://schemas.microsoft.com/office/drawing/2014/main" id="{A91A4C9D-29F3-1CD5-47E7-1CC51F2F7D11}"/>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66197" y="1188114"/>
            <a:ext cx="2537008" cy="2257109"/>
          </a:xfrm>
          <a:prstGeom prst="rect">
            <a:avLst/>
          </a:prstGeom>
          <a:noFill/>
          <a:ln>
            <a:noFill/>
          </a:ln>
        </p:spPr>
      </p:pic>
      <p:pic>
        <p:nvPicPr>
          <p:cNvPr id="7" name="图片 6">
            <a:extLst>
              <a:ext uri="{FF2B5EF4-FFF2-40B4-BE49-F238E27FC236}">
                <a16:creationId xmlns:a16="http://schemas.microsoft.com/office/drawing/2014/main" id="{9853D9BE-62AD-6F6C-FAC4-5234C3837F9C}"/>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235263" y="1190619"/>
            <a:ext cx="2537009" cy="2257110"/>
          </a:xfrm>
          <a:prstGeom prst="rect">
            <a:avLst/>
          </a:prstGeom>
          <a:noFill/>
          <a:ln>
            <a:noFill/>
          </a:ln>
        </p:spPr>
      </p:pic>
      <p:pic>
        <p:nvPicPr>
          <p:cNvPr id="8" name="图片 7">
            <a:extLst>
              <a:ext uri="{FF2B5EF4-FFF2-40B4-BE49-F238E27FC236}">
                <a16:creationId xmlns:a16="http://schemas.microsoft.com/office/drawing/2014/main" id="{4495BFF0-2760-D45F-5B31-69924B9D95F6}"/>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7132" y="1188115"/>
            <a:ext cx="2537007" cy="2257108"/>
          </a:xfrm>
          <a:prstGeom prst="rect">
            <a:avLst/>
          </a:prstGeom>
          <a:noFill/>
          <a:ln>
            <a:noFill/>
          </a:ln>
        </p:spPr>
      </p:pic>
      <p:sp>
        <p:nvSpPr>
          <p:cNvPr id="9" name="流程图: 接点 8">
            <a:extLst>
              <a:ext uri="{FF2B5EF4-FFF2-40B4-BE49-F238E27FC236}">
                <a16:creationId xmlns:a16="http://schemas.microsoft.com/office/drawing/2014/main" id="{20DC6315-18F0-85A5-6A63-39EEBD77B473}"/>
              </a:ext>
            </a:extLst>
          </p:cNvPr>
          <p:cNvSpPr/>
          <p:nvPr/>
        </p:nvSpPr>
        <p:spPr>
          <a:xfrm>
            <a:off x="1394990" y="1897019"/>
            <a:ext cx="163512" cy="155435"/>
          </a:xfrm>
          <a:prstGeom prst="flowChartConnector">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箭头连接符 10">
            <a:extLst>
              <a:ext uri="{FF2B5EF4-FFF2-40B4-BE49-F238E27FC236}">
                <a16:creationId xmlns:a16="http://schemas.microsoft.com/office/drawing/2014/main" id="{F4BA313B-F07F-222B-1B7B-3C11E599CF06}"/>
              </a:ext>
            </a:extLst>
          </p:cNvPr>
          <p:cNvCxnSpPr>
            <a:cxnSpLocks/>
            <a:stCxn id="9" idx="7"/>
          </p:cNvCxnSpPr>
          <p:nvPr/>
        </p:nvCxnSpPr>
        <p:spPr>
          <a:xfrm flipV="1">
            <a:off x="1534556" y="1820892"/>
            <a:ext cx="289163" cy="9889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39239E7A-AEA5-A8AF-6B3D-F498F0FC21DD}"/>
              </a:ext>
            </a:extLst>
          </p:cNvPr>
          <p:cNvSpPr txBox="1"/>
          <p:nvPr/>
        </p:nvSpPr>
        <p:spPr>
          <a:xfrm>
            <a:off x="1727199" y="1513115"/>
            <a:ext cx="1255346" cy="307777"/>
          </a:xfrm>
          <a:prstGeom prst="rect">
            <a:avLst/>
          </a:prstGeom>
          <a:noFill/>
        </p:spPr>
        <p:txBody>
          <a:bodyPr wrap="square" rtlCol="0">
            <a:spAutoFit/>
          </a:bodyPr>
          <a:lstStyle/>
          <a:p>
            <a:r>
              <a:rPr lang="zh-CN" altLang="en-US" sz="1400" b="1" dirty="0"/>
              <a:t>配平攻角</a:t>
            </a:r>
            <a:r>
              <a:rPr lang="en-US" altLang="zh-CN" sz="1400" b="1" dirty="0"/>
              <a:t>0.8°</a:t>
            </a:r>
            <a:endParaRPr lang="zh-CN" altLang="en-US" sz="1400" b="1" dirty="0"/>
          </a:p>
        </p:txBody>
      </p:sp>
      <p:cxnSp>
        <p:nvCxnSpPr>
          <p:cNvPr id="15" name="直接箭头连接符 14">
            <a:extLst>
              <a:ext uri="{FF2B5EF4-FFF2-40B4-BE49-F238E27FC236}">
                <a16:creationId xmlns:a16="http://schemas.microsoft.com/office/drawing/2014/main" id="{96F5E5FB-DA92-5C5C-D89E-D5F6DDFAFA87}"/>
              </a:ext>
            </a:extLst>
          </p:cNvPr>
          <p:cNvCxnSpPr>
            <a:cxnSpLocks/>
          </p:cNvCxnSpPr>
          <p:nvPr/>
        </p:nvCxnSpPr>
        <p:spPr>
          <a:xfrm flipV="1">
            <a:off x="4203275" y="2597497"/>
            <a:ext cx="0" cy="600074"/>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C5062203-6EA4-BA57-9BFF-79292E023D66}"/>
              </a:ext>
            </a:extLst>
          </p:cNvPr>
          <p:cNvSpPr txBox="1"/>
          <p:nvPr/>
        </p:nvSpPr>
        <p:spPr>
          <a:xfrm>
            <a:off x="4364566" y="2461599"/>
            <a:ext cx="1255346" cy="307777"/>
          </a:xfrm>
          <a:prstGeom prst="rect">
            <a:avLst/>
          </a:prstGeom>
          <a:noFill/>
        </p:spPr>
        <p:txBody>
          <a:bodyPr wrap="square" rtlCol="0">
            <a:spAutoFit/>
          </a:bodyPr>
          <a:lstStyle/>
          <a:p>
            <a:r>
              <a:rPr lang="en-US" altLang="zh-CN" sz="1400" b="1" dirty="0"/>
              <a:t>CL=0.68</a:t>
            </a:r>
            <a:endParaRPr lang="zh-CN" altLang="en-US" sz="1400" b="1" dirty="0"/>
          </a:p>
        </p:txBody>
      </p:sp>
      <p:sp>
        <p:nvSpPr>
          <p:cNvPr id="17" name="文本框 16">
            <a:extLst>
              <a:ext uri="{FF2B5EF4-FFF2-40B4-BE49-F238E27FC236}">
                <a16:creationId xmlns:a16="http://schemas.microsoft.com/office/drawing/2014/main" id="{78E934C8-EE58-C15A-3D0E-6E93A8CC322E}"/>
              </a:ext>
            </a:extLst>
          </p:cNvPr>
          <p:cNvSpPr txBox="1"/>
          <p:nvPr/>
        </p:nvSpPr>
        <p:spPr>
          <a:xfrm>
            <a:off x="697132" y="4082824"/>
            <a:ext cx="8075140" cy="851259"/>
          </a:xfrm>
          <a:prstGeom prst="rect">
            <a:avLst/>
          </a:prstGeom>
          <a:noFill/>
        </p:spPr>
        <p:txBody>
          <a:bodyPr wrap="square" rtlCol="0">
            <a:spAutoFit/>
          </a:bodyPr>
          <a:lstStyle/>
          <a:p>
            <a:pPr>
              <a:lnSpc>
                <a:spcPct val="120000"/>
              </a:lnSpc>
            </a:pPr>
            <a:r>
              <a:rPr lang="zh-CN" altLang="en-US" sz="1400" b="1" dirty="0"/>
              <a:t>假设此时他以</a:t>
            </a:r>
            <a:r>
              <a:rPr lang="en-US" altLang="zh-CN" sz="1400" b="1" dirty="0"/>
              <a:t>Ma=0.1</a:t>
            </a:r>
            <a:r>
              <a:rPr lang="zh-CN" altLang="en-US" sz="1400" b="1" dirty="0"/>
              <a:t>，</a:t>
            </a:r>
            <a:r>
              <a:rPr lang="en-US" altLang="zh-CN" sz="1400" b="1" dirty="0"/>
              <a:t>H=1.4Km</a:t>
            </a:r>
            <a:r>
              <a:rPr lang="zh-CN" altLang="en-US" sz="1400" b="1" dirty="0"/>
              <a:t>高度飞行，全</a:t>
            </a:r>
            <a:r>
              <a:rPr lang="zh-CN" altLang="en-US" sz="1400" b="1"/>
              <a:t>机参考为</a:t>
            </a:r>
            <a:r>
              <a:rPr lang="en-US" altLang="zh-CN" sz="1400" b="1" dirty="0"/>
              <a:t>4.991m²</a:t>
            </a:r>
          </a:p>
          <a:p>
            <a:pPr>
              <a:lnSpc>
                <a:spcPct val="120000"/>
              </a:lnSpc>
            </a:pPr>
            <a:r>
              <a:rPr lang="zh-CN" altLang="en-US" sz="1400" b="1" dirty="0"/>
              <a:t>按照</a:t>
            </a:r>
            <a:r>
              <a:rPr lang="en-US" altLang="zh-CN" sz="1400" b="1" dirty="0"/>
              <a:t>H=1.4Km</a:t>
            </a:r>
            <a:r>
              <a:rPr lang="zh-CN" altLang="en-US" sz="1400" b="1" dirty="0"/>
              <a:t>的大气工况查表得到此时大气密度</a:t>
            </a:r>
            <a:r>
              <a:rPr lang="en-US" altLang="zh-CN" sz="1400" b="1" dirty="0"/>
              <a:t>rho=1.069</a:t>
            </a:r>
          </a:p>
          <a:p>
            <a:pPr>
              <a:lnSpc>
                <a:spcPct val="120000"/>
              </a:lnSpc>
            </a:pPr>
            <a:r>
              <a:rPr lang="zh-CN" altLang="en-US" sz="1400" b="1" dirty="0"/>
              <a:t>计算声速为</a:t>
            </a:r>
            <a:r>
              <a:rPr lang="en-US" altLang="zh-CN" sz="1400" b="1" dirty="0"/>
              <a:t>334.879m/s</a:t>
            </a:r>
            <a:r>
              <a:rPr lang="zh-CN" altLang="en-US" sz="1400" b="1" dirty="0"/>
              <a:t>，为对应飞行速度</a:t>
            </a:r>
            <a:r>
              <a:rPr lang="en-US" altLang="zh-CN" sz="1400" b="1" dirty="0"/>
              <a:t>V=33.488m/s</a:t>
            </a:r>
          </a:p>
        </p:txBody>
      </p:sp>
      <p:sp>
        <p:nvSpPr>
          <p:cNvPr id="19" name="文本框 18">
            <a:extLst>
              <a:ext uri="{FF2B5EF4-FFF2-40B4-BE49-F238E27FC236}">
                <a16:creationId xmlns:a16="http://schemas.microsoft.com/office/drawing/2014/main" id="{B435339B-E45C-BBAC-D41C-4045D47D9A57}"/>
              </a:ext>
            </a:extLst>
          </p:cNvPr>
          <p:cNvSpPr txBox="1"/>
          <p:nvPr/>
        </p:nvSpPr>
        <p:spPr>
          <a:xfrm>
            <a:off x="697132" y="4934083"/>
            <a:ext cx="2716628" cy="334194"/>
          </a:xfrm>
          <a:prstGeom prst="rect">
            <a:avLst/>
          </a:prstGeom>
          <a:noFill/>
        </p:spPr>
        <p:txBody>
          <a:bodyPr wrap="square" rtlCol="0">
            <a:spAutoFit/>
          </a:bodyPr>
          <a:lstStyle/>
          <a:p>
            <a:pPr>
              <a:lnSpc>
                <a:spcPct val="120000"/>
              </a:lnSpc>
            </a:pPr>
            <a:r>
              <a:rPr lang="zh-CN" altLang="en-US" sz="1400" b="1" dirty="0"/>
              <a:t>我们可以得到这时他的升力大小</a:t>
            </a:r>
            <a:endParaRPr lang="en-US" altLang="zh-CN" sz="1400" b="1" dirty="0"/>
          </a:p>
        </p:txBody>
      </p:sp>
      <p:cxnSp>
        <p:nvCxnSpPr>
          <p:cNvPr id="21" name="直接箭头连接符 20">
            <a:extLst>
              <a:ext uri="{FF2B5EF4-FFF2-40B4-BE49-F238E27FC236}">
                <a16:creationId xmlns:a16="http://schemas.microsoft.com/office/drawing/2014/main" id="{EE98268F-F524-7F9B-13A5-62FE01523D42}"/>
              </a:ext>
            </a:extLst>
          </p:cNvPr>
          <p:cNvCxnSpPr>
            <a:cxnSpLocks/>
          </p:cNvCxnSpPr>
          <p:nvPr/>
        </p:nvCxnSpPr>
        <p:spPr>
          <a:xfrm flipV="1">
            <a:off x="6974923" y="2030759"/>
            <a:ext cx="0" cy="1176865"/>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7" name="文本框 26">
            <a:extLst>
              <a:ext uri="{FF2B5EF4-FFF2-40B4-BE49-F238E27FC236}">
                <a16:creationId xmlns:a16="http://schemas.microsoft.com/office/drawing/2014/main" id="{BC50ADA6-D243-7390-BA66-C8B69E1702D6}"/>
              </a:ext>
            </a:extLst>
          </p:cNvPr>
          <p:cNvSpPr txBox="1"/>
          <p:nvPr/>
        </p:nvSpPr>
        <p:spPr>
          <a:xfrm>
            <a:off x="7086911" y="2123461"/>
            <a:ext cx="1255346" cy="307777"/>
          </a:xfrm>
          <a:prstGeom prst="rect">
            <a:avLst/>
          </a:prstGeom>
          <a:noFill/>
        </p:spPr>
        <p:txBody>
          <a:bodyPr wrap="square" rtlCol="0">
            <a:spAutoFit/>
          </a:bodyPr>
          <a:lstStyle/>
          <a:p>
            <a:r>
              <a:rPr lang="en-US" altLang="zh-CN" sz="1400" b="1" dirty="0"/>
              <a:t>K=7.12</a:t>
            </a:r>
            <a:endParaRPr lang="zh-CN" altLang="en-US" sz="1400" b="1" dirty="0"/>
          </a:p>
        </p:txBody>
      </p:sp>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E0353FF6-78FE-12FD-2482-F7F9C61BD2C3}"/>
                  </a:ext>
                </a:extLst>
              </p:cNvPr>
              <p:cNvSpPr txBox="1"/>
              <p:nvPr/>
            </p:nvSpPr>
            <p:spPr>
              <a:xfrm>
                <a:off x="2328015" y="5256524"/>
                <a:ext cx="2406686" cy="58092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1400" i="1" smtClean="0">
                          <a:latin typeface="Cambria Math" panose="02040503050406030204" pitchFamily="18" charset="0"/>
                        </a:rPr>
                        <m:t>𝑅</m:t>
                      </m:r>
                      <m:r>
                        <a:rPr lang="zh-CN" altLang="en-US" sz="1400" i="0">
                          <a:latin typeface="Cambria Math" panose="02040503050406030204" pitchFamily="18" charset="0"/>
                        </a:rPr>
                        <m:t>=</m:t>
                      </m:r>
                      <m:f>
                        <m:fPr>
                          <m:ctrlPr>
                            <a:rPr lang="zh-CN" altLang="en-US" sz="1400" i="1">
                              <a:latin typeface="Cambria Math" panose="02040503050406030204" pitchFamily="18" charset="0"/>
                            </a:rPr>
                          </m:ctrlPr>
                        </m:fPr>
                        <m:num>
                          <m:r>
                            <a:rPr lang="zh-CN" altLang="en-US" sz="1400" i="1">
                              <a:latin typeface="Cambria Math" panose="02040503050406030204" pitchFamily="18" charset="0"/>
                            </a:rPr>
                            <m:t>𝑉</m:t>
                          </m:r>
                        </m:num>
                        <m:den>
                          <m:r>
                            <a:rPr lang="zh-CN" altLang="en-US" sz="1400" i="1">
                              <a:latin typeface="Cambria Math" panose="02040503050406030204" pitchFamily="18" charset="0"/>
                            </a:rPr>
                            <m:t>𝑆𝐹𝐶</m:t>
                          </m:r>
                        </m:den>
                      </m:f>
                      <m:r>
                        <a:rPr lang="zh-CN" altLang="en-US" sz="1400" i="0">
                          <a:latin typeface="Cambria Math" panose="02040503050406030204" pitchFamily="18" charset="0"/>
                        </a:rPr>
                        <m:t>⋅</m:t>
                      </m:r>
                      <m:f>
                        <m:fPr>
                          <m:ctrlPr>
                            <a:rPr lang="zh-CN" altLang="en-US" sz="1400" i="1">
                              <a:latin typeface="Cambria Math" panose="02040503050406030204" pitchFamily="18" charset="0"/>
                            </a:rPr>
                          </m:ctrlPr>
                        </m:fPr>
                        <m:num>
                          <m:r>
                            <a:rPr lang="zh-CN" altLang="en-US" sz="1400" i="1">
                              <a:latin typeface="Cambria Math" panose="02040503050406030204" pitchFamily="18" charset="0"/>
                            </a:rPr>
                            <m:t>𝐿</m:t>
                          </m:r>
                        </m:num>
                        <m:den>
                          <m:r>
                            <a:rPr lang="zh-CN" altLang="en-US" sz="1400" i="1">
                              <a:latin typeface="Cambria Math" panose="02040503050406030204" pitchFamily="18" charset="0"/>
                            </a:rPr>
                            <m:t>𝐷</m:t>
                          </m:r>
                        </m:den>
                      </m:f>
                      <m:r>
                        <a:rPr lang="zh-CN" altLang="en-US" sz="1400" i="0">
                          <a:latin typeface="Cambria Math" panose="02040503050406030204" pitchFamily="18" charset="0"/>
                        </a:rPr>
                        <m:t>⋅</m:t>
                      </m:r>
                      <m:func>
                        <m:funcPr>
                          <m:ctrlPr>
                            <a:rPr lang="zh-CN" altLang="en-US" sz="1400" i="1">
                              <a:latin typeface="Cambria Math" panose="02040503050406030204" pitchFamily="18" charset="0"/>
                            </a:rPr>
                          </m:ctrlPr>
                        </m:funcPr>
                        <m:fName>
                          <m:r>
                            <m:rPr>
                              <m:sty m:val="p"/>
                            </m:rPr>
                            <a:rPr lang="zh-CN" altLang="en-US" sz="1400" i="0">
                              <a:latin typeface="Cambria Math" panose="02040503050406030204" pitchFamily="18" charset="0"/>
                            </a:rPr>
                            <m:t>ln</m:t>
                          </m:r>
                        </m:fName>
                        <m:e>
                          <m:d>
                            <m:dPr>
                              <m:ctrlPr>
                                <a:rPr lang="zh-CN" altLang="en-US" sz="1400" i="1">
                                  <a:latin typeface="Cambria Math" panose="02040503050406030204" pitchFamily="18" charset="0"/>
                                </a:rPr>
                              </m:ctrlPr>
                            </m:dPr>
                            <m:e>
                              <m:f>
                                <m:fPr>
                                  <m:ctrlPr>
                                    <a:rPr lang="zh-CN" altLang="en-US" sz="1400" i="1">
                                      <a:latin typeface="Cambria Math" panose="02040503050406030204" pitchFamily="18" charset="0"/>
                                    </a:rPr>
                                  </m:ctrlPr>
                                </m:fPr>
                                <m:num>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𝑊</m:t>
                                      </m:r>
                                    </m:e>
                                    <m:sub>
                                      <m:r>
                                        <a:rPr lang="zh-CN" altLang="en-US" sz="1400" i="1">
                                          <a:latin typeface="Cambria Math" panose="02040503050406030204" pitchFamily="18" charset="0"/>
                                        </a:rPr>
                                        <m:t>𝑖𝑛𝑖𝑡𝑖𝑎𝑙</m:t>
                                      </m:r>
                                    </m:sub>
                                  </m:sSub>
                                </m:num>
                                <m:den>
                                  <m:sSub>
                                    <m:sSubPr>
                                      <m:ctrlPr>
                                        <a:rPr lang="zh-CN" altLang="en-US" sz="1400" i="1">
                                          <a:latin typeface="Cambria Math" panose="02040503050406030204" pitchFamily="18" charset="0"/>
                                        </a:rPr>
                                      </m:ctrlPr>
                                    </m:sSubPr>
                                    <m:e>
                                      <m:r>
                                        <a:rPr lang="zh-CN" altLang="en-US" sz="1400" i="1">
                                          <a:latin typeface="Cambria Math" panose="02040503050406030204" pitchFamily="18" charset="0"/>
                                        </a:rPr>
                                        <m:t>𝑊</m:t>
                                      </m:r>
                                    </m:e>
                                    <m:sub>
                                      <m:r>
                                        <a:rPr lang="zh-CN" altLang="en-US" sz="1400" i="1">
                                          <a:latin typeface="Cambria Math" panose="02040503050406030204" pitchFamily="18" charset="0"/>
                                        </a:rPr>
                                        <m:t>𝑓𝑖𝑛𝑎𝑙</m:t>
                                      </m:r>
                                    </m:sub>
                                  </m:sSub>
                                </m:den>
                              </m:f>
                            </m:e>
                          </m:d>
                        </m:e>
                      </m:func>
                    </m:oMath>
                  </m:oMathPara>
                </a14:m>
                <a:endParaRPr lang="zh-CN" altLang="en-US" sz="1400" dirty="0">
                  <a:latin typeface="微软雅黑" panose="020B0503020204020204" pitchFamily="34" charset="-122"/>
                  <a:ea typeface="微软雅黑" panose="020B0503020204020204" pitchFamily="34" charset="-122"/>
                </a:endParaRPr>
              </a:p>
            </p:txBody>
          </p:sp>
        </mc:Choice>
        <mc:Fallback xmlns="">
          <p:sp>
            <p:nvSpPr>
              <p:cNvPr id="32" name="文本框 31">
                <a:extLst>
                  <a:ext uri="{FF2B5EF4-FFF2-40B4-BE49-F238E27FC236}">
                    <a16:creationId xmlns:a16="http://schemas.microsoft.com/office/drawing/2014/main" id="{E0353FF6-78FE-12FD-2482-F7F9C61BD2C3}"/>
                  </a:ext>
                </a:extLst>
              </p:cNvPr>
              <p:cNvSpPr txBox="1">
                <a:spLocks noRot="1" noChangeAspect="1" noMove="1" noResize="1" noEditPoints="1" noAdjustHandles="1" noChangeArrowheads="1" noChangeShapeType="1" noTextEdit="1"/>
              </p:cNvSpPr>
              <p:nvPr/>
            </p:nvSpPr>
            <p:spPr>
              <a:xfrm>
                <a:off x="2328015" y="5256524"/>
                <a:ext cx="2406686" cy="580928"/>
              </a:xfrm>
              <a:prstGeom prst="rect">
                <a:avLst/>
              </a:prstGeom>
              <a:blipFill>
                <a:blip r:embed="rId7"/>
                <a:stretch>
                  <a:fillRect/>
                </a:stretch>
              </a:blipFill>
            </p:spPr>
            <p:txBody>
              <a:bodyPr/>
              <a:lstStyle/>
              <a:p>
                <a:r>
                  <a:rPr lang="zh-CN" altLang="en-US">
                    <a:noFill/>
                  </a:rPr>
                  <a:t> </a:t>
                </a:r>
              </a:p>
            </p:txBody>
          </p:sp>
        </mc:Fallback>
      </mc:AlternateContent>
      <p:sp>
        <p:nvSpPr>
          <p:cNvPr id="33" name="文本框 32">
            <a:extLst>
              <a:ext uri="{FF2B5EF4-FFF2-40B4-BE49-F238E27FC236}">
                <a16:creationId xmlns:a16="http://schemas.microsoft.com/office/drawing/2014/main" id="{AB717199-D9FC-619B-FCF6-73A5DF4D76DC}"/>
              </a:ext>
            </a:extLst>
          </p:cNvPr>
          <p:cNvSpPr txBox="1"/>
          <p:nvPr/>
        </p:nvSpPr>
        <p:spPr>
          <a:xfrm>
            <a:off x="697132" y="5349493"/>
            <a:ext cx="8528147" cy="851259"/>
          </a:xfrm>
          <a:prstGeom prst="rect">
            <a:avLst/>
          </a:prstGeom>
          <a:noFill/>
        </p:spPr>
        <p:txBody>
          <a:bodyPr wrap="square" rtlCol="0">
            <a:spAutoFit/>
          </a:bodyPr>
          <a:lstStyle/>
          <a:p>
            <a:pPr>
              <a:lnSpc>
                <a:spcPct val="120000"/>
              </a:lnSpc>
            </a:pPr>
            <a:r>
              <a:rPr lang="zh-CN" altLang="en-US" sz="1400" b="1" dirty="0"/>
              <a:t>依据布雷盖航程公式</a:t>
            </a:r>
            <a:endParaRPr lang="en-US" altLang="zh-CN" sz="1400" b="1" dirty="0"/>
          </a:p>
          <a:p>
            <a:pPr>
              <a:lnSpc>
                <a:spcPct val="120000"/>
              </a:lnSpc>
            </a:pPr>
            <a:endParaRPr lang="en-US" altLang="zh-CN" sz="1400" b="1" dirty="0"/>
          </a:p>
          <a:p>
            <a:pPr>
              <a:lnSpc>
                <a:spcPct val="120000"/>
              </a:lnSpc>
            </a:pPr>
            <a:r>
              <a:rPr lang="zh-CN" altLang="en-US" sz="1400" b="1" dirty="0"/>
              <a:t>假设携带</a:t>
            </a:r>
            <a:r>
              <a:rPr lang="en-US" altLang="zh-CN" sz="1400" b="1" dirty="0"/>
              <a:t>10%</a:t>
            </a:r>
            <a:r>
              <a:rPr lang="zh-CN" altLang="en-US" sz="1400" b="1" dirty="0"/>
              <a:t>燃油，燃油消耗率按照</a:t>
            </a:r>
            <a:r>
              <a:rPr lang="en-US" altLang="zh-CN" sz="1400" b="1" dirty="0"/>
              <a:t>0.12kg/(</a:t>
            </a:r>
            <a:r>
              <a:rPr lang="en-US" altLang="zh-CN" sz="1400" b="1" dirty="0" err="1"/>
              <a:t>N·h</a:t>
            </a:r>
            <a:r>
              <a:rPr lang="en-US" altLang="zh-CN" sz="1400" b="1" dirty="0"/>
              <a:t>) </a:t>
            </a:r>
            <a:r>
              <a:rPr lang="zh-CN" altLang="en-US" sz="1400" b="1" dirty="0"/>
              <a:t>计算，可得最大航程为</a:t>
            </a:r>
            <a:r>
              <a:rPr lang="en-US" altLang="zh-CN" sz="1400" b="1" dirty="0"/>
              <a:t>76.8km</a:t>
            </a:r>
          </a:p>
        </p:txBody>
      </p:sp>
      <p:sp>
        <p:nvSpPr>
          <p:cNvPr id="36" name="矩形 35">
            <a:extLst>
              <a:ext uri="{FF2B5EF4-FFF2-40B4-BE49-F238E27FC236}">
                <a16:creationId xmlns:a16="http://schemas.microsoft.com/office/drawing/2014/main" id="{6CA3D17A-41A5-683D-742E-012C774F6AF5}"/>
              </a:ext>
            </a:extLst>
          </p:cNvPr>
          <p:cNvSpPr/>
          <p:nvPr/>
        </p:nvSpPr>
        <p:spPr>
          <a:xfrm>
            <a:off x="432972" y="992959"/>
            <a:ext cx="10837649" cy="2605933"/>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文本框 42">
            <a:extLst>
              <a:ext uri="{FF2B5EF4-FFF2-40B4-BE49-F238E27FC236}">
                <a16:creationId xmlns:a16="http://schemas.microsoft.com/office/drawing/2014/main" id="{246F2094-5822-C9C9-5D42-D9CBCE9B1709}"/>
              </a:ext>
            </a:extLst>
          </p:cNvPr>
          <p:cNvSpPr txBox="1"/>
          <p:nvPr/>
        </p:nvSpPr>
        <p:spPr>
          <a:xfrm>
            <a:off x="9036430" y="3137446"/>
            <a:ext cx="2176750" cy="307777"/>
          </a:xfrm>
          <a:prstGeom prst="rect">
            <a:avLst/>
          </a:prstGeom>
          <a:solidFill>
            <a:srgbClr val="0070C0"/>
          </a:solidFill>
        </p:spPr>
        <p:txBody>
          <a:bodyPr wrap="square" rtlCol="0">
            <a:spAutoFit/>
          </a:bodyPr>
          <a:lstStyle/>
          <a:p>
            <a:pPr algn="ctr"/>
            <a:r>
              <a:rPr lang="zh-CN" altLang="en-US" sz="1400" b="1" dirty="0">
                <a:solidFill>
                  <a:schemeClr val="bg1"/>
                </a:solidFill>
                <a:latin typeface="微软雅黑" panose="020B0503020204020204" pitchFamily="34" charset="-122"/>
                <a:ea typeface="微软雅黑" panose="020B0503020204020204" pitchFamily="34" charset="-122"/>
              </a:rPr>
              <a:t>气动仿真提供气动数据</a:t>
            </a:r>
          </a:p>
        </p:txBody>
      </p:sp>
      <mc:AlternateContent xmlns:mc="http://schemas.openxmlformats.org/markup-compatibility/2006" xmlns:a14="http://schemas.microsoft.com/office/drawing/2010/main">
        <mc:Choice Requires="a14">
          <p:sp>
            <p:nvSpPr>
              <p:cNvPr id="44" name="文本框 43">
                <a:extLst>
                  <a:ext uri="{FF2B5EF4-FFF2-40B4-BE49-F238E27FC236}">
                    <a16:creationId xmlns:a16="http://schemas.microsoft.com/office/drawing/2014/main" id="{80446D16-09F7-F1AB-F697-F8736BB7189B}"/>
                  </a:ext>
                </a:extLst>
              </p:cNvPr>
              <p:cNvSpPr txBox="1"/>
              <p:nvPr/>
            </p:nvSpPr>
            <p:spPr>
              <a:xfrm>
                <a:off x="3330912" y="4979525"/>
                <a:ext cx="364401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𝐿</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𝐶</m:t>
                          </m:r>
                        </m:e>
                        <m:sub>
                          <m:r>
                            <a:rPr lang="en-US" altLang="zh-CN" b="0" i="1" smtClean="0">
                              <a:latin typeface="Cambria Math" panose="02040503050406030204" pitchFamily="18" charset="0"/>
                            </a:rPr>
                            <m:t>𝐿</m:t>
                          </m:r>
                        </m:sub>
                      </m:sSub>
                      <m:r>
                        <a:rPr lang="en-US" altLang="zh-CN" b="0" i="1" smtClean="0">
                          <a:latin typeface="Cambria Math" panose="02040503050406030204" pitchFamily="18" charset="0"/>
                          <a:ea typeface="Cambria Math" panose="02040503050406030204" pitchFamily="18" charset="0"/>
                        </a:rPr>
                        <m:t>∙0.5∙</m:t>
                      </m:r>
                      <m:r>
                        <a:rPr lang="zh-CN" altLang="en-US" b="0" i="1" smtClean="0">
                          <a:latin typeface="Cambria Math" panose="02040503050406030204" pitchFamily="18" charset="0"/>
                          <a:ea typeface="Cambria Math" panose="02040503050406030204" pitchFamily="18" charset="0"/>
                        </a:rPr>
                        <m:t>𝜌</m:t>
                      </m:r>
                      <m:r>
                        <a:rPr lang="zh-CN" altLang="en-US" b="0" i="1" smtClean="0">
                          <a:latin typeface="Cambria Math" panose="02040503050406030204" pitchFamily="18" charset="0"/>
                          <a:ea typeface="Cambria Math" panose="02040503050406030204" pitchFamily="18" charset="0"/>
                        </a:rPr>
                        <m:t>∙</m:t>
                      </m:r>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𝑉</m:t>
                          </m:r>
                        </m:e>
                        <m:sup>
                          <m:r>
                            <a:rPr lang="en-US" altLang="zh-CN" b="0" i="1" smtClean="0">
                              <a:latin typeface="Cambria Math" panose="02040503050406030204" pitchFamily="18" charset="0"/>
                              <a:ea typeface="Cambria Math" panose="02040503050406030204" pitchFamily="18" charset="0"/>
                            </a:rPr>
                            <m:t>2</m:t>
                          </m:r>
                        </m:sup>
                      </m:sSup>
                      <m:r>
                        <a:rPr lang="en-US" altLang="zh-CN" b="0" i="1" smtClean="0">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𝑆</m:t>
                      </m:r>
                      <m:r>
                        <a:rPr lang="en-US" altLang="zh-CN" b="0" i="1" smtClean="0">
                          <a:latin typeface="Cambria Math" panose="02040503050406030204" pitchFamily="18" charset="0"/>
                          <a:ea typeface="Cambria Math" panose="02040503050406030204" pitchFamily="18" charset="0"/>
                        </a:rPr>
                        <m:t>=2034.335</m:t>
                      </m:r>
                      <m:r>
                        <a:rPr lang="en-US" altLang="zh-CN" b="0" i="1" smtClean="0">
                          <a:latin typeface="Cambria Math" panose="02040503050406030204" pitchFamily="18" charset="0"/>
                          <a:ea typeface="Cambria Math" panose="02040503050406030204" pitchFamily="18" charset="0"/>
                        </a:rPr>
                        <m:t>𝑁</m:t>
                      </m:r>
                    </m:oMath>
                  </m:oMathPara>
                </a14:m>
                <a:endParaRPr lang="zh-CN" altLang="en-US" dirty="0"/>
              </a:p>
            </p:txBody>
          </p:sp>
        </mc:Choice>
        <mc:Fallback xmlns="">
          <p:sp>
            <p:nvSpPr>
              <p:cNvPr id="44" name="文本框 43">
                <a:extLst>
                  <a:ext uri="{FF2B5EF4-FFF2-40B4-BE49-F238E27FC236}">
                    <a16:creationId xmlns:a16="http://schemas.microsoft.com/office/drawing/2014/main" id="{80446D16-09F7-F1AB-F697-F8736BB7189B}"/>
                  </a:ext>
                </a:extLst>
              </p:cNvPr>
              <p:cNvSpPr txBox="1">
                <a:spLocks noRot="1" noChangeAspect="1" noMove="1" noResize="1" noEditPoints="1" noAdjustHandles="1" noChangeArrowheads="1" noChangeShapeType="1" noTextEdit="1"/>
              </p:cNvSpPr>
              <p:nvPr/>
            </p:nvSpPr>
            <p:spPr>
              <a:xfrm>
                <a:off x="3330912" y="4979525"/>
                <a:ext cx="3644011" cy="276999"/>
              </a:xfrm>
              <a:prstGeom prst="rect">
                <a:avLst/>
              </a:prstGeom>
              <a:blipFill>
                <a:blip r:embed="rId8"/>
                <a:stretch>
                  <a:fillRect l="-836" t="-2222" r="-1003" b="-26667"/>
                </a:stretch>
              </a:blipFill>
            </p:spPr>
            <p:txBody>
              <a:bodyPr/>
              <a:lstStyle/>
              <a:p>
                <a:r>
                  <a:rPr lang="zh-CN" altLang="en-US">
                    <a:noFill/>
                  </a:rPr>
                  <a:t> </a:t>
                </a:r>
              </a:p>
            </p:txBody>
          </p:sp>
        </mc:Fallback>
      </mc:AlternateContent>
      <p:sp>
        <p:nvSpPr>
          <p:cNvPr id="45" name="矩形 44">
            <a:extLst>
              <a:ext uri="{FF2B5EF4-FFF2-40B4-BE49-F238E27FC236}">
                <a16:creationId xmlns:a16="http://schemas.microsoft.com/office/drawing/2014/main" id="{F591C567-52F3-73A3-9327-8EEFB4F5B96A}"/>
              </a:ext>
            </a:extLst>
          </p:cNvPr>
          <p:cNvSpPr/>
          <p:nvPr/>
        </p:nvSpPr>
        <p:spPr>
          <a:xfrm>
            <a:off x="432972" y="3978060"/>
            <a:ext cx="10837649" cy="2605933"/>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a:extLst>
              <a:ext uri="{FF2B5EF4-FFF2-40B4-BE49-F238E27FC236}">
                <a16:creationId xmlns:a16="http://schemas.microsoft.com/office/drawing/2014/main" id="{C78E1788-4A8F-A0B6-4E4E-13BE490F60A0}"/>
              </a:ext>
            </a:extLst>
          </p:cNvPr>
          <p:cNvSpPr txBox="1"/>
          <p:nvPr/>
        </p:nvSpPr>
        <p:spPr>
          <a:xfrm>
            <a:off x="9031350" y="6115223"/>
            <a:ext cx="2176750" cy="307777"/>
          </a:xfrm>
          <a:prstGeom prst="rect">
            <a:avLst/>
          </a:prstGeom>
          <a:solidFill>
            <a:srgbClr val="0070C0"/>
          </a:solidFill>
        </p:spPr>
        <p:txBody>
          <a:bodyPr wrap="square" rtlCol="0">
            <a:spAutoFit/>
          </a:bodyPr>
          <a:lstStyle/>
          <a:p>
            <a:pPr algn="ctr"/>
            <a:r>
              <a:rPr lang="zh-CN" altLang="en-US" sz="1400" b="1" dirty="0">
                <a:solidFill>
                  <a:schemeClr val="bg1"/>
                </a:solidFill>
                <a:latin typeface="微软雅黑" panose="020B0503020204020204" pitchFamily="34" charset="-122"/>
                <a:ea typeface="微软雅黑" panose="020B0503020204020204" pitchFamily="34" charset="-122"/>
              </a:rPr>
              <a:t>飞行力学进行性能计算</a:t>
            </a:r>
          </a:p>
        </p:txBody>
      </p:sp>
      <p:sp>
        <p:nvSpPr>
          <p:cNvPr id="47" name="箭头: 下 46">
            <a:extLst>
              <a:ext uri="{FF2B5EF4-FFF2-40B4-BE49-F238E27FC236}">
                <a16:creationId xmlns:a16="http://schemas.microsoft.com/office/drawing/2014/main" id="{C48F4602-4A9C-D8E7-D814-298969747D9F}"/>
              </a:ext>
            </a:extLst>
          </p:cNvPr>
          <p:cNvSpPr/>
          <p:nvPr/>
        </p:nvSpPr>
        <p:spPr>
          <a:xfrm>
            <a:off x="5261772" y="3640378"/>
            <a:ext cx="716280" cy="29972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465125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 calcmode="lin" valueType="num">
                                      <p:cBhvr additive="base">
                                        <p:cTn id="18" dur="500" fill="hold"/>
                                        <p:tgtEl>
                                          <p:spTgt spid="11"/>
                                        </p:tgtEl>
                                        <p:attrNameLst>
                                          <p:attrName>ppt_x</p:attrName>
                                        </p:attrNameLst>
                                      </p:cBhvr>
                                      <p:tavLst>
                                        <p:tav tm="0">
                                          <p:val>
                                            <p:strVal val="#ppt_x"/>
                                          </p:val>
                                        </p:tav>
                                        <p:tav tm="100000">
                                          <p:val>
                                            <p:strVal val="#ppt_x"/>
                                          </p:val>
                                        </p:tav>
                                      </p:tavLst>
                                    </p:anim>
                                    <p:anim calcmode="lin" valueType="num">
                                      <p:cBhvr additive="base">
                                        <p:cTn id="19" dur="500" fill="hold"/>
                                        <p:tgtEl>
                                          <p:spTgt spid="11"/>
                                        </p:tgtEl>
                                        <p:attrNameLst>
                                          <p:attrName>ppt_y</p:attrName>
                                        </p:attrNameLst>
                                      </p:cBhvr>
                                      <p:tavLst>
                                        <p:tav tm="0">
                                          <p:val>
                                            <p:strVal val="1+#ppt_h/2"/>
                                          </p:val>
                                        </p:tav>
                                        <p:tav tm="100000">
                                          <p:val>
                                            <p:strVal val="#ppt_y"/>
                                          </p:val>
                                        </p:tav>
                                      </p:tavLst>
                                    </p:anim>
                                  </p:childTnLst>
                                </p:cTn>
                              </p:par>
                              <p:par>
                                <p:cTn id="20" presetID="2" presetClass="entr" presetSubtype="4"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 calcmode="lin" valueType="num">
                                      <p:cBhvr additive="base">
                                        <p:cTn id="22" dur="500" fill="hold"/>
                                        <p:tgtEl>
                                          <p:spTgt spid="9"/>
                                        </p:tgtEl>
                                        <p:attrNameLst>
                                          <p:attrName>ppt_x</p:attrName>
                                        </p:attrNameLst>
                                      </p:cBhvr>
                                      <p:tavLst>
                                        <p:tav tm="0">
                                          <p:val>
                                            <p:strVal val="#ppt_x"/>
                                          </p:val>
                                        </p:tav>
                                        <p:tav tm="100000">
                                          <p:val>
                                            <p:strVal val="#ppt_x"/>
                                          </p:val>
                                        </p:tav>
                                      </p:tavLst>
                                    </p:anim>
                                    <p:anim calcmode="lin" valueType="num">
                                      <p:cBhvr additive="base">
                                        <p:cTn id="23" dur="500" fill="hold"/>
                                        <p:tgtEl>
                                          <p:spTgt spid="9"/>
                                        </p:tgtEl>
                                        <p:attrNameLst>
                                          <p:attrName>ppt_y</p:attrName>
                                        </p:attrNameLst>
                                      </p:cBhvr>
                                      <p:tavLst>
                                        <p:tav tm="0">
                                          <p:val>
                                            <p:strVal val="1+#ppt_h/2"/>
                                          </p:val>
                                        </p:tav>
                                        <p:tav tm="100000">
                                          <p:val>
                                            <p:strVal val="#ppt_y"/>
                                          </p:val>
                                        </p:tav>
                                      </p:tavLst>
                                    </p:anim>
                                  </p:childTnLst>
                                </p:cTn>
                              </p:par>
                              <p:par>
                                <p:cTn id="24" presetID="2" presetClass="entr" presetSubtype="4"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 calcmode="lin" valueType="num">
                                      <p:cBhvr additive="base">
                                        <p:cTn id="26" dur="500" fill="hold"/>
                                        <p:tgtEl>
                                          <p:spTgt spid="13"/>
                                        </p:tgtEl>
                                        <p:attrNameLst>
                                          <p:attrName>ppt_x</p:attrName>
                                        </p:attrNameLst>
                                      </p:cBhvr>
                                      <p:tavLst>
                                        <p:tav tm="0">
                                          <p:val>
                                            <p:strVal val="#ppt_x"/>
                                          </p:val>
                                        </p:tav>
                                        <p:tav tm="100000">
                                          <p:val>
                                            <p:strVal val="#ppt_x"/>
                                          </p:val>
                                        </p:tav>
                                      </p:tavLst>
                                    </p:anim>
                                    <p:anim calcmode="lin" valueType="num">
                                      <p:cBhvr additive="base">
                                        <p:cTn id="27"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15"/>
                                        </p:tgtEl>
                                        <p:attrNameLst>
                                          <p:attrName>style.visibility</p:attrName>
                                        </p:attrNameLst>
                                      </p:cBhvr>
                                      <p:to>
                                        <p:strVal val="visible"/>
                                      </p:to>
                                    </p:set>
                                    <p:anim calcmode="lin" valueType="num">
                                      <p:cBhvr additive="base">
                                        <p:cTn id="32" dur="500" fill="hold"/>
                                        <p:tgtEl>
                                          <p:spTgt spid="15"/>
                                        </p:tgtEl>
                                        <p:attrNameLst>
                                          <p:attrName>ppt_x</p:attrName>
                                        </p:attrNameLst>
                                      </p:cBhvr>
                                      <p:tavLst>
                                        <p:tav tm="0">
                                          <p:val>
                                            <p:strVal val="#ppt_x"/>
                                          </p:val>
                                        </p:tav>
                                        <p:tav tm="100000">
                                          <p:val>
                                            <p:strVal val="#ppt_x"/>
                                          </p:val>
                                        </p:tav>
                                      </p:tavLst>
                                    </p:anim>
                                    <p:anim calcmode="lin" valueType="num">
                                      <p:cBhvr additive="base">
                                        <p:cTn id="33" dur="500" fill="hold"/>
                                        <p:tgtEl>
                                          <p:spTgt spid="15"/>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 calcmode="lin" valueType="num">
                                      <p:cBhvr additive="base">
                                        <p:cTn id="36" dur="500" fill="hold"/>
                                        <p:tgtEl>
                                          <p:spTgt spid="16"/>
                                        </p:tgtEl>
                                        <p:attrNameLst>
                                          <p:attrName>ppt_x</p:attrName>
                                        </p:attrNameLst>
                                      </p:cBhvr>
                                      <p:tavLst>
                                        <p:tav tm="0">
                                          <p:val>
                                            <p:strVal val="#ppt_x"/>
                                          </p:val>
                                        </p:tav>
                                        <p:tav tm="100000">
                                          <p:val>
                                            <p:strVal val="#ppt_x"/>
                                          </p:val>
                                        </p:tav>
                                      </p:tavLst>
                                    </p:anim>
                                    <p:anim calcmode="lin" valueType="num">
                                      <p:cBhvr additive="base">
                                        <p:cTn id="37" dur="500" fill="hold"/>
                                        <p:tgtEl>
                                          <p:spTgt spid="16"/>
                                        </p:tgtEl>
                                        <p:attrNameLst>
                                          <p:attrName>ppt_y</p:attrName>
                                        </p:attrNameLst>
                                      </p:cBhvr>
                                      <p:tavLst>
                                        <p:tav tm="0">
                                          <p:val>
                                            <p:strVal val="1+#ppt_h/2"/>
                                          </p:val>
                                        </p:tav>
                                        <p:tav tm="100000">
                                          <p:val>
                                            <p:strVal val="#ppt_y"/>
                                          </p:val>
                                        </p:tav>
                                      </p:tavLst>
                                    </p:anim>
                                  </p:childTnLst>
                                </p:cTn>
                              </p:par>
                              <p:par>
                                <p:cTn id="38" presetID="2" presetClass="entr" presetSubtype="4"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 calcmode="lin" valueType="num">
                                      <p:cBhvr additive="base">
                                        <p:cTn id="40" dur="500" fill="hold"/>
                                        <p:tgtEl>
                                          <p:spTgt spid="21"/>
                                        </p:tgtEl>
                                        <p:attrNameLst>
                                          <p:attrName>ppt_x</p:attrName>
                                        </p:attrNameLst>
                                      </p:cBhvr>
                                      <p:tavLst>
                                        <p:tav tm="0">
                                          <p:val>
                                            <p:strVal val="#ppt_x"/>
                                          </p:val>
                                        </p:tav>
                                        <p:tav tm="100000">
                                          <p:val>
                                            <p:strVal val="#ppt_x"/>
                                          </p:val>
                                        </p:tav>
                                      </p:tavLst>
                                    </p:anim>
                                    <p:anim calcmode="lin" valueType="num">
                                      <p:cBhvr additive="base">
                                        <p:cTn id="41" dur="500" fill="hold"/>
                                        <p:tgtEl>
                                          <p:spTgt spid="21"/>
                                        </p:tgtEl>
                                        <p:attrNameLst>
                                          <p:attrName>ppt_y</p:attrName>
                                        </p:attrNameLst>
                                      </p:cBhvr>
                                      <p:tavLst>
                                        <p:tav tm="0">
                                          <p:val>
                                            <p:strVal val="1+#ppt_h/2"/>
                                          </p:val>
                                        </p:tav>
                                        <p:tav tm="100000">
                                          <p:val>
                                            <p:strVal val="#ppt_y"/>
                                          </p:val>
                                        </p:tav>
                                      </p:tavLst>
                                    </p:anim>
                                  </p:childTnLst>
                                </p:cTn>
                              </p:par>
                              <p:par>
                                <p:cTn id="42" presetID="2" presetClass="entr" presetSubtype="4" fill="hold" grpId="0" nodeType="withEffect">
                                  <p:stCondLst>
                                    <p:cond delay="0"/>
                                  </p:stCondLst>
                                  <p:childTnLst>
                                    <p:set>
                                      <p:cBhvr>
                                        <p:cTn id="43" dur="1" fill="hold">
                                          <p:stCondLst>
                                            <p:cond delay="0"/>
                                          </p:stCondLst>
                                        </p:cTn>
                                        <p:tgtEl>
                                          <p:spTgt spid="27"/>
                                        </p:tgtEl>
                                        <p:attrNameLst>
                                          <p:attrName>style.visibility</p:attrName>
                                        </p:attrNameLst>
                                      </p:cBhvr>
                                      <p:to>
                                        <p:strVal val="visible"/>
                                      </p:to>
                                    </p:set>
                                    <p:anim calcmode="lin" valueType="num">
                                      <p:cBhvr additive="base">
                                        <p:cTn id="44" dur="500" fill="hold"/>
                                        <p:tgtEl>
                                          <p:spTgt spid="27"/>
                                        </p:tgtEl>
                                        <p:attrNameLst>
                                          <p:attrName>ppt_x</p:attrName>
                                        </p:attrNameLst>
                                      </p:cBhvr>
                                      <p:tavLst>
                                        <p:tav tm="0">
                                          <p:val>
                                            <p:strVal val="#ppt_x"/>
                                          </p:val>
                                        </p:tav>
                                        <p:tav tm="100000">
                                          <p:val>
                                            <p:strVal val="#ppt_x"/>
                                          </p:val>
                                        </p:tav>
                                      </p:tavLst>
                                    </p:anim>
                                    <p:anim calcmode="lin" valueType="num">
                                      <p:cBhvr additive="base">
                                        <p:cTn id="45"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grpId="0" nodeType="clickEffect">
                                  <p:stCondLst>
                                    <p:cond delay="0"/>
                                  </p:stCondLst>
                                  <p:childTnLst>
                                    <p:set>
                                      <p:cBhvr>
                                        <p:cTn id="49" dur="1" fill="hold">
                                          <p:stCondLst>
                                            <p:cond delay="0"/>
                                          </p:stCondLst>
                                        </p:cTn>
                                        <p:tgtEl>
                                          <p:spTgt spid="47"/>
                                        </p:tgtEl>
                                        <p:attrNameLst>
                                          <p:attrName>style.visibility</p:attrName>
                                        </p:attrNameLst>
                                      </p:cBhvr>
                                      <p:to>
                                        <p:strVal val="visible"/>
                                      </p:to>
                                    </p:set>
                                    <p:anim calcmode="lin" valueType="num">
                                      <p:cBhvr additive="base">
                                        <p:cTn id="50" dur="500" fill="hold"/>
                                        <p:tgtEl>
                                          <p:spTgt spid="47"/>
                                        </p:tgtEl>
                                        <p:attrNameLst>
                                          <p:attrName>ppt_x</p:attrName>
                                        </p:attrNameLst>
                                      </p:cBhvr>
                                      <p:tavLst>
                                        <p:tav tm="0">
                                          <p:val>
                                            <p:strVal val="#ppt_x"/>
                                          </p:val>
                                        </p:tav>
                                        <p:tav tm="100000">
                                          <p:val>
                                            <p:strVal val="#ppt_x"/>
                                          </p:val>
                                        </p:tav>
                                      </p:tavLst>
                                    </p:anim>
                                    <p:anim calcmode="lin" valueType="num">
                                      <p:cBhvr additive="base">
                                        <p:cTn id="51" dur="500" fill="hold"/>
                                        <p:tgtEl>
                                          <p:spTgt spid="47"/>
                                        </p:tgtEl>
                                        <p:attrNameLst>
                                          <p:attrName>ppt_y</p:attrName>
                                        </p:attrNameLst>
                                      </p:cBhvr>
                                      <p:tavLst>
                                        <p:tav tm="0">
                                          <p:val>
                                            <p:strVal val="1+#ppt_h/2"/>
                                          </p:val>
                                        </p:tav>
                                        <p:tav tm="100000">
                                          <p:val>
                                            <p:strVal val="#ppt_y"/>
                                          </p:val>
                                        </p:tav>
                                      </p:tavLst>
                                    </p:anim>
                                  </p:childTnLst>
                                </p:cTn>
                              </p:par>
                              <p:par>
                                <p:cTn id="52" presetID="2" presetClass="entr" presetSubtype="4" fill="hold" grpId="0" nodeType="withEffect">
                                  <p:stCondLst>
                                    <p:cond delay="0"/>
                                  </p:stCondLst>
                                  <p:childTnLst>
                                    <p:set>
                                      <p:cBhvr>
                                        <p:cTn id="53" dur="1" fill="hold">
                                          <p:stCondLst>
                                            <p:cond delay="0"/>
                                          </p:stCondLst>
                                        </p:cTn>
                                        <p:tgtEl>
                                          <p:spTgt spid="17"/>
                                        </p:tgtEl>
                                        <p:attrNameLst>
                                          <p:attrName>style.visibility</p:attrName>
                                        </p:attrNameLst>
                                      </p:cBhvr>
                                      <p:to>
                                        <p:strVal val="visible"/>
                                      </p:to>
                                    </p:set>
                                    <p:anim calcmode="lin" valueType="num">
                                      <p:cBhvr additive="base">
                                        <p:cTn id="54" dur="500" fill="hold"/>
                                        <p:tgtEl>
                                          <p:spTgt spid="17"/>
                                        </p:tgtEl>
                                        <p:attrNameLst>
                                          <p:attrName>ppt_x</p:attrName>
                                        </p:attrNameLst>
                                      </p:cBhvr>
                                      <p:tavLst>
                                        <p:tav tm="0">
                                          <p:val>
                                            <p:strVal val="#ppt_x"/>
                                          </p:val>
                                        </p:tav>
                                        <p:tav tm="100000">
                                          <p:val>
                                            <p:strVal val="#ppt_x"/>
                                          </p:val>
                                        </p:tav>
                                      </p:tavLst>
                                    </p:anim>
                                    <p:anim calcmode="lin" valueType="num">
                                      <p:cBhvr additive="base">
                                        <p:cTn id="55"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42" presetClass="entr" presetSubtype="0" fill="hold" grpId="0" nodeType="clickEffect">
                                  <p:stCondLst>
                                    <p:cond delay="0"/>
                                  </p:stCondLst>
                                  <p:childTnLst>
                                    <p:set>
                                      <p:cBhvr>
                                        <p:cTn id="59" dur="1" fill="hold">
                                          <p:stCondLst>
                                            <p:cond delay="0"/>
                                          </p:stCondLst>
                                        </p:cTn>
                                        <p:tgtEl>
                                          <p:spTgt spid="19"/>
                                        </p:tgtEl>
                                        <p:attrNameLst>
                                          <p:attrName>style.visibility</p:attrName>
                                        </p:attrNameLst>
                                      </p:cBhvr>
                                      <p:to>
                                        <p:strVal val="visible"/>
                                      </p:to>
                                    </p:set>
                                    <p:animEffect transition="in" filter="fade">
                                      <p:cBhvr>
                                        <p:cTn id="60" dur="1000"/>
                                        <p:tgtEl>
                                          <p:spTgt spid="19"/>
                                        </p:tgtEl>
                                      </p:cBhvr>
                                    </p:animEffect>
                                    <p:anim calcmode="lin" valueType="num">
                                      <p:cBhvr>
                                        <p:cTn id="61" dur="1000" fill="hold"/>
                                        <p:tgtEl>
                                          <p:spTgt spid="19"/>
                                        </p:tgtEl>
                                        <p:attrNameLst>
                                          <p:attrName>ppt_x</p:attrName>
                                        </p:attrNameLst>
                                      </p:cBhvr>
                                      <p:tavLst>
                                        <p:tav tm="0">
                                          <p:val>
                                            <p:strVal val="#ppt_x"/>
                                          </p:val>
                                        </p:tav>
                                        <p:tav tm="100000">
                                          <p:val>
                                            <p:strVal val="#ppt_x"/>
                                          </p:val>
                                        </p:tav>
                                      </p:tavLst>
                                    </p:anim>
                                    <p:anim calcmode="lin" valueType="num">
                                      <p:cBhvr>
                                        <p:cTn id="62" dur="1000" fill="hold"/>
                                        <p:tgtEl>
                                          <p:spTgt spid="19"/>
                                        </p:tgtEl>
                                        <p:attrNameLst>
                                          <p:attrName>ppt_y</p:attrName>
                                        </p:attrNameLst>
                                      </p:cBhvr>
                                      <p:tavLst>
                                        <p:tav tm="0">
                                          <p:val>
                                            <p:strVal val="#ppt_y+.1"/>
                                          </p:val>
                                        </p:tav>
                                        <p:tav tm="100000">
                                          <p:val>
                                            <p:strVal val="#ppt_y"/>
                                          </p:val>
                                        </p:tav>
                                      </p:tavLst>
                                    </p:anim>
                                  </p:childTnLst>
                                </p:cTn>
                              </p:par>
                              <p:par>
                                <p:cTn id="63" presetID="42" presetClass="entr" presetSubtype="0" fill="hold" grpId="0" nodeType="withEffect">
                                  <p:stCondLst>
                                    <p:cond delay="0"/>
                                  </p:stCondLst>
                                  <p:childTnLst>
                                    <p:set>
                                      <p:cBhvr>
                                        <p:cTn id="64" dur="1" fill="hold">
                                          <p:stCondLst>
                                            <p:cond delay="0"/>
                                          </p:stCondLst>
                                        </p:cTn>
                                        <p:tgtEl>
                                          <p:spTgt spid="44"/>
                                        </p:tgtEl>
                                        <p:attrNameLst>
                                          <p:attrName>style.visibility</p:attrName>
                                        </p:attrNameLst>
                                      </p:cBhvr>
                                      <p:to>
                                        <p:strVal val="visible"/>
                                      </p:to>
                                    </p:set>
                                    <p:animEffect transition="in" filter="fade">
                                      <p:cBhvr>
                                        <p:cTn id="65" dur="1000"/>
                                        <p:tgtEl>
                                          <p:spTgt spid="44"/>
                                        </p:tgtEl>
                                      </p:cBhvr>
                                    </p:animEffect>
                                    <p:anim calcmode="lin" valueType="num">
                                      <p:cBhvr>
                                        <p:cTn id="66" dur="1000" fill="hold"/>
                                        <p:tgtEl>
                                          <p:spTgt spid="44"/>
                                        </p:tgtEl>
                                        <p:attrNameLst>
                                          <p:attrName>ppt_x</p:attrName>
                                        </p:attrNameLst>
                                      </p:cBhvr>
                                      <p:tavLst>
                                        <p:tav tm="0">
                                          <p:val>
                                            <p:strVal val="#ppt_x"/>
                                          </p:val>
                                        </p:tav>
                                        <p:tav tm="100000">
                                          <p:val>
                                            <p:strVal val="#ppt_x"/>
                                          </p:val>
                                        </p:tav>
                                      </p:tavLst>
                                    </p:anim>
                                    <p:anim calcmode="lin" valueType="num">
                                      <p:cBhvr>
                                        <p:cTn id="67" dur="1000" fill="hold"/>
                                        <p:tgtEl>
                                          <p:spTgt spid="44"/>
                                        </p:tgtEl>
                                        <p:attrNameLst>
                                          <p:attrName>ppt_y</p:attrName>
                                        </p:attrNameLst>
                                      </p:cBhvr>
                                      <p:tavLst>
                                        <p:tav tm="0">
                                          <p:val>
                                            <p:strVal val="#ppt_y+.1"/>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32"/>
                                        </p:tgtEl>
                                        <p:attrNameLst>
                                          <p:attrName>style.visibility</p:attrName>
                                        </p:attrNameLst>
                                      </p:cBhvr>
                                      <p:to>
                                        <p:strVal val="visible"/>
                                      </p:to>
                                    </p:set>
                                    <p:animEffect transition="in" filter="fade">
                                      <p:cBhvr>
                                        <p:cTn id="72" dur="500"/>
                                        <p:tgtEl>
                                          <p:spTgt spid="32"/>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33"/>
                                        </p:tgtEl>
                                        <p:attrNameLst>
                                          <p:attrName>style.visibility</p:attrName>
                                        </p:attrNameLst>
                                      </p:cBhvr>
                                      <p:to>
                                        <p:strVal val="visible"/>
                                      </p:to>
                                    </p:set>
                                    <p:animEffect transition="in" filter="fade">
                                      <p:cBhvr>
                                        <p:cTn id="75" dur="500"/>
                                        <p:tgtEl>
                                          <p:spTgt spid="33"/>
                                        </p:tgtEl>
                                      </p:cBhvr>
                                    </p:animEffect>
                                  </p:childTnLst>
                                </p:cTn>
                              </p:par>
                            </p:childTnLst>
                          </p:cTn>
                        </p:par>
                      </p:childTnLst>
                    </p:cTn>
                  </p:par>
                  <p:par>
                    <p:cTn id="76" fill="hold">
                      <p:stCondLst>
                        <p:cond delay="indefinite"/>
                      </p:stCondLst>
                      <p:childTnLst>
                        <p:par>
                          <p:cTn id="77" fill="hold">
                            <p:stCondLst>
                              <p:cond delay="0"/>
                            </p:stCondLst>
                            <p:childTnLst>
                              <p:par>
                                <p:cTn id="78" presetID="42" presetClass="entr" presetSubtype="0" fill="hold" grpId="0" nodeType="clickEffect">
                                  <p:stCondLst>
                                    <p:cond delay="0"/>
                                  </p:stCondLst>
                                  <p:childTnLst>
                                    <p:set>
                                      <p:cBhvr>
                                        <p:cTn id="79" dur="1" fill="hold">
                                          <p:stCondLst>
                                            <p:cond delay="0"/>
                                          </p:stCondLst>
                                        </p:cTn>
                                        <p:tgtEl>
                                          <p:spTgt spid="36"/>
                                        </p:tgtEl>
                                        <p:attrNameLst>
                                          <p:attrName>style.visibility</p:attrName>
                                        </p:attrNameLst>
                                      </p:cBhvr>
                                      <p:to>
                                        <p:strVal val="visible"/>
                                      </p:to>
                                    </p:set>
                                    <p:animEffect transition="in" filter="fade">
                                      <p:cBhvr>
                                        <p:cTn id="80" dur="1000"/>
                                        <p:tgtEl>
                                          <p:spTgt spid="36"/>
                                        </p:tgtEl>
                                      </p:cBhvr>
                                    </p:animEffect>
                                    <p:anim calcmode="lin" valueType="num">
                                      <p:cBhvr>
                                        <p:cTn id="81" dur="1000" fill="hold"/>
                                        <p:tgtEl>
                                          <p:spTgt spid="36"/>
                                        </p:tgtEl>
                                        <p:attrNameLst>
                                          <p:attrName>ppt_x</p:attrName>
                                        </p:attrNameLst>
                                      </p:cBhvr>
                                      <p:tavLst>
                                        <p:tav tm="0">
                                          <p:val>
                                            <p:strVal val="#ppt_x"/>
                                          </p:val>
                                        </p:tav>
                                        <p:tav tm="100000">
                                          <p:val>
                                            <p:strVal val="#ppt_x"/>
                                          </p:val>
                                        </p:tav>
                                      </p:tavLst>
                                    </p:anim>
                                    <p:anim calcmode="lin" valueType="num">
                                      <p:cBhvr>
                                        <p:cTn id="82" dur="1000" fill="hold"/>
                                        <p:tgtEl>
                                          <p:spTgt spid="36"/>
                                        </p:tgtEl>
                                        <p:attrNameLst>
                                          <p:attrName>ppt_y</p:attrName>
                                        </p:attrNameLst>
                                      </p:cBhvr>
                                      <p:tavLst>
                                        <p:tav tm="0">
                                          <p:val>
                                            <p:strVal val="#ppt_y+.1"/>
                                          </p:val>
                                        </p:tav>
                                        <p:tav tm="100000">
                                          <p:val>
                                            <p:strVal val="#ppt_y"/>
                                          </p:val>
                                        </p:tav>
                                      </p:tavLst>
                                    </p:anim>
                                  </p:childTnLst>
                                </p:cTn>
                              </p:par>
                              <p:par>
                                <p:cTn id="83" presetID="42" presetClass="entr" presetSubtype="0" fill="hold" grpId="0" nodeType="withEffect">
                                  <p:stCondLst>
                                    <p:cond delay="0"/>
                                  </p:stCondLst>
                                  <p:childTnLst>
                                    <p:set>
                                      <p:cBhvr>
                                        <p:cTn id="84" dur="1" fill="hold">
                                          <p:stCondLst>
                                            <p:cond delay="0"/>
                                          </p:stCondLst>
                                        </p:cTn>
                                        <p:tgtEl>
                                          <p:spTgt spid="43"/>
                                        </p:tgtEl>
                                        <p:attrNameLst>
                                          <p:attrName>style.visibility</p:attrName>
                                        </p:attrNameLst>
                                      </p:cBhvr>
                                      <p:to>
                                        <p:strVal val="visible"/>
                                      </p:to>
                                    </p:set>
                                    <p:animEffect transition="in" filter="fade">
                                      <p:cBhvr>
                                        <p:cTn id="85" dur="1000"/>
                                        <p:tgtEl>
                                          <p:spTgt spid="43"/>
                                        </p:tgtEl>
                                      </p:cBhvr>
                                    </p:animEffect>
                                    <p:anim calcmode="lin" valueType="num">
                                      <p:cBhvr>
                                        <p:cTn id="86" dur="1000" fill="hold"/>
                                        <p:tgtEl>
                                          <p:spTgt spid="43"/>
                                        </p:tgtEl>
                                        <p:attrNameLst>
                                          <p:attrName>ppt_x</p:attrName>
                                        </p:attrNameLst>
                                      </p:cBhvr>
                                      <p:tavLst>
                                        <p:tav tm="0">
                                          <p:val>
                                            <p:strVal val="#ppt_x"/>
                                          </p:val>
                                        </p:tav>
                                        <p:tav tm="100000">
                                          <p:val>
                                            <p:strVal val="#ppt_x"/>
                                          </p:val>
                                        </p:tav>
                                      </p:tavLst>
                                    </p:anim>
                                    <p:anim calcmode="lin" valueType="num">
                                      <p:cBhvr>
                                        <p:cTn id="87" dur="1000" fill="hold"/>
                                        <p:tgtEl>
                                          <p:spTgt spid="43"/>
                                        </p:tgtEl>
                                        <p:attrNameLst>
                                          <p:attrName>ppt_y</p:attrName>
                                        </p:attrNameLst>
                                      </p:cBhvr>
                                      <p:tavLst>
                                        <p:tav tm="0">
                                          <p:val>
                                            <p:strVal val="#ppt_y+.1"/>
                                          </p:val>
                                        </p:tav>
                                        <p:tav tm="100000">
                                          <p:val>
                                            <p:strVal val="#ppt_y"/>
                                          </p:val>
                                        </p:tav>
                                      </p:tavLst>
                                    </p:anim>
                                  </p:childTnLst>
                                </p:cTn>
                              </p:par>
                              <p:par>
                                <p:cTn id="88" presetID="42" presetClass="entr" presetSubtype="0" fill="hold" grpId="0" nodeType="withEffect">
                                  <p:stCondLst>
                                    <p:cond delay="0"/>
                                  </p:stCondLst>
                                  <p:childTnLst>
                                    <p:set>
                                      <p:cBhvr>
                                        <p:cTn id="89" dur="1" fill="hold">
                                          <p:stCondLst>
                                            <p:cond delay="0"/>
                                          </p:stCondLst>
                                        </p:cTn>
                                        <p:tgtEl>
                                          <p:spTgt spid="46"/>
                                        </p:tgtEl>
                                        <p:attrNameLst>
                                          <p:attrName>style.visibility</p:attrName>
                                        </p:attrNameLst>
                                      </p:cBhvr>
                                      <p:to>
                                        <p:strVal val="visible"/>
                                      </p:to>
                                    </p:set>
                                    <p:animEffect transition="in" filter="fade">
                                      <p:cBhvr>
                                        <p:cTn id="90" dur="1000"/>
                                        <p:tgtEl>
                                          <p:spTgt spid="46"/>
                                        </p:tgtEl>
                                      </p:cBhvr>
                                    </p:animEffect>
                                    <p:anim calcmode="lin" valueType="num">
                                      <p:cBhvr>
                                        <p:cTn id="91" dur="1000" fill="hold"/>
                                        <p:tgtEl>
                                          <p:spTgt spid="46"/>
                                        </p:tgtEl>
                                        <p:attrNameLst>
                                          <p:attrName>ppt_x</p:attrName>
                                        </p:attrNameLst>
                                      </p:cBhvr>
                                      <p:tavLst>
                                        <p:tav tm="0">
                                          <p:val>
                                            <p:strVal val="#ppt_x"/>
                                          </p:val>
                                        </p:tav>
                                        <p:tav tm="100000">
                                          <p:val>
                                            <p:strVal val="#ppt_x"/>
                                          </p:val>
                                        </p:tav>
                                      </p:tavLst>
                                    </p:anim>
                                    <p:anim calcmode="lin" valueType="num">
                                      <p:cBhvr>
                                        <p:cTn id="92" dur="1000" fill="hold"/>
                                        <p:tgtEl>
                                          <p:spTgt spid="46"/>
                                        </p:tgtEl>
                                        <p:attrNameLst>
                                          <p:attrName>ppt_y</p:attrName>
                                        </p:attrNameLst>
                                      </p:cBhvr>
                                      <p:tavLst>
                                        <p:tav tm="0">
                                          <p:val>
                                            <p:strVal val="#ppt_y+.1"/>
                                          </p:val>
                                        </p:tav>
                                        <p:tav tm="100000">
                                          <p:val>
                                            <p:strVal val="#ppt_y"/>
                                          </p:val>
                                        </p:tav>
                                      </p:tavLst>
                                    </p:anim>
                                  </p:childTnLst>
                                </p:cTn>
                              </p:par>
                              <p:par>
                                <p:cTn id="93" presetID="42" presetClass="entr" presetSubtype="0" fill="hold" grpId="0" nodeType="withEffect">
                                  <p:stCondLst>
                                    <p:cond delay="0"/>
                                  </p:stCondLst>
                                  <p:childTnLst>
                                    <p:set>
                                      <p:cBhvr>
                                        <p:cTn id="94" dur="1" fill="hold">
                                          <p:stCondLst>
                                            <p:cond delay="0"/>
                                          </p:stCondLst>
                                        </p:cTn>
                                        <p:tgtEl>
                                          <p:spTgt spid="45"/>
                                        </p:tgtEl>
                                        <p:attrNameLst>
                                          <p:attrName>style.visibility</p:attrName>
                                        </p:attrNameLst>
                                      </p:cBhvr>
                                      <p:to>
                                        <p:strVal val="visible"/>
                                      </p:to>
                                    </p:set>
                                    <p:animEffect transition="in" filter="fade">
                                      <p:cBhvr>
                                        <p:cTn id="95" dur="1000"/>
                                        <p:tgtEl>
                                          <p:spTgt spid="45"/>
                                        </p:tgtEl>
                                      </p:cBhvr>
                                    </p:animEffect>
                                    <p:anim calcmode="lin" valueType="num">
                                      <p:cBhvr>
                                        <p:cTn id="96" dur="1000" fill="hold"/>
                                        <p:tgtEl>
                                          <p:spTgt spid="45"/>
                                        </p:tgtEl>
                                        <p:attrNameLst>
                                          <p:attrName>ppt_x</p:attrName>
                                        </p:attrNameLst>
                                      </p:cBhvr>
                                      <p:tavLst>
                                        <p:tav tm="0">
                                          <p:val>
                                            <p:strVal val="#ppt_x"/>
                                          </p:val>
                                        </p:tav>
                                        <p:tav tm="100000">
                                          <p:val>
                                            <p:strVal val="#ppt_x"/>
                                          </p:val>
                                        </p:tav>
                                      </p:tavLst>
                                    </p:anim>
                                    <p:anim calcmode="lin" valueType="num">
                                      <p:cBhvr>
                                        <p:cTn id="97" dur="1000" fill="hold"/>
                                        <p:tgtEl>
                                          <p:spTgt spid="4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3" grpId="0"/>
      <p:bldP spid="16" grpId="0"/>
      <p:bldP spid="17" grpId="0"/>
      <p:bldP spid="19" grpId="0"/>
      <p:bldP spid="27" grpId="0"/>
      <p:bldP spid="32" grpId="0"/>
      <p:bldP spid="33" grpId="0"/>
      <p:bldP spid="36" grpId="0" animBg="1"/>
      <p:bldP spid="43" grpId="0" animBg="1"/>
      <p:bldP spid="44" grpId="0"/>
      <p:bldP spid="45" grpId="0" animBg="1"/>
      <p:bldP spid="46" grpId="0" animBg="1"/>
      <p:bldP spid="4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EDAB0-D46F-39AC-6AB0-0C9187C14A26}"/>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333830F8-F423-7608-A09C-7B1314FE1129}"/>
              </a:ext>
            </a:extLst>
          </p:cNvPr>
          <p:cNvPicPr>
            <a:picLocks noChangeAspect="1"/>
          </p:cNvPicPr>
          <p:nvPr/>
        </p:nvPicPr>
        <p:blipFill>
          <a:blip r:embed="rId3"/>
          <a:stretch>
            <a:fillRect/>
          </a:stretch>
        </p:blipFill>
        <p:spPr>
          <a:xfrm>
            <a:off x="11419972" y="99001"/>
            <a:ext cx="513560" cy="513560"/>
          </a:xfrm>
          <a:prstGeom prst="rect">
            <a:avLst/>
          </a:prstGeom>
        </p:spPr>
      </p:pic>
      <p:sp>
        <p:nvSpPr>
          <p:cNvPr id="5" name="文本框 4">
            <a:extLst>
              <a:ext uri="{FF2B5EF4-FFF2-40B4-BE49-F238E27FC236}">
                <a16:creationId xmlns:a16="http://schemas.microsoft.com/office/drawing/2014/main" id="{6D048612-3D84-FBAF-3B8F-764A7C214A4C}"/>
              </a:ext>
            </a:extLst>
          </p:cNvPr>
          <p:cNvSpPr txBox="1"/>
          <p:nvPr/>
        </p:nvSpPr>
        <p:spPr>
          <a:xfrm>
            <a:off x="10280223" y="274007"/>
            <a:ext cx="1653309" cy="338554"/>
          </a:xfrm>
          <a:prstGeom prst="rect">
            <a:avLst/>
          </a:prstGeom>
          <a:noFill/>
        </p:spPr>
        <p:txBody>
          <a:bodyPr wrap="square" rtlCol="0">
            <a:spAutoFit/>
          </a:bodyPr>
          <a:lstStyle/>
          <a:p>
            <a:r>
              <a:rPr lang="zh-CN" altLang="en-US" sz="1600" b="1" dirty="0">
                <a:solidFill>
                  <a:srgbClr val="0070C0"/>
                </a:solidFill>
                <a:latin typeface="微软雅黑" panose="020B0503020204020204" pitchFamily="34" charset="-122"/>
                <a:ea typeface="微软雅黑" panose="020B0503020204020204" pitchFamily="34" charset="-122"/>
              </a:rPr>
              <a:t>酸沙柠檬</a:t>
            </a:r>
          </a:p>
        </p:txBody>
      </p:sp>
      <p:sp>
        <p:nvSpPr>
          <p:cNvPr id="6" name="矩形 5">
            <a:extLst>
              <a:ext uri="{FF2B5EF4-FFF2-40B4-BE49-F238E27FC236}">
                <a16:creationId xmlns:a16="http://schemas.microsoft.com/office/drawing/2014/main" id="{02326880-DD81-0EFE-81DE-FA0325566B24}"/>
              </a:ext>
            </a:extLst>
          </p:cNvPr>
          <p:cNvSpPr/>
          <p:nvPr/>
        </p:nvSpPr>
        <p:spPr>
          <a:xfrm>
            <a:off x="9517283" y="704440"/>
            <a:ext cx="2416249" cy="83127"/>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a:extLst>
              <a:ext uri="{FF2B5EF4-FFF2-40B4-BE49-F238E27FC236}">
                <a16:creationId xmlns:a16="http://schemas.microsoft.com/office/drawing/2014/main" id="{3E873947-D39A-E32D-CD73-DF54CBB0CB7D}"/>
              </a:ext>
            </a:extLst>
          </p:cNvPr>
          <p:cNvSpPr txBox="1"/>
          <p:nvPr/>
        </p:nvSpPr>
        <p:spPr>
          <a:xfrm>
            <a:off x="432973" y="443284"/>
            <a:ext cx="2844800" cy="369332"/>
          </a:xfrm>
          <a:prstGeom prst="rect">
            <a:avLst/>
          </a:prstGeom>
          <a:solidFill>
            <a:srgbClr val="0070C0"/>
          </a:solidFill>
        </p:spPr>
        <p:txBody>
          <a:bodyPr wrap="square" rtlCol="0">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rPr>
              <a:t>操纵与机动能力</a:t>
            </a:r>
          </a:p>
        </p:txBody>
      </p:sp>
      <p:pic>
        <p:nvPicPr>
          <p:cNvPr id="2" name="图片 1">
            <a:extLst>
              <a:ext uri="{FF2B5EF4-FFF2-40B4-BE49-F238E27FC236}">
                <a16:creationId xmlns:a16="http://schemas.microsoft.com/office/drawing/2014/main" id="{1B1E29F2-94D0-05CE-D824-93A52C5AA3F8}"/>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7726" b="96615" l="4102" r="95752">
                        <a14:foregroundMark x1="7861" y1="24219" x2="7861" y2="24219"/>
                        <a14:foregroundMark x1="4199" y1="24653" x2="4199" y2="24653"/>
                        <a14:foregroundMark x1="77783" y1="90885" x2="77783" y2="90885"/>
                        <a14:foregroundMark x1="79932" y1="96701" x2="79932" y2="96701"/>
                        <a14:foregroundMark x1="93115" y1="70226" x2="93115" y2="70226"/>
                        <a14:foregroundMark x1="94336" y1="42708" x2="94336" y2="42708"/>
                        <a14:foregroundMark x1="95752" y1="25694" x2="95752" y2="25694"/>
                        <a14:foregroundMark x1="78711" y1="7726" x2="78711" y2="7726"/>
                        <a14:foregroundMark x1="69531" y1="15451" x2="69531" y2="15451"/>
                        <a14:foregroundMark x1="71289" y1="13889" x2="71289" y2="13889"/>
                        <a14:foregroundMark x1="74658" y1="11198" x2="74658" y2="11198"/>
                        <a14:foregroundMark x1="73682" y1="11892" x2="73682" y2="11892"/>
                        <a14:foregroundMark x1="72705" y1="12500" x2="72705" y2="12500"/>
                        <a14:foregroundMark x1="72998" y1="12326" x2="72998" y2="12326"/>
                        <a14:foregroundMark x1="68604" y1="16146" x2="68604" y2="16146"/>
                        <a14:foregroundMark x1="67480" y1="16927" x2="67480" y2="16927"/>
                        <a14:foregroundMark x1="68164" y1="17014" x2="68164" y2="17014"/>
                        <a14:foregroundMark x1="66748" y1="18142" x2="66748" y2="18142"/>
                        <a14:foregroundMark x1="65674" y1="19097" x2="65674" y2="19097"/>
                        <a14:foregroundMark x1="64941" y1="19531" x2="64941" y2="19531"/>
                        <a14:foregroundMark x1="64063" y1="20486" x2="64063" y2="20486"/>
                        <a14:foregroundMark x1="62402" y1="21875" x2="62402" y2="21875"/>
                        <a14:foregroundMark x1="61084" y1="23090" x2="61084" y2="23090"/>
                        <a14:foregroundMark x1="60010" y1="24132" x2="60010" y2="24132"/>
                        <a14:foregroundMark x1="59473" y1="24479" x2="59473" y2="24479"/>
                        <a14:backgroundMark x1="49023" y1="66406" x2="49023" y2="66406"/>
                      </a14:backgroundRemoval>
                    </a14:imgEffect>
                  </a14:imgLayer>
                </a14:imgProps>
              </a:ext>
            </a:extLst>
          </a:blip>
          <a:stretch>
            <a:fillRect/>
          </a:stretch>
        </p:blipFill>
        <p:spPr>
          <a:xfrm>
            <a:off x="204103" y="2345290"/>
            <a:ext cx="5042327" cy="2836309"/>
          </a:xfrm>
          <a:prstGeom prst="rect">
            <a:avLst/>
          </a:prstGeom>
        </p:spPr>
      </p:pic>
      <p:sp>
        <p:nvSpPr>
          <p:cNvPr id="3" name="椭圆 2">
            <a:extLst>
              <a:ext uri="{FF2B5EF4-FFF2-40B4-BE49-F238E27FC236}">
                <a16:creationId xmlns:a16="http://schemas.microsoft.com/office/drawing/2014/main" id="{6A7B1DFA-96B3-F96E-59C4-4C56392E01D2}"/>
              </a:ext>
            </a:extLst>
          </p:cNvPr>
          <p:cNvSpPr/>
          <p:nvPr/>
        </p:nvSpPr>
        <p:spPr>
          <a:xfrm rot="20702945">
            <a:off x="1752600" y="2407920"/>
            <a:ext cx="1163320" cy="701040"/>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a:extLst>
              <a:ext uri="{FF2B5EF4-FFF2-40B4-BE49-F238E27FC236}">
                <a16:creationId xmlns:a16="http://schemas.microsoft.com/office/drawing/2014/main" id="{B2864240-EA63-6236-2FA9-ECAD3B75AF0A}"/>
              </a:ext>
            </a:extLst>
          </p:cNvPr>
          <p:cNvSpPr/>
          <p:nvPr/>
        </p:nvSpPr>
        <p:spPr>
          <a:xfrm rot="19858459">
            <a:off x="3023893" y="2598964"/>
            <a:ext cx="1163320" cy="454607"/>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a:extLst>
              <a:ext uri="{FF2B5EF4-FFF2-40B4-BE49-F238E27FC236}">
                <a16:creationId xmlns:a16="http://schemas.microsoft.com/office/drawing/2014/main" id="{4E568AA0-078C-A6C5-C9B7-16BA9F5B7E57}"/>
              </a:ext>
            </a:extLst>
          </p:cNvPr>
          <p:cNvSpPr/>
          <p:nvPr/>
        </p:nvSpPr>
        <p:spPr>
          <a:xfrm rot="19858459">
            <a:off x="4153778" y="3012113"/>
            <a:ext cx="1163320" cy="454607"/>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a:extLst>
              <a:ext uri="{FF2B5EF4-FFF2-40B4-BE49-F238E27FC236}">
                <a16:creationId xmlns:a16="http://schemas.microsoft.com/office/drawing/2014/main" id="{B096459C-CBD1-C8F9-9217-026BBD678712}"/>
              </a:ext>
            </a:extLst>
          </p:cNvPr>
          <p:cNvSpPr/>
          <p:nvPr/>
        </p:nvSpPr>
        <p:spPr>
          <a:xfrm rot="19858459">
            <a:off x="3948453" y="4509044"/>
            <a:ext cx="1163320" cy="454607"/>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箭头连接符 10">
            <a:extLst>
              <a:ext uri="{FF2B5EF4-FFF2-40B4-BE49-F238E27FC236}">
                <a16:creationId xmlns:a16="http://schemas.microsoft.com/office/drawing/2014/main" id="{027833A0-CB6B-06D2-2797-9C5530979EB6}"/>
              </a:ext>
            </a:extLst>
          </p:cNvPr>
          <p:cNvCxnSpPr>
            <a:cxnSpLocks/>
            <a:stCxn id="3" idx="0"/>
            <a:endCxn id="14" idx="2"/>
          </p:cNvCxnSpPr>
          <p:nvPr/>
        </p:nvCxnSpPr>
        <p:spPr>
          <a:xfrm flipV="1">
            <a:off x="2243829" y="1932141"/>
            <a:ext cx="321864" cy="487645"/>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6849C839-D8AC-8C3F-0ECD-8DEE92A340BA}"/>
              </a:ext>
            </a:extLst>
          </p:cNvPr>
          <p:cNvSpPr txBox="1"/>
          <p:nvPr/>
        </p:nvSpPr>
        <p:spPr>
          <a:xfrm>
            <a:off x="1938020" y="1624364"/>
            <a:ext cx="1255346" cy="307777"/>
          </a:xfrm>
          <a:prstGeom prst="rect">
            <a:avLst/>
          </a:prstGeom>
          <a:noFill/>
        </p:spPr>
        <p:txBody>
          <a:bodyPr wrap="square" rtlCol="0">
            <a:spAutoFit/>
          </a:bodyPr>
          <a:lstStyle/>
          <a:p>
            <a:r>
              <a:rPr lang="zh-CN" altLang="en-US" sz="1400" b="1" dirty="0"/>
              <a:t>鸭翼（升降舵）</a:t>
            </a:r>
          </a:p>
        </p:txBody>
      </p:sp>
      <p:cxnSp>
        <p:nvCxnSpPr>
          <p:cNvPr id="18" name="直接箭头连接符 17">
            <a:extLst>
              <a:ext uri="{FF2B5EF4-FFF2-40B4-BE49-F238E27FC236}">
                <a16:creationId xmlns:a16="http://schemas.microsoft.com/office/drawing/2014/main" id="{8EC03D25-D179-3A90-ADBC-C8F110108D52}"/>
              </a:ext>
            </a:extLst>
          </p:cNvPr>
          <p:cNvCxnSpPr>
            <a:cxnSpLocks/>
            <a:stCxn id="7" idx="7"/>
            <a:endCxn id="19" idx="2"/>
          </p:cNvCxnSpPr>
          <p:nvPr/>
        </p:nvCxnSpPr>
        <p:spPr>
          <a:xfrm flipV="1">
            <a:off x="3887206" y="2256244"/>
            <a:ext cx="216838" cy="229922"/>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21437278-2635-4234-4EBC-970689563B53}"/>
              </a:ext>
            </a:extLst>
          </p:cNvPr>
          <p:cNvSpPr txBox="1"/>
          <p:nvPr/>
        </p:nvSpPr>
        <p:spPr>
          <a:xfrm>
            <a:off x="3193366" y="1948467"/>
            <a:ext cx="1821356" cy="307777"/>
          </a:xfrm>
          <a:prstGeom prst="rect">
            <a:avLst/>
          </a:prstGeom>
          <a:noFill/>
        </p:spPr>
        <p:txBody>
          <a:bodyPr wrap="square" rtlCol="0">
            <a:spAutoFit/>
          </a:bodyPr>
          <a:lstStyle/>
          <a:p>
            <a:r>
              <a:rPr lang="zh-CN" altLang="en-US" sz="1400" b="1" dirty="0"/>
              <a:t>前缘缝翼（增升装置）</a:t>
            </a:r>
          </a:p>
        </p:txBody>
      </p:sp>
      <p:cxnSp>
        <p:nvCxnSpPr>
          <p:cNvPr id="22" name="直接箭头连接符 21">
            <a:extLst>
              <a:ext uri="{FF2B5EF4-FFF2-40B4-BE49-F238E27FC236}">
                <a16:creationId xmlns:a16="http://schemas.microsoft.com/office/drawing/2014/main" id="{FC7D3B35-69FD-6793-3B46-7442B82E3982}"/>
              </a:ext>
            </a:extLst>
          </p:cNvPr>
          <p:cNvCxnSpPr>
            <a:cxnSpLocks/>
            <a:stCxn id="8" idx="6"/>
            <a:endCxn id="23" idx="2"/>
          </p:cNvCxnSpPr>
          <p:nvPr/>
        </p:nvCxnSpPr>
        <p:spPr>
          <a:xfrm flipV="1">
            <a:off x="5244043" y="2758439"/>
            <a:ext cx="204931" cy="198756"/>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3" name="文本框 22">
            <a:extLst>
              <a:ext uri="{FF2B5EF4-FFF2-40B4-BE49-F238E27FC236}">
                <a16:creationId xmlns:a16="http://schemas.microsoft.com/office/drawing/2014/main" id="{22D3293B-F6B9-D193-E58C-AB1BBB708E89}"/>
              </a:ext>
            </a:extLst>
          </p:cNvPr>
          <p:cNvSpPr txBox="1"/>
          <p:nvPr/>
        </p:nvSpPr>
        <p:spPr>
          <a:xfrm>
            <a:off x="4627880" y="2450662"/>
            <a:ext cx="1642188" cy="307777"/>
          </a:xfrm>
          <a:prstGeom prst="rect">
            <a:avLst/>
          </a:prstGeom>
          <a:noFill/>
        </p:spPr>
        <p:txBody>
          <a:bodyPr wrap="square" rtlCol="0">
            <a:spAutoFit/>
          </a:bodyPr>
          <a:lstStyle/>
          <a:p>
            <a:r>
              <a:rPr lang="zh-CN" altLang="en-US" sz="1400" b="1" dirty="0"/>
              <a:t>全动垂尾（方向舵）</a:t>
            </a:r>
          </a:p>
        </p:txBody>
      </p:sp>
      <p:cxnSp>
        <p:nvCxnSpPr>
          <p:cNvPr id="27" name="直接箭头连接符 26">
            <a:extLst>
              <a:ext uri="{FF2B5EF4-FFF2-40B4-BE49-F238E27FC236}">
                <a16:creationId xmlns:a16="http://schemas.microsoft.com/office/drawing/2014/main" id="{BFA6A628-8ED5-3AC1-BFCA-069F0666E006}"/>
              </a:ext>
            </a:extLst>
          </p:cNvPr>
          <p:cNvCxnSpPr>
            <a:cxnSpLocks/>
            <a:stCxn id="9" idx="3"/>
            <a:endCxn id="28" idx="0"/>
          </p:cNvCxnSpPr>
          <p:nvPr/>
        </p:nvCxnSpPr>
        <p:spPr>
          <a:xfrm flipH="1">
            <a:off x="4164690" y="5076449"/>
            <a:ext cx="83770" cy="271435"/>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8" name="文本框 27">
            <a:extLst>
              <a:ext uri="{FF2B5EF4-FFF2-40B4-BE49-F238E27FC236}">
                <a16:creationId xmlns:a16="http://schemas.microsoft.com/office/drawing/2014/main" id="{5C374EB0-3197-5DBB-DB74-9ED9D177C761}"/>
              </a:ext>
            </a:extLst>
          </p:cNvPr>
          <p:cNvSpPr txBox="1"/>
          <p:nvPr/>
        </p:nvSpPr>
        <p:spPr>
          <a:xfrm>
            <a:off x="3887206" y="5347884"/>
            <a:ext cx="554967" cy="307777"/>
          </a:xfrm>
          <a:prstGeom prst="rect">
            <a:avLst/>
          </a:prstGeom>
          <a:noFill/>
        </p:spPr>
        <p:txBody>
          <a:bodyPr wrap="square" rtlCol="0">
            <a:spAutoFit/>
          </a:bodyPr>
          <a:lstStyle/>
          <a:p>
            <a:r>
              <a:rPr lang="zh-CN" altLang="en-US" sz="1400" b="1" dirty="0"/>
              <a:t>副翼</a:t>
            </a:r>
          </a:p>
        </p:txBody>
      </p:sp>
      <p:pic>
        <p:nvPicPr>
          <p:cNvPr id="40" name="图片 39">
            <a:extLst>
              <a:ext uri="{FF2B5EF4-FFF2-40B4-BE49-F238E27FC236}">
                <a16:creationId xmlns:a16="http://schemas.microsoft.com/office/drawing/2014/main" id="{494FB8A2-A90F-8BFF-9149-CDD82F2AEB9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007003" y="1427680"/>
            <a:ext cx="4052871" cy="2976679"/>
          </a:xfrm>
          <a:prstGeom prst="rect">
            <a:avLst/>
          </a:prstGeom>
        </p:spPr>
      </p:pic>
      <p:sp>
        <p:nvSpPr>
          <p:cNvPr id="41" name="文本框 40">
            <a:extLst>
              <a:ext uri="{FF2B5EF4-FFF2-40B4-BE49-F238E27FC236}">
                <a16:creationId xmlns:a16="http://schemas.microsoft.com/office/drawing/2014/main" id="{E94D8D62-6A65-DC19-B834-F913972ED4BA}"/>
              </a:ext>
            </a:extLst>
          </p:cNvPr>
          <p:cNvSpPr txBox="1"/>
          <p:nvPr/>
        </p:nvSpPr>
        <p:spPr>
          <a:xfrm>
            <a:off x="1271745" y="5821946"/>
            <a:ext cx="2844800" cy="369332"/>
          </a:xfrm>
          <a:prstGeom prst="rect">
            <a:avLst/>
          </a:prstGeom>
          <a:noFill/>
        </p:spPr>
        <p:txBody>
          <a:bodyPr wrap="square" rtlCol="0">
            <a:spAutoFit/>
          </a:bodyPr>
          <a:lstStyle/>
          <a:p>
            <a:pPr algn="ctr"/>
            <a:r>
              <a:rPr lang="zh-CN" altLang="en-US" dirty="0">
                <a:latin typeface="微软雅黑" panose="020B0503020204020204" pitchFamily="34" charset="-122"/>
                <a:ea typeface="微软雅黑" panose="020B0503020204020204" pitchFamily="34" charset="-122"/>
              </a:rPr>
              <a:t>主要操纵舵面介绍</a:t>
            </a:r>
          </a:p>
        </p:txBody>
      </p:sp>
      <p:sp>
        <p:nvSpPr>
          <p:cNvPr id="42" name="流程图: 接点 41">
            <a:extLst>
              <a:ext uri="{FF2B5EF4-FFF2-40B4-BE49-F238E27FC236}">
                <a16:creationId xmlns:a16="http://schemas.microsoft.com/office/drawing/2014/main" id="{DBCD8C71-453E-EF1C-BA3E-3EA49032451A}"/>
              </a:ext>
            </a:extLst>
          </p:cNvPr>
          <p:cNvSpPr/>
          <p:nvPr/>
        </p:nvSpPr>
        <p:spPr>
          <a:xfrm>
            <a:off x="9534090" y="3085104"/>
            <a:ext cx="163512" cy="155435"/>
          </a:xfrm>
          <a:prstGeom prst="flowChartConnector">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3" name="直接箭头连接符 42">
            <a:extLst>
              <a:ext uri="{FF2B5EF4-FFF2-40B4-BE49-F238E27FC236}">
                <a16:creationId xmlns:a16="http://schemas.microsoft.com/office/drawing/2014/main" id="{23F70AB2-82EF-F05E-B1FF-311752F8EB19}"/>
              </a:ext>
            </a:extLst>
          </p:cNvPr>
          <p:cNvCxnSpPr>
            <a:cxnSpLocks/>
          </p:cNvCxnSpPr>
          <p:nvPr/>
        </p:nvCxnSpPr>
        <p:spPr>
          <a:xfrm>
            <a:off x="9615846" y="3183994"/>
            <a:ext cx="0" cy="961604"/>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5" name="文本框 44">
            <a:extLst>
              <a:ext uri="{FF2B5EF4-FFF2-40B4-BE49-F238E27FC236}">
                <a16:creationId xmlns:a16="http://schemas.microsoft.com/office/drawing/2014/main" id="{5B1A678A-7246-EE50-C3D7-7D3DAD6414ED}"/>
              </a:ext>
            </a:extLst>
          </p:cNvPr>
          <p:cNvSpPr txBox="1"/>
          <p:nvPr/>
        </p:nvSpPr>
        <p:spPr>
          <a:xfrm>
            <a:off x="8978282" y="4379851"/>
            <a:ext cx="1237786" cy="307777"/>
          </a:xfrm>
          <a:prstGeom prst="rect">
            <a:avLst/>
          </a:prstGeom>
          <a:noFill/>
        </p:spPr>
        <p:txBody>
          <a:bodyPr wrap="square" rtlCol="0">
            <a:spAutoFit/>
          </a:bodyPr>
          <a:lstStyle/>
          <a:p>
            <a:r>
              <a:rPr lang="zh-CN" altLang="en-US" sz="1400" b="1" dirty="0"/>
              <a:t>平衡迎角</a:t>
            </a:r>
            <a:r>
              <a:rPr lang="en-US" altLang="zh-CN" sz="1400" b="1" dirty="0"/>
              <a:t>3.4°</a:t>
            </a:r>
            <a:endParaRPr lang="zh-CN" altLang="en-US" sz="1400" b="1" dirty="0"/>
          </a:p>
        </p:txBody>
      </p:sp>
      <p:cxnSp>
        <p:nvCxnSpPr>
          <p:cNvPr id="46" name="直接箭头连接符 45">
            <a:extLst>
              <a:ext uri="{FF2B5EF4-FFF2-40B4-BE49-F238E27FC236}">
                <a16:creationId xmlns:a16="http://schemas.microsoft.com/office/drawing/2014/main" id="{BD072063-CDD6-1443-CF4B-E3E0444E64CC}"/>
              </a:ext>
            </a:extLst>
          </p:cNvPr>
          <p:cNvCxnSpPr>
            <a:cxnSpLocks/>
          </p:cNvCxnSpPr>
          <p:nvPr/>
        </p:nvCxnSpPr>
        <p:spPr>
          <a:xfrm flipH="1">
            <a:off x="9106417" y="3168558"/>
            <a:ext cx="532033"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 name="文本框 49">
            <a:extLst>
              <a:ext uri="{FF2B5EF4-FFF2-40B4-BE49-F238E27FC236}">
                <a16:creationId xmlns:a16="http://schemas.microsoft.com/office/drawing/2014/main" id="{D2E32F15-022D-07D5-08E8-13745AD957A5}"/>
              </a:ext>
            </a:extLst>
          </p:cNvPr>
          <p:cNvSpPr txBox="1"/>
          <p:nvPr/>
        </p:nvSpPr>
        <p:spPr>
          <a:xfrm>
            <a:off x="7404033" y="3183994"/>
            <a:ext cx="1556298" cy="523220"/>
          </a:xfrm>
          <a:prstGeom prst="rect">
            <a:avLst/>
          </a:prstGeom>
          <a:noFill/>
        </p:spPr>
        <p:txBody>
          <a:bodyPr wrap="square" rtlCol="0">
            <a:spAutoFit/>
          </a:bodyPr>
          <a:lstStyle/>
          <a:p>
            <a:r>
              <a:rPr lang="zh-CN" altLang="en-US" sz="1400" b="1" dirty="0"/>
              <a:t>升降舵下偏</a:t>
            </a:r>
            <a:r>
              <a:rPr lang="en-US" altLang="zh-CN" sz="1400" b="1" dirty="0"/>
              <a:t>10°</a:t>
            </a:r>
            <a:r>
              <a:rPr lang="zh-CN" altLang="en-US" sz="1400" b="1" dirty="0"/>
              <a:t>，此时平衡迎角</a:t>
            </a:r>
            <a:r>
              <a:rPr lang="en-US" altLang="zh-CN" sz="1400" b="1" dirty="0"/>
              <a:t>1.6°</a:t>
            </a:r>
            <a:endParaRPr lang="zh-CN" altLang="en-US" sz="1400" b="1" dirty="0"/>
          </a:p>
        </p:txBody>
      </p:sp>
      <p:sp>
        <p:nvSpPr>
          <p:cNvPr id="51" name="文本框 50">
            <a:extLst>
              <a:ext uri="{FF2B5EF4-FFF2-40B4-BE49-F238E27FC236}">
                <a16:creationId xmlns:a16="http://schemas.microsoft.com/office/drawing/2014/main" id="{E97D0304-9D76-215E-6F6D-6621192605AD}"/>
              </a:ext>
            </a:extLst>
          </p:cNvPr>
          <p:cNvSpPr txBox="1"/>
          <p:nvPr/>
        </p:nvSpPr>
        <p:spPr>
          <a:xfrm>
            <a:off x="5684567" y="5193995"/>
            <a:ext cx="5272993" cy="307777"/>
          </a:xfrm>
          <a:prstGeom prst="rect">
            <a:avLst/>
          </a:prstGeom>
          <a:noFill/>
        </p:spPr>
        <p:txBody>
          <a:bodyPr wrap="square" rtlCol="0">
            <a:spAutoFit/>
          </a:bodyPr>
          <a:lstStyle/>
          <a:p>
            <a:r>
              <a:rPr lang="zh-CN" altLang="en-US" sz="1400" b="1" dirty="0"/>
              <a:t>定义一个参数表征舵面的操纵能力的参数</a:t>
            </a:r>
            <a:r>
              <a:rPr lang="en-US" altLang="zh-CN" sz="1400" b="1" dirty="0"/>
              <a:t>——</a:t>
            </a:r>
            <a:r>
              <a:rPr lang="zh-CN" altLang="en-US" sz="1400" b="1" dirty="0"/>
              <a:t>操纵比（稳态响应）</a:t>
            </a:r>
          </a:p>
        </p:txBody>
      </p:sp>
      <mc:AlternateContent xmlns:mc="http://schemas.openxmlformats.org/markup-compatibility/2006" xmlns:a14="http://schemas.microsoft.com/office/drawing/2010/main">
        <mc:Choice Requires="a14">
          <p:sp>
            <p:nvSpPr>
              <p:cNvPr id="53" name="文本框 52">
                <a:extLst>
                  <a:ext uri="{FF2B5EF4-FFF2-40B4-BE49-F238E27FC236}">
                    <a16:creationId xmlns:a16="http://schemas.microsoft.com/office/drawing/2014/main" id="{F45ACEC4-0365-56E9-F3B1-615365C76BFB}"/>
                  </a:ext>
                </a:extLst>
              </p:cNvPr>
              <p:cNvSpPr txBox="1"/>
              <p:nvPr/>
            </p:nvSpPr>
            <p:spPr>
              <a:xfrm>
                <a:off x="6966727" y="5711082"/>
                <a:ext cx="2405706" cy="59105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𝑅</m:t>
                      </m:r>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f>
                            <m:fPr>
                              <m:type m:val="lin"/>
                              <m:ctrlPr>
                                <a:rPr lang="en-US" altLang="zh-CN" b="0" i="1" smtClean="0">
                                  <a:latin typeface="Cambria Math" panose="02040503050406030204" pitchFamily="18" charset="0"/>
                                </a:rPr>
                              </m:ctrlPr>
                            </m:fPr>
                            <m:num>
                              <m:r>
                                <a:rPr lang="zh-CN" altLang="en-US"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𝐶</m:t>
                                  </m:r>
                                </m:e>
                                <m:sub>
                                  <m:r>
                                    <a:rPr lang="en-US" altLang="zh-CN" b="0" i="1" smtClean="0">
                                      <a:latin typeface="Cambria Math" panose="02040503050406030204" pitchFamily="18" charset="0"/>
                                    </a:rPr>
                                    <m:t>𝑚</m:t>
                                  </m:r>
                                </m:sub>
                              </m:sSub>
                            </m:num>
                            <m:den>
                              <m:r>
                                <a:rPr lang="zh-CN" altLang="en-US"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zh-CN" altLang="en-US" b="0" i="1" smtClean="0">
                                      <a:latin typeface="Cambria Math" panose="02040503050406030204" pitchFamily="18" charset="0"/>
                                    </a:rPr>
                                    <m:t>𝛿</m:t>
                                  </m:r>
                                </m:e>
                                <m:sub>
                                  <m:r>
                                    <a:rPr lang="en-US" altLang="zh-CN" b="0" i="1" smtClean="0">
                                      <a:latin typeface="Cambria Math" panose="02040503050406030204" pitchFamily="18" charset="0"/>
                                    </a:rPr>
                                    <m:t>𝑒</m:t>
                                  </m:r>
                                </m:sub>
                              </m:sSub>
                            </m:den>
                          </m:f>
                        </m:num>
                        <m:den>
                          <m:f>
                            <m:fPr>
                              <m:type m:val="lin"/>
                              <m:ctrlPr>
                                <a:rPr lang="en-US" altLang="zh-CN" i="1">
                                  <a:latin typeface="Cambria Math" panose="02040503050406030204" pitchFamily="18" charset="0"/>
                                </a:rPr>
                              </m:ctrlPr>
                            </m:fPr>
                            <m:num>
                              <m:r>
                                <a:rPr lang="zh-CN" altLang="en-US"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𝐶</m:t>
                                  </m:r>
                                </m:e>
                                <m:sub>
                                  <m:r>
                                    <a:rPr lang="en-US" altLang="zh-CN" i="1">
                                      <a:latin typeface="Cambria Math" panose="02040503050406030204" pitchFamily="18" charset="0"/>
                                    </a:rPr>
                                    <m:t>𝑚</m:t>
                                  </m:r>
                                </m:sub>
                              </m:sSub>
                            </m:num>
                            <m:den>
                              <m:r>
                                <a:rPr lang="zh-CN" altLang="en-US" i="1">
                                  <a:latin typeface="Cambria Math" panose="02040503050406030204" pitchFamily="18" charset="0"/>
                                </a:rPr>
                                <m:t>𝜕</m:t>
                              </m:r>
                              <m:r>
                                <a:rPr lang="zh-CN" altLang="en-US" i="1" smtClean="0">
                                  <a:latin typeface="Cambria Math" panose="02040503050406030204" pitchFamily="18" charset="0"/>
                                </a:rPr>
                                <m:t>𝛼</m:t>
                              </m:r>
                            </m:den>
                          </m:f>
                        </m:den>
                      </m:f>
                      <m:r>
                        <a:rPr lang="zh-CN" altLang="en-US" i="1">
                          <a:latin typeface="Cambria Math" panose="02040503050406030204" pitchFamily="18" charset="0"/>
                        </a:rPr>
                        <m:t>=</m:t>
                      </m:r>
                      <m:r>
                        <a:rPr lang="en-US" altLang="zh-CN" b="0" i="1" smtClean="0">
                          <a:latin typeface="Cambria Math" panose="02040503050406030204" pitchFamily="18" charset="0"/>
                        </a:rPr>
                        <m:t>0.18</m:t>
                      </m:r>
                    </m:oMath>
                  </m:oMathPara>
                </a14:m>
                <a:endParaRPr lang="zh-CN" altLang="en-US" dirty="0"/>
              </a:p>
            </p:txBody>
          </p:sp>
        </mc:Choice>
        <mc:Fallback xmlns="">
          <p:sp>
            <p:nvSpPr>
              <p:cNvPr id="53" name="文本框 52">
                <a:extLst>
                  <a:ext uri="{FF2B5EF4-FFF2-40B4-BE49-F238E27FC236}">
                    <a16:creationId xmlns:a16="http://schemas.microsoft.com/office/drawing/2014/main" id="{F45ACEC4-0365-56E9-F3B1-615365C76BFB}"/>
                  </a:ext>
                </a:extLst>
              </p:cNvPr>
              <p:cNvSpPr txBox="1">
                <a:spLocks noRot="1" noChangeAspect="1" noMove="1" noResize="1" noEditPoints="1" noAdjustHandles="1" noChangeArrowheads="1" noChangeShapeType="1" noTextEdit="1"/>
              </p:cNvSpPr>
              <p:nvPr/>
            </p:nvSpPr>
            <p:spPr>
              <a:xfrm>
                <a:off x="6966727" y="5711082"/>
                <a:ext cx="2405706" cy="591059"/>
              </a:xfrm>
              <a:prstGeom prst="rect">
                <a:avLst/>
              </a:prstGeom>
              <a:blipFill>
                <a:blip r:embed="rId7"/>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275366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 calcmode="lin" valueType="num">
                                      <p:cBhvr additive="base">
                                        <p:cTn id="18" dur="500" fill="hold"/>
                                        <p:tgtEl>
                                          <p:spTgt spid="8"/>
                                        </p:tgtEl>
                                        <p:attrNameLst>
                                          <p:attrName>ppt_x</p:attrName>
                                        </p:attrNameLst>
                                      </p:cBhvr>
                                      <p:tavLst>
                                        <p:tav tm="0">
                                          <p:val>
                                            <p:strVal val="#ppt_x"/>
                                          </p:val>
                                        </p:tav>
                                        <p:tav tm="100000">
                                          <p:val>
                                            <p:strVal val="#ppt_x"/>
                                          </p:val>
                                        </p:tav>
                                      </p:tavLst>
                                    </p:anim>
                                    <p:anim calcmode="lin" valueType="num">
                                      <p:cBhvr additive="base">
                                        <p:cTn id="19" dur="500" fill="hold"/>
                                        <p:tgtEl>
                                          <p:spTgt spid="8"/>
                                        </p:tgtEl>
                                        <p:attrNameLst>
                                          <p:attrName>ppt_y</p:attrName>
                                        </p:attrNameLst>
                                      </p:cBhvr>
                                      <p:tavLst>
                                        <p:tav tm="0">
                                          <p:val>
                                            <p:strVal val="1+#ppt_h/2"/>
                                          </p:val>
                                        </p:tav>
                                        <p:tav tm="100000">
                                          <p:val>
                                            <p:strVal val="#ppt_y"/>
                                          </p:val>
                                        </p:tav>
                                      </p:tavLst>
                                    </p:anim>
                                  </p:childTnLst>
                                </p:cTn>
                              </p:par>
                              <p:par>
                                <p:cTn id="20" presetID="2" presetClass="entr" presetSubtype="4" fill="hold" nodeType="withEffect">
                                  <p:stCondLst>
                                    <p:cond delay="0"/>
                                  </p:stCondLst>
                                  <p:childTnLst>
                                    <p:set>
                                      <p:cBhvr>
                                        <p:cTn id="21" dur="1" fill="hold">
                                          <p:stCondLst>
                                            <p:cond delay="0"/>
                                          </p:stCondLst>
                                        </p:cTn>
                                        <p:tgtEl>
                                          <p:spTgt spid="22"/>
                                        </p:tgtEl>
                                        <p:attrNameLst>
                                          <p:attrName>style.visibility</p:attrName>
                                        </p:attrNameLst>
                                      </p:cBhvr>
                                      <p:to>
                                        <p:strVal val="visible"/>
                                      </p:to>
                                    </p:set>
                                    <p:anim calcmode="lin" valueType="num">
                                      <p:cBhvr additive="base">
                                        <p:cTn id="22" dur="500" fill="hold"/>
                                        <p:tgtEl>
                                          <p:spTgt spid="22"/>
                                        </p:tgtEl>
                                        <p:attrNameLst>
                                          <p:attrName>ppt_x</p:attrName>
                                        </p:attrNameLst>
                                      </p:cBhvr>
                                      <p:tavLst>
                                        <p:tav tm="0">
                                          <p:val>
                                            <p:strVal val="#ppt_x"/>
                                          </p:val>
                                        </p:tav>
                                        <p:tav tm="100000">
                                          <p:val>
                                            <p:strVal val="#ppt_x"/>
                                          </p:val>
                                        </p:tav>
                                      </p:tavLst>
                                    </p:anim>
                                    <p:anim calcmode="lin" valueType="num">
                                      <p:cBhvr additive="base">
                                        <p:cTn id="23" dur="500" fill="hold"/>
                                        <p:tgtEl>
                                          <p:spTgt spid="22"/>
                                        </p:tgtEl>
                                        <p:attrNameLst>
                                          <p:attrName>ppt_y</p:attrName>
                                        </p:attrNameLst>
                                      </p:cBhvr>
                                      <p:tavLst>
                                        <p:tav tm="0">
                                          <p:val>
                                            <p:strVal val="1+#ppt_h/2"/>
                                          </p:val>
                                        </p:tav>
                                        <p:tav tm="100000">
                                          <p:val>
                                            <p:strVal val="#ppt_y"/>
                                          </p:val>
                                        </p:tav>
                                      </p:tavLst>
                                    </p:anim>
                                  </p:childTnLst>
                                </p:cTn>
                              </p:par>
                              <p:par>
                                <p:cTn id="24" presetID="2" presetClass="entr" presetSubtype="4" fill="hold" grpId="0" nodeType="withEffect">
                                  <p:stCondLst>
                                    <p:cond delay="0"/>
                                  </p:stCondLst>
                                  <p:childTnLst>
                                    <p:set>
                                      <p:cBhvr>
                                        <p:cTn id="25" dur="1" fill="hold">
                                          <p:stCondLst>
                                            <p:cond delay="0"/>
                                          </p:stCondLst>
                                        </p:cTn>
                                        <p:tgtEl>
                                          <p:spTgt spid="23"/>
                                        </p:tgtEl>
                                        <p:attrNameLst>
                                          <p:attrName>style.visibility</p:attrName>
                                        </p:attrNameLst>
                                      </p:cBhvr>
                                      <p:to>
                                        <p:strVal val="visible"/>
                                      </p:to>
                                    </p:set>
                                    <p:anim calcmode="lin" valueType="num">
                                      <p:cBhvr additive="base">
                                        <p:cTn id="26" dur="500" fill="hold"/>
                                        <p:tgtEl>
                                          <p:spTgt spid="23"/>
                                        </p:tgtEl>
                                        <p:attrNameLst>
                                          <p:attrName>ppt_x</p:attrName>
                                        </p:attrNameLst>
                                      </p:cBhvr>
                                      <p:tavLst>
                                        <p:tav tm="0">
                                          <p:val>
                                            <p:strVal val="#ppt_x"/>
                                          </p:val>
                                        </p:tav>
                                        <p:tav tm="100000">
                                          <p:val>
                                            <p:strVal val="#ppt_x"/>
                                          </p:val>
                                        </p:tav>
                                      </p:tavLst>
                                    </p:anim>
                                    <p:anim calcmode="lin" valueType="num">
                                      <p:cBhvr additive="base">
                                        <p:cTn id="27"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down)">
                                      <p:cBhvr>
                                        <p:cTn id="32" dur="500"/>
                                        <p:tgtEl>
                                          <p:spTgt spid="9"/>
                                        </p:tgtEl>
                                      </p:cBhvr>
                                    </p:animEffect>
                                  </p:childTnLst>
                                </p:cTn>
                              </p:par>
                              <p:par>
                                <p:cTn id="33" presetID="22" presetClass="entr" presetSubtype="4" fill="hold" nodeType="with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wipe(down)">
                                      <p:cBhvr>
                                        <p:cTn id="35" dur="500"/>
                                        <p:tgtEl>
                                          <p:spTgt spid="27"/>
                                        </p:tgtEl>
                                      </p:cBhvr>
                                    </p:animEffect>
                                  </p:childTnLst>
                                </p:cTn>
                              </p:par>
                              <p:par>
                                <p:cTn id="36" presetID="22" presetClass="entr" presetSubtype="4" fill="hold" grpId="0" nodeType="withEffect">
                                  <p:stCondLst>
                                    <p:cond delay="0"/>
                                  </p:stCondLst>
                                  <p:childTnLst>
                                    <p:set>
                                      <p:cBhvr>
                                        <p:cTn id="37" dur="1" fill="hold">
                                          <p:stCondLst>
                                            <p:cond delay="0"/>
                                          </p:stCondLst>
                                        </p:cTn>
                                        <p:tgtEl>
                                          <p:spTgt spid="28"/>
                                        </p:tgtEl>
                                        <p:attrNameLst>
                                          <p:attrName>style.visibility</p:attrName>
                                        </p:attrNameLst>
                                      </p:cBhvr>
                                      <p:to>
                                        <p:strVal val="visible"/>
                                      </p:to>
                                    </p:set>
                                    <p:animEffect transition="in" filter="wipe(down)">
                                      <p:cBhvr>
                                        <p:cTn id="38" dur="500"/>
                                        <p:tgtEl>
                                          <p:spTgt spid="28"/>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anim calcmode="lin" valueType="num">
                                      <p:cBhvr additive="base">
                                        <p:cTn id="43" dur="500" fill="hold"/>
                                        <p:tgtEl>
                                          <p:spTgt spid="7"/>
                                        </p:tgtEl>
                                        <p:attrNameLst>
                                          <p:attrName>ppt_x</p:attrName>
                                        </p:attrNameLst>
                                      </p:cBhvr>
                                      <p:tavLst>
                                        <p:tav tm="0">
                                          <p:val>
                                            <p:strVal val="#ppt_x"/>
                                          </p:val>
                                        </p:tav>
                                        <p:tav tm="100000">
                                          <p:val>
                                            <p:strVal val="#ppt_x"/>
                                          </p:val>
                                        </p:tav>
                                      </p:tavLst>
                                    </p:anim>
                                    <p:anim calcmode="lin" valueType="num">
                                      <p:cBhvr additive="base">
                                        <p:cTn id="44" dur="500" fill="hold"/>
                                        <p:tgtEl>
                                          <p:spTgt spid="7"/>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18"/>
                                        </p:tgtEl>
                                        <p:attrNameLst>
                                          <p:attrName>style.visibility</p:attrName>
                                        </p:attrNameLst>
                                      </p:cBhvr>
                                      <p:to>
                                        <p:strVal val="visible"/>
                                      </p:to>
                                    </p:set>
                                    <p:anim calcmode="lin" valueType="num">
                                      <p:cBhvr additive="base">
                                        <p:cTn id="47" dur="500" fill="hold"/>
                                        <p:tgtEl>
                                          <p:spTgt spid="18"/>
                                        </p:tgtEl>
                                        <p:attrNameLst>
                                          <p:attrName>ppt_x</p:attrName>
                                        </p:attrNameLst>
                                      </p:cBhvr>
                                      <p:tavLst>
                                        <p:tav tm="0">
                                          <p:val>
                                            <p:strVal val="#ppt_x"/>
                                          </p:val>
                                        </p:tav>
                                        <p:tav tm="100000">
                                          <p:val>
                                            <p:strVal val="#ppt_x"/>
                                          </p:val>
                                        </p:tav>
                                      </p:tavLst>
                                    </p:anim>
                                    <p:anim calcmode="lin" valueType="num">
                                      <p:cBhvr additive="base">
                                        <p:cTn id="48" dur="500" fill="hold"/>
                                        <p:tgtEl>
                                          <p:spTgt spid="18"/>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9"/>
                                        </p:tgtEl>
                                        <p:attrNameLst>
                                          <p:attrName>style.visibility</p:attrName>
                                        </p:attrNameLst>
                                      </p:cBhvr>
                                      <p:to>
                                        <p:strVal val="visible"/>
                                      </p:to>
                                    </p:set>
                                    <p:anim calcmode="lin" valueType="num">
                                      <p:cBhvr additive="base">
                                        <p:cTn id="51" dur="500" fill="hold"/>
                                        <p:tgtEl>
                                          <p:spTgt spid="19"/>
                                        </p:tgtEl>
                                        <p:attrNameLst>
                                          <p:attrName>ppt_x</p:attrName>
                                        </p:attrNameLst>
                                      </p:cBhvr>
                                      <p:tavLst>
                                        <p:tav tm="0">
                                          <p:val>
                                            <p:strVal val="#ppt_x"/>
                                          </p:val>
                                        </p:tav>
                                        <p:tav tm="100000">
                                          <p:val>
                                            <p:strVal val="#ppt_x"/>
                                          </p:val>
                                        </p:tav>
                                      </p:tavLst>
                                    </p:anim>
                                    <p:anim calcmode="lin" valueType="num">
                                      <p:cBhvr additive="base">
                                        <p:cTn id="52"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nodeType="clickEffect">
                                  <p:stCondLst>
                                    <p:cond delay="0"/>
                                  </p:stCondLst>
                                  <p:childTnLst>
                                    <p:set>
                                      <p:cBhvr>
                                        <p:cTn id="56" dur="1" fill="hold">
                                          <p:stCondLst>
                                            <p:cond delay="0"/>
                                          </p:stCondLst>
                                        </p:cTn>
                                        <p:tgtEl>
                                          <p:spTgt spid="40"/>
                                        </p:tgtEl>
                                        <p:attrNameLst>
                                          <p:attrName>style.visibility</p:attrName>
                                        </p:attrNameLst>
                                      </p:cBhvr>
                                      <p:to>
                                        <p:strVal val="visible"/>
                                      </p:to>
                                    </p:set>
                                    <p:animEffect transition="in" filter="fade">
                                      <p:cBhvr>
                                        <p:cTn id="57" dur="1000"/>
                                        <p:tgtEl>
                                          <p:spTgt spid="40"/>
                                        </p:tgtEl>
                                      </p:cBhvr>
                                    </p:animEffect>
                                    <p:anim calcmode="lin" valueType="num">
                                      <p:cBhvr>
                                        <p:cTn id="58" dur="1000" fill="hold"/>
                                        <p:tgtEl>
                                          <p:spTgt spid="40"/>
                                        </p:tgtEl>
                                        <p:attrNameLst>
                                          <p:attrName>ppt_x</p:attrName>
                                        </p:attrNameLst>
                                      </p:cBhvr>
                                      <p:tavLst>
                                        <p:tav tm="0">
                                          <p:val>
                                            <p:strVal val="#ppt_x"/>
                                          </p:val>
                                        </p:tav>
                                        <p:tav tm="100000">
                                          <p:val>
                                            <p:strVal val="#ppt_x"/>
                                          </p:val>
                                        </p:tav>
                                      </p:tavLst>
                                    </p:anim>
                                    <p:anim calcmode="lin" valueType="num">
                                      <p:cBhvr>
                                        <p:cTn id="59"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2" presetClass="entr" presetSubtype="4" fill="hold" grpId="0" nodeType="clickEffect">
                                  <p:stCondLst>
                                    <p:cond delay="0"/>
                                  </p:stCondLst>
                                  <p:childTnLst>
                                    <p:set>
                                      <p:cBhvr>
                                        <p:cTn id="63" dur="1" fill="hold">
                                          <p:stCondLst>
                                            <p:cond delay="0"/>
                                          </p:stCondLst>
                                        </p:cTn>
                                        <p:tgtEl>
                                          <p:spTgt spid="45"/>
                                        </p:tgtEl>
                                        <p:attrNameLst>
                                          <p:attrName>style.visibility</p:attrName>
                                        </p:attrNameLst>
                                      </p:cBhvr>
                                      <p:to>
                                        <p:strVal val="visible"/>
                                      </p:to>
                                    </p:set>
                                    <p:anim calcmode="lin" valueType="num">
                                      <p:cBhvr additive="base">
                                        <p:cTn id="64" dur="500" fill="hold"/>
                                        <p:tgtEl>
                                          <p:spTgt spid="45"/>
                                        </p:tgtEl>
                                        <p:attrNameLst>
                                          <p:attrName>ppt_x</p:attrName>
                                        </p:attrNameLst>
                                      </p:cBhvr>
                                      <p:tavLst>
                                        <p:tav tm="0">
                                          <p:val>
                                            <p:strVal val="#ppt_x"/>
                                          </p:val>
                                        </p:tav>
                                        <p:tav tm="100000">
                                          <p:val>
                                            <p:strVal val="#ppt_x"/>
                                          </p:val>
                                        </p:tav>
                                      </p:tavLst>
                                    </p:anim>
                                    <p:anim calcmode="lin" valueType="num">
                                      <p:cBhvr additive="base">
                                        <p:cTn id="65" dur="500" fill="hold"/>
                                        <p:tgtEl>
                                          <p:spTgt spid="45"/>
                                        </p:tgtEl>
                                        <p:attrNameLst>
                                          <p:attrName>ppt_y</p:attrName>
                                        </p:attrNameLst>
                                      </p:cBhvr>
                                      <p:tavLst>
                                        <p:tav tm="0">
                                          <p:val>
                                            <p:strVal val="1+#ppt_h/2"/>
                                          </p:val>
                                        </p:tav>
                                        <p:tav tm="100000">
                                          <p:val>
                                            <p:strVal val="#ppt_y"/>
                                          </p:val>
                                        </p:tav>
                                      </p:tavLst>
                                    </p:anim>
                                  </p:childTnLst>
                                </p:cTn>
                              </p:par>
                              <p:par>
                                <p:cTn id="66" presetID="2" presetClass="entr" presetSubtype="4" fill="hold" nodeType="withEffect">
                                  <p:stCondLst>
                                    <p:cond delay="0"/>
                                  </p:stCondLst>
                                  <p:childTnLst>
                                    <p:set>
                                      <p:cBhvr>
                                        <p:cTn id="67" dur="1" fill="hold">
                                          <p:stCondLst>
                                            <p:cond delay="0"/>
                                          </p:stCondLst>
                                        </p:cTn>
                                        <p:tgtEl>
                                          <p:spTgt spid="43"/>
                                        </p:tgtEl>
                                        <p:attrNameLst>
                                          <p:attrName>style.visibility</p:attrName>
                                        </p:attrNameLst>
                                      </p:cBhvr>
                                      <p:to>
                                        <p:strVal val="visible"/>
                                      </p:to>
                                    </p:set>
                                    <p:anim calcmode="lin" valueType="num">
                                      <p:cBhvr additive="base">
                                        <p:cTn id="68" dur="500" fill="hold"/>
                                        <p:tgtEl>
                                          <p:spTgt spid="43"/>
                                        </p:tgtEl>
                                        <p:attrNameLst>
                                          <p:attrName>ppt_x</p:attrName>
                                        </p:attrNameLst>
                                      </p:cBhvr>
                                      <p:tavLst>
                                        <p:tav tm="0">
                                          <p:val>
                                            <p:strVal val="#ppt_x"/>
                                          </p:val>
                                        </p:tav>
                                        <p:tav tm="100000">
                                          <p:val>
                                            <p:strVal val="#ppt_x"/>
                                          </p:val>
                                        </p:tav>
                                      </p:tavLst>
                                    </p:anim>
                                    <p:anim calcmode="lin" valueType="num">
                                      <p:cBhvr additive="base">
                                        <p:cTn id="69" dur="500" fill="hold"/>
                                        <p:tgtEl>
                                          <p:spTgt spid="43"/>
                                        </p:tgtEl>
                                        <p:attrNameLst>
                                          <p:attrName>ppt_y</p:attrName>
                                        </p:attrNameLst>
                                      </p:cBhvr>
                                      <p:tavLst>
                                        <p:tav tm="0">
                                          <p:val>
                                            <p:strVal val="1+#ppt_h/2"/>
                                          </p:val>
                                        </p:tav>
                                        <p:tav tm="100000">
                                          <p:val>
                                            <p:strVal val="#ppt_y"/>
                                          </p:val>
                                        </p:tav>
                                      </p:tavLst>
                                    </p:anim>
                                  </p:childTnLst>
                                </p:cTn>
                              </p:par>
                              <p:par>
                                <p:cTn id="70" presetID="2" presetClass="entr" presetSubtype="4" fill="hold" grpId="0" nodeType="withEffect">
                                  <p:stCondLst>
                                    <p:cond delay="0"/>
                                  </p:stCondLst>
                                  <p:childTnLst>
                                    <p:set>
                                      <p:cBhvr>
                                        <p:cTn id="71" dur="1" fill="hold">
                                          <p:stCondLst>
                                            <p:cond delay="0"/>
                                          </p:stCondLst>
                                        </p:cTn>
                                        <p:tgtEl>
                                          <p:spTgt spid="42"/>
                                        </p:tgtEl>
                                        <p:attrNameLst>
                                          <p:attrName>style.visibility</p:attrName>
                                        </p:attrNameLst>
                                      </p:cBhvr>
                                      <p:to>
                                        <p:strVal val="visible"/>
                                      </p:to>
                                    </p:set>
                                    <p:anim calcmode="lin" valueType="num">
                                      <p:cBhvr additive="base">
                                        <p:cTn id="72" dur="500" fill="hold"/>
                                        <p:tgtEl>
                                          <p:spTgt spid="42"/>
                                        </p:tgtEl>
                                        <p:attrNameLst>
                                          <p:attrName>ppt_x</p:attrName>
                                        </p:attrNameLst>
                                      </p:cBhvr>
                                      <p:tavLst>
                                        <p:tav tm="0">
                                          <p:val>
                                            <p:strVal val="#ppt_x"/>
                                          </p:val>
                                        </p:tav>
                                        <p:tav tm="100000">
                                          <p:val>
                                            <p:strVal val="#ppt_x"/>
                                          </p:val>
                                        </p:tav>
                                      </p:tavLst>
                                    </p:anim>
                                    <p:anim calcmode="lin" valueType="num">
                                      <p:cBhvr additive="base">
                                        <p:cTn id="73"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46"/>
                                        </p:tgtEl>
                                        <p:attrNameLst>
                                          <p:attrName>style.visibility</p:attrName>
                                        </p:attrNameLst>
                                      </p:cBhvr>
                                      <p:to>
                                        <p:strVal val="visible"/>
                                      </p:to>
                                    </p:set>
                                    <p:animEffect transition="in" filter="fade">
                                      <p:cBhvr>
                                        <p:cTn id="78" dur="500"/>
                                        <p:tgtEl>
                                          <p:spTgt spid="46"/>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50"/>
                                        </p:tgtEl>
                                        <p:attrNameLst>
                                          <p:attrName>style.visibility</p:attrName>
                                        </p:attrNameLst>
                                      </p:cBhvr>
                                      <p:to>
                                        <p:strVal val="visible"/>
                                      </p:to>
                                    </p:set>
                                    <p:animEffect transition="in" filter="fade">
                                      <p:cBhvr>
                                        <p:cTn id="81" dur="500"/>
                                        <p:tgtEl>
                                          <p:spTgt spid="50"/>
                                        </p:tgtEl>
                                      </p:cBhvr>
                                    </p:animEffect>
                                  </p:childTnLst>
                                </p:cTn>
                              </p:par>
                            </p:childTnLst>
                          </p:cTn>
                        </p:par>
                      </p:childTnLst>
                    </p:cTn>
                  </p:par>
                  <p:par>
                    <p:cTn id="82" fill="hold">
                      <p:stCondLst>
                        <p:cond delay="indefinite"/>
                      </p:stCondLst>
                      <p:childTnLst>
                        <p:par>
                          <p:cTn id="83" fill="hold">
                            <p:stCondLst>
                              <p:cond delay="0"/>
                            </p:stCondLst>
                            <p:childTnLst>
                              <p:par>
                                <p:cTn id="84" presetID="2" presetClass="entr" presetSubtype="4" fill="hold" grpId="0" nodeType="clickEffect">
                                  <p:stCondLst>
                                    <p:cond delay="0"/>
                                  </p:stCondLst>
                                  <p:childTnLst>
                                    <p:set>
                                      <p:cBhvr>
                                        <p:cTn id="85" dur="1" fill="hold">
                                          <p:stCondLst>
                                            <p:cond delay="0"/>
                                          </p:stCondLst>
                                        </p:cTn>
                                        <p:tgtEl>
                                          <p:spTgt spid="51"/>
                                        </p:tgtEl>
                                        <p:attrNameLst>
                                          <p:attrName>style.visibility</p:attrName>
                                        </p:attrNameLst>
                                      </p:cBhvr>
                                      <p:to>
                                        <p:strVal val="visible"/>
                                      </p:to>
                                    </p:set>
                                    <p:anim calcmode="lin" valueType="num">
                                      <p:cBhvr additive="base">
                                        <p:cTn id="86" dur="500" fill="hold"/>
                                        <p:tgtEl>
                                          <p:spTgt spid="51"/>
                                        </p:tgtEl>
                                        <p:attrNameLst>
                                          <p:attrName>ppt_x</p:attrName>
                                        </p:attrNameLst>
                                      </p:cBhvr>
                                      <p:tavLst>
                                        <p:tav tm="0">
                                          <p:val>
                                            <p:strVal val="#ppt_x"/>
                                          </p:val>
                                        </p:tav>
                                        <p:tav tm="100000">
                                          <p:val>
                                            <p:strVal val="#ppt_x"/>
                                          </p:val>
                                        </p:tav>
                                      </p:tavLst>
                                    </p:anim>
                                    <p:anim calcmode="lin" valueType="num">
                                      <p:cBhvr additive="base">
                                        <p:cTn id="87" dur="500" fill="hold"/>
                                        <p:tgtEl>
                                          <p:spTgt spid="51"/>
                                        </p:tgtEl>
                                        <p:attrNameLst>
                                          <p:attrName>ppt_y</p:attrName>
                                        </p:attrNameLst>
                                      </p:cBhvr>
                                      <p:tavLst>
                                        <p:tav tm="0">
                                          <p:val>
                                            <p:strVal val="1+#ppt_h/2"/>
                                          </p:val>
                                        </p:tav>
                                        <p:tav tm="100000">
                                          <p:val>
                                            <p:strVal val="#ppt_y"/>
                                          </p:val>
                                        </p:tav>
                                      </p:tavLst>
                                    </p:anim>
                                  </p:childTnLst>
                                </p:cTn>
                              </p:par>
                              <p:par>
                                <p:cTn id="88" presetID="2" presetClass="entr" presetSubtype="4" fill="hold" grpId="0" nodeType="withEffect">
                                  <p:stCondLst>
                                    <p:cond delay="0"/>
                                  </p:stCondLst>
                                  <p:childTnLst>
                                    <p:set>
                                      <p:cBhvr>
                                        <p:cTn id="89" dur="1" fill="hold">
                                          <p:stCondLst>
                                            <p:cond delay="0"/>
                                          </p:stCondLst>
                                        </p:cTn>
                                        <p:tgtEl>
                                          <p:spTgt spid="53"/>
                                        </p:tgtEl>
                                        <p:attrNameLst>
                                          <p:attrName>style.visibility</p:attrName>
                                        </p:attrNameLst>
                                      </p:cBhvr>
                                      <p:to>
                                        <p:strVal val="visible"/>
                                      </p:to>
                                    </p:set>
                                    <p:anim calcmode="lin" valueType="num">
                                      <p:cBhvr additive="base">
                                        <p:cTn id="90" dur="500" fill="hold"/>
                                        <p:tgtEl>
                                          <p:spTgt spid="53"/>
                                        </p:tgtEl>
                                        <p:attrNameLst>
                                          <p:attrName>ppt_x</p:attrName>
                                        </p:attrNameLst>
                                      </p:cBhvr>
                                      <p:tavLst>
                                        <p:tav tm="0">
                                          <p:val>
                                            <p:strVal val="#ppt_x"/>
                                          </p:val>
                                        </p:tav>
                                        <p:tav tm="100000">
                                          <p:val>
                                            <p:strVal val="#ppt_x"/>
                                          </p:val>
                                        </p:tav>
                                      </p:tavLst>
                                    </p:anim>
                                    <p:anim calcmode="lin" valueType="num">
                                      <p:cBhvr additive="base">
                                        <p:cTn id="91"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P spid="8" grpId="0" animBg="1"/>
      <p:bldP spid="9" grpId="0" animBg="1"/>
      <p:bldP spid="14" grpId="0"/>
      <p:bldP spid="19" grpId="0"/>
      <p:bldP spid="23" grpId="0"/>
      <p:bldP spid="28" grpId="0"/>
      <p:bldP spid="42" grpId="0" animBg="1"/>
      <p:bldP spid="45" grpId="0"/>
      <p:bldP spid="50" grpId="0"/>
      <p:bldP spid="51" grpId="0"/>
      <p:bldP spid="5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7ECB4-A4C7-27FE-0AF7-94A7E86C6C73}"/>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6C0CDB51-37C6-FFB2-6A92-9E12C796B207}"/>
              </a:ext>
            </a:extLst>
          </p:cNvPr>
          <p:cNvPicPr>
            <a:picLocks noChangeAspect="1"/>
          </p:cNvPicPr>
          <p:nvPr/>
        </p:nvPicPr>
        <p:blipFill>
          <a:blip r:embed="rId3"/>
          <a:stretch>
            <a:fillRect/>
          </a:stretch>
        </p:blipFill>
        <p:spPr>
          <a:xfrm>
            <a:off x="11419972" y="99001"/>
            <a:ext cx="513560" cy="513560"/>
          </a:xfrm>
          <a:prstGeom prst="rect">
            <a:avLst/>
          </a:prstGeom>
        </p:spPr>
      </p:pic>
      <p:sp>
        <p:nvSpPr>
          <p:cNvPr id="5" name="文本框 4">
            <a:extLst>
              <a:ext uri="{FF2B5EF4-FFF2-40B4-BE49-F238E27FC236}">
                <a16:creationId xmlns:a16="http://schemas.microsoft.com/office/drawing/2014/main" id="{73B17507-C3C1-AED0-A056-AE34F63C8546}"/>
              </a:ext>
            </a:extLst>
          </p:cNvPr>
          <p:cNvSpPr txBox="1"/>
          <p:nvPr/>
        </p:nvSpPr>
        <p:spPr>
          <a:xfrm>
            <a:off x="10280223" y="274007"/>
            <a:ext cx="1653309" cy="338554"/>
          </a:xfrm>
          <a:prstGeom prst="rect">
            <a:avLst/>
          </a:prstGeom>
          <a:noFill/>
        </p:spPr>
        <p:txBody>
          <a:bodyPr wrap="square" rtlCol="0">
            <a:spAutoFit/>
          </a:bodyPr>
          <a:lstStyle/>
          <a:p>
            <a:r>
              <a:rPr lang="zh-CN" altLang="en-US" sz="1600" b="1" dirty="0">
                <a:solidFill>
                  <a:srgbClr val="0070C0"/>
                </a:solidFill>
                <a:latin typeface="微软雅黑" panose="020B0503020204020204" pitchFamily="34" charset="-122"/>
                <a:ea typeface="微软雅黑" panose="020B0503020204020204" pitchFamily="34" charset="-122"/>
              </a:rPr>
              <a:t>酸沙柠檬</a:t>
            </a:r>
          </a:p>
        </p:txBody>
      </p:sp>
      <p:sp>
        <p:nvSpPr>
          <p:cNvPr id="6" name="矩形 5">
            <a:extLst>
              <a:ext uri="{FF2B5EF4-FFF2-40B4-BE49-F238E27FC236}">
                <a16:creationId xmlns:a16="http://schemas.microsoft.com/office/drawing/2014/main" id="{86393DB9-DAA3-0FB5-931C-0AC57DD4EFA7}"/>
              </a:ext>
            </a:extLst>
          </p:cNvPr>
          <p:cNvSpPr/>
          <p:nvPr/>
        </p:nvSpPr>
        <p:spPr>
          <a:xfrm>
            <a:off x="9517283" y="704440"/>
            <a:ext cx="2416249" cy="83127"/>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a:extLst>
              <a:ext uri="{FF2B5EF4-FFF2-40B4-BE49-F238E27FC236}">
                <a16:creationId xmlns:a16="http://schemas.microsoft.com/office/drawing/2014/main" id="{7672626F-72B4-7C9B-16E1-555F3BD3A7D4}"/>
              </a:ext>
            </a:extLst>
          </p:cNvPr>
          <p:cNvSpPr txBox="1"/>
          <p:nvPr/>
        </p:nvSpPr>
        <p:spPr>
          <a:xfrm>
            <a:off x="432973" y="443284"/>
            <a:ext cx="2844800" cy="369332"/>
          </a:xfrm>
          <a:prstGeom prst="rect">
            <a:avLst/>
          </a:prstGeom>
          <a:solidFill>
            <a:srgbClr val="0070C0"/>
          </a:solidFill>
        </p:spPr>
        <p:txBody>
          <a:bodyPr wrap="square" rtlCol="0">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rPr>
              <a:t>稳定性与抗扰能力</a:t>
            </a:r>
          </a:p>
        </p:txBody>
      </p:sp>
      <p:cxnSp>
        <p:nvCxnSpPr>
          <p:cNvPr id="7" name="直接连接符 6">
            <a:extLst>
              <a:ext uri="{FF2B5EF4-FFF2-40B4-BE49-F238E27FC236}">
                <a16:creationId xmlns:a16="http://schemas.microsoft.com/office/drawing/2014/main" id="{96B3C31A-FBCB-C267-9560-FC9D775D2AA2}"/>
              </a:ext>
            </a:extLst>
          </p:cNvPr>
          <p:cNvCxnSpPr/>
          <p:nvPr/>
        </p:nvCxnSpPr>
        <p:spPr>
          <a:xfrm>
            <a:off x="742950" y="2527300"/>
            <a:ext cx="27686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流程图: 接点 7">
            <a:extLst>
              <a:ext uri="{FF2B5EF4-FFF2-40B4-BE49-F238E27FC236}">
                <a16:creationId xmlns:a16="http://schemas.microsoft.com/office/drawing/2014/main" id="{C7D93216-A992-A7AA-9641-3FF62A57959F}"/>
              </a:ext>
            </a:extLst>
          </p:cNvPr>
          <p:cNvSpPr/>
          <p:nvPr/>
        </p:nvSpPr>
        <p:spPr>
          <a:xfrm>
            <a:off x="1812925" y="1898650"/>
            <a:ext cx="628650" cy="628650"/>
          </a:xfrm>
          <a:prstGeom prst="flowChartConnector">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zh-CN" altLang="en-US"/>
          </a:p>
        </p:txBody>
      </p:sp>
      <p:sp>
        <p:nvSpPr>
          <p:cNvPr id="10" name="流程图: 接点 9">
            <a:extLst>
              <a:ext uri="{FF2B5EF4-FFF2-40B4-BE49-F238E27FC236}">
                <a16:creationId xmlns:a16="http://schemas.microsoft.com/office/drawing/2014/main" id="{C38C39C0-10B1-740F-970E-C2C898C6AEEC}"/>
              </a:ext>
            </a:extLst>
          </p:cNvPr>
          <p:cNvSpPr/>
          <p:nvPr/>
        </p:nvSpPr>
        <p:spPr>
          <a:xfrm>
            <a:off x="1812925" y="3245034"/>
            <a:ext cx="628650" cy="628650"/>
          </a:xfrm>
          <a:prstGeom prst="flowChartConnector">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zh-CN" altLang="en-US"/>
          </a:p>
        </p:txBody>
      </p:sp>
      <p:sp>
        <p:nvSpPr>
          <p:cNvPr id="14" name="弧形 13">
            <a:extLst>
              <a:ext uri="{FF2B5EF4-FFF2-40B4-BE49-F238E27FC236}">
                <a16:creationId xmlns:a16="http://schemas.microsoft.com/office/drawing/2014/main" id="{6605A59E-C32B-DE83-E0AF-CD9B273B369B}"/>
              </a:ext>
            </a:extLst>
          </p:cNvPr>
          <p:cNvSpPr/>
          <p:nvPr/>
        </p:nvSpPr>
        <p:spPr>
          <a:xfrm>
            <a:off x="742950" y="3873684"/>
            <a:ext cx="2768600" cy="356866"/>
          </a:xfrm>
          <a:prstGeom prst="arc">
            <a:avLst>
              <a:gd name="adj1" fmla="val 10792258"/>
              <a:gd name="adj2" fmla="val 5135"/>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6" name="流程图: 接点 15">
            <a:extLst>
              <a:ext uri="{FF2B5EF4-FFF2-40B4-BE49-F238E27FC236}">
                <a16:creationId xmlns:a16="http://schemas.microsoft.com/office/drawing/2014/main" id="{427559A1-E097-9429-B732-BFE837C82706}"/>
              </a:ext>
            </a:extLst>
          </p:cNvPr>
          <p:cNvSpPr/>
          <p:nvPr/>
        </p:nvSpPr>
        <p:spPr>
          <a:xfrm>
            <a:off x="1812924" y="4948283"/>
            <a:ext cx="628650" cy="628650"/>
          </a:xfrm>
          <a:prstGeom prst="flowChartConnector">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zh-CN" altLang="en-US"/>
          </a:p>
        </p:txBody>
      </p:sp>
      <p:sp>
        <p:nvSpPr>
          <p:cNvPr id="17" name="弧形 16">
            <a:extLst>
              <a:ext uri="{FF2B5EF4-FFF2-40B4-BE49-F238E27FC236}">
                <a16:creationId xmlns:a16="http://schemas.microsoft.com/office/drawing/2014/main" id="{51FF3D04-F4B6-00E0-D249-0C361905749D}"/>
              </a:ext>
            </a:extLst>
          </p:cNvPr>
          <p:cNvSpPr/>
          <p:nvPr/>
        </p:nvSpPr>
        <p:spPr>
          <a:xfrm rot="10800000">
            <a:off x="742950" y="5220067"/>
            <a:ext cx="2768600" cy="356866"/>
          </a:xfrm>
          <a:prstGeom prst="arc">
            <a:avLst>
              <a:gd name="adj1" fmla="val 10792258"/>
              <a:gd name="adj2" fmla="val 5135"/>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8E7808BF-D9A1-21BD-AC83-37901C6D0BF9}"/>
              </a:ext>
            </a:extLst>
          </p:cNvPr>
          <p:cNvSpPr txBox="1"/>
          <p:nvPr/>
        </p:nvSpPr>
        <p:spPr>
          <a:xfrm>
            <a:off x="4126132" y="2028309"/>
            <a:ext cx="2844800" cy="369332"/>
          </a:xfrm>
          <a:prstGeom prst="rect">
            <a:avLst/>
          </a:prstGeom>
          <a:noFill/>
        </p:spPr>
        <p:txBody>
          <a:bodyPr wrap="square" rtlCol="0">
            <a:spAutoFit/>
          </a:bodyPr>
          <a:lstStyle/>
          <a:p>
            <a:pPr algn="ctr"/>
            <a:r>
              <a:rPr lang="zh-CN" altLang="en-US" dirty="0">
                <a:latin typeface="微软雅黑" panose="020B0503020204020204" pitchFamily="34" charset="-122"/>
                <a:ea typeface="微软雅黑" panose="020B0503020204020204" pitchFamily="34" charset="-122"/>
              </a:rPr>
              <a:t>中立稳定</a:t>
            </a:r>
          </a:p>
        </p:txBody>
      </p:sp>
      <p:sp>
        <p:nvSpPr>
          <p:cNvPr id="21" name="流程图: 接点 20">
            <a:extLst>
              <a:ext uri="{FF2B5EF4-FFF2-40B4-BE49-F238E27FC236}">
                <a16:creationId xmlns:a16="http://schemas.microsoft.com/office/drawing/2014/main" id="{1FA44229-DB47-5283-D470-3850DE7F4D01}"/>
              </a:ext>
            </a:extLst>
          </p:cNvPr>
          <p:cNvSpPr/>
          <p:nvPr/>
        </p:nvSpPr>
        <p:spPr>
          <a:xfrm>
            <a:off x="2127249" y="1898650"/>
            <a:ext cx="628650" cy="628650"/>
          </a:xfrm>
          <a:prstGeom prst="flowChartConnector">
            <a:avLst/>
          </a:prstGeom>
          <a:noFill/>
          <a:ln w="38100" cap="flat" cmpd="sng" algn="ctr">
            <a:solidFill>
              <a:schemeClr val="dk1"/>
            </a:solidFill>
            <a:prstDash val="sysDash"/>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zh-CN" altLang="en-US"/>
          </a:p>
        </p:txBody>
      </p:sp>
      <p:sp>
        <p:nvSpPr>
          <p:cNvPr id="22" name="流程图: 接点 21">
            <a:extLst>
              <a:ext uri="{FF2B5EF4-FFF2-40B4-BE49-F238E27FC236}">
                <a16:creationId xmlns:a16="http://schemas.microsoft.com/office/drawing/2014/main" id="{48F673C2-C14F-49CF-EDB9-C9C04BA9DA1E}"/>
              </a:ext>
            </a:extLst>
          </p:cNvPr>
          <p:cNvSpPr/>
          <p:nvPr/>
        </p:nvSpPr>
        <p:spPr>
          <a:xfrm>
            <a:off x="2127249" y="3245033"/>
            <a:ext cx="628650" cy="628650"/>
          </a:xfrm>
          <a:prstGeom prst="flowChartConnector">
            <a:avLst/>
          </a:prstGeom>
          <a:noFill/>
          <a:ln w="38100" cap="flat" cmpd="sng" algn="ctr">
            <a:solidFill>
              <a:schemeClr val="dk1"/>
            </a:solidFill>
            <a:prstDash val="sysDash"/>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zh-CN" altLang="en-US"/>
          </a:p>
        </p:txBody>
      </p:sp>
      <p:sp>
        <p:nvSpPr>
          <p:cNvPr id="23" name="流程图: 接点 22">
            <a:extLst>
              <a:ext uri="{FF2B5EF4-FFF2-40B4-BE49-F238E27FC236}">
                <a16:creationId xmlns:a16="http://schemas.microsoft.com/office/drawing/2014/main" id="{05D4A0E1-90CC-BFEC-6EE9-A1D59415DDEF}"/>
              </a:ext>
            </a:extLst>
          </p:cNvPr>
          <p:cNvSpPr/>
          <p:nvPr/>
        </p:nvSpPr>
        <p:spPr>
          <a:xfrm>
            <a:off x="2127249" y="4948283"/>
            <a:ext cx="628650" cy="628650"/>
          </a:xfrm>
          <a:prstGeom prst="flowChartConnector">
            <a:avLst/>
          </a:prstGeom>
          <a:noFill/>
          <a:ln w="38100" cap="flat" cmpd="sng" algn="ctr">
            <a:solidFill>
              <a:schemeClr val="dk1"/>
            </a:solidFill>
            <a:prstDash val="sysDash"/>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zh-CN" altLang="en-US"/>
          </a:p>
        </p:txBody>
      </p:sp>
      <p:sp>
        <p:nvSpPr>
          <p:cNvPr id="24" name="文本框 23">
            <a:extLst>
              <a:ext uri="{FF2B5EF4-FFF2-40B4-BE49-F238E27FC236}">
                <a16:creationId xmlns:a16="http://schemas.microsoft.com/office/drawing/2014/main" id="{1C0DA297-1683-725E-3122-3B664AC1AAD3}"/>
              </a:ext>
            </a:extLst>
          </p:cNvPr>
          <p:cNvSpPr txBox="1"/>
          <p:nvPr/>
        </p:nvSpPr>
        <p:spPr>
          <a:xfrm>
            <a:off x="4126132" y="3504351"/>
            <a:ext cx="2844800" cy="369332"/>
          </a:xfrm>
          <a:prstGeom prst="rect">
            <a:avLst/>
          </a:prstGeom>
          <a:noFill/>
        </p:spPr>
        <p:txBody>
          <a:bodyPr wrap="square" rtlCol="0">
            <a:spAutoFit/>
          </a:bodyPr>
          <a:lstStyle/>
          <a:p>
            <a:pPr algn="ctr"/>
            <a:r>
              <a:rPr lang="zh-CN" altLang="en-US" dirty="0">
                <a:latin typeface="微软雅黑" panose="020B0503020204020204" pitchFamily="34" charset="-122"/>
                <a:ea typeface="微软雅黑" panose="020B0503020204020204" pitchFamily="34" charset="-122"/>
              </a:rPr>
              <a:t>静不稳定</a:t>
            </a:r>
          </a:p>
        </p:txBody>
      </p:sp>
      <p:sp>
        <p:nvSpPr>
          <p:cNvPr id="25" name="文本框 24">
            <a:extLst>
              <a:ext uri="{FF2B5EF4-FFF2-40B4-BE49-F238E27FC236}">
                <a16:creationId xmlns:a16="http://schemas.microsoft.com/office/drawing/2014/main" id="{8E951C65-3D36-2CD5-4434-AEB0C148E588}"/>
              </a:ext>
            </a:extLst>
          </p:cNvPr>
          <p:cNvSpPr txBox="1"/>
          <p:nvPr/>
        </p:nvSpPr>
        <p:spPr>
          <a:xfrm>
            <a:off x="4126132" y="5262608"/>
            <a:ext cx="2844800" cy="369332"/>
          </a:xfrm>
          <a:prstGeom prst="rect">
            <a:avLst/>
          </a:prstGeom>
          <a:noFill/>
        </p:spPr>
        <p:txBody>
          <a:bodyPr wrap="square" rtlCol="0">
            <a:spAutoFit/>
          </a:bodyPr>
          <a:lstStyle/>
          <a:p>
            <a:pPr algn="ctr"/>
            <a:r>
              <a:rPr lang="zh-CN" altLang="en-US" dirty="0">
                <a:latin typeface="微软雅黑" panose="020B0503020204020204" pitchFamily="34" charset="-122"/>
                <a:ea typeface="微软雅黑" panose="020B0503020204020204" pitchFamily="34" charset="-122"/>
              </a:rPr>
              <a:t>静稳定</a:t>
            </a:r>
          </a:p>
        </p:txBody>
      </p:sp>
      <p:sp>
        <p:nvSpPr>
          <p:cNvPr id="27" name="任意多边形: 形状 26">
            <a:extLst>
              <a:ext uri="{FF2B5EF4-FFF2-40B4-BE49-F238E27FC236}">
                <a16:creationId xmlns:a16="http://schemas.microsoft.com/office/drawing/2014/main" id="{98C9977D-036D-1495-DA15-240A910FCB93}"/>
              </a:ext>
            </a:extLst>
          </p:cNvPr>
          <p:cNvSpPr/>
          <p:nvPr/>
        </p:nvSpPr>
        <p:spPr>
          <a:xfrm>
            <a:off x="7670800" y="2269742"/>
            <a:ext cx="3302000" cy="2492758"/>
          </a:xfrm>
          <a:custGeom>
            <a:avLst/>
            <a:gdLst>
              <a:gd name="csX0" fmla="*/ 0 w 3302000"/>
              <a:gd name="csY0" fmla="*/ 2492758 h 2492758"/>
              <a:gd name="csX1" fmla="*/ 552450 w 3302000"/>
              <a:gd name="csY1" fmla="*/ 1159258 h 2492758"/>
              <a:gd name="csX2" fmla="*/ 1301750 w 3302000"/>
              <a:gd name="csY2" fmla="*/ 1171958 h 2492758"/>
              <a:gd name="csX3" fmla="*/ 2260600 w 3302000"/>
              <a:gd name="csY3" fmla="*/ 9908 h 2492758"/>
              <a:gd name="csX4" fmla="*/ 3302000 w 3302000"/>
              <a:gd name="csY4" fmla="*/ 708408 h 2492758"/>
            </a:gdLst>
            <a:ahLst/>
            <a:cxnLst>
              <a:cxn ang="0">
                <a:pos x="csX0" y="csY0"/>
              </a:cxn>
              <a:cxn ang="0">
                <a:pos x="csX1" y="csY1"/>
              </a:cxn>
              <a:cxn ang="0">
                <a:pos x="csX2" y="csY2"/>
              </a:cxn>
              <a:cxn ang="0">
                <a:pos x="csX3" y="csY3"/>
              </a:cxn>
              <a:cxn ang="0">
                <a:pos x="csX4" y="csY4"/>
              </a:cxn>
            </a:cxnLst>
            <a:rect l="l" t="t" r="r" b="b"/>
            <a:pathLst>
              <a:path w="3302000" h="2492758">
                <a:moveTo>
                  <a:pt x="0" y="2492758"/>
                </a:moveTo>
                <a:cubicBezTo>
                  <a:pt x="167746" y="1936074"/>
                  <a:pt x="335492" y="1379391"/>
                  <a:pt x="552450" y="1159258"/>
                </a:cubicBezTo>
                <a:cubicBezTo>
                  <a:pt x="769408" y="939125"/>
                  <a:pt x="1017058" y="1363516"/>
                  <a:pt x="1301750" y="1171958"/>
                </a:cubicBezTo>
                <a:cubicBezTo>
                  <a:pt x="1586442" y="980400"/>
                  <a:pt x="1927225" y="87166"/>
                  <a:pt x="2260600" y="9908"/>
                </a:cubicBezTo>
                <a:cubicBezTo>
                  <a:pt x="2593975" y="-67350"/>
                  <a:pt x="2947987" y="320529"/>
                  <a:pt x="3302000" y="708408"/>
                </a:cubicBezTo>
              </a:path>
            </a:pathLst>
          </a:cu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流程图: 接点 27">
            <a:extLst>
              <a:ext uri="{FF2B5EF4-FFF2-40B4-BE49-F238E27FC236}">
                <a16:creationId xmlns:a16="http://schemas.microsoft.com/office/drawing/2014/main" id="{310159BB-8F81-4113-B642-44A20DAD5089}"/>
              </a:ext>
            </a:extLst>
          </p:cNvPr>
          <p:cNvSpPr/>
          <p:nvPr/>
        </p:nvSpPr>
        <p:spPr>
          <a:xfrm>
            <a:off x="8461375" y="2863001"/>
            <a:ext cx="628650" cy="628650"/>
          </a:xfrm>
          <a:prstGeom prst="flowChartConnector">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zh-CN" altLang="en-US"/>
          </a:p>
        </p:txBody>
      </p:sp>
      <p:sp>
        <p:nvSpPr>
          <p:cNvPr id="30" name="流程图: 接点 29">
            <a:extLst>
              <a:ext uri="{FF2B5EF4-FFF2-40B4-BE49-F238E27FC236}">
                <a16:creationId xmlns:a16="http://schemas.microsoft.com/office/drawing/2014/main" id="{F169FF63-A9BB-6D5C-F4C8-32D8EB9548BB}"/>
              </a:ext>
            </a:extLst>
          </p:cNvPr>
          <p:cNvSpPr/>
          <p:nvPr/>
        </p:nvSpPr>
        <p:spPr>
          <a:xfrm>
            <a:off x="8775700" y="2451100"/>
            <a:ext cx="628650" cy="628650"/>
          </a:xfrm>
          <a:prstGeom prst="flowChartConnector">
            <a:avLst/>
          </a:prstGeom>
          <a:noFill/>
          <a:ln w="38100" cap="flat" cmpd="sng" algn="ctr">
            <a:solidFill>
              <a:schemeClr val="dk1"/>
            </a:solidFill>
            <a:prstDash val="sysDash"/>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zh-CN" altLang="en-US"/>
          </a:p>
        </p:txBody>
      </p:sp>
      <p:sp>
        <p:nvSpPr>
          <p:cNvPr id="32" name="文本框 31">
            <a:extLst>
              <a:ext uri="{FF2B5EF4-FFF2-40B4-BE49-F238E27FC236}">
                <a16:creationId xmlns:a16="http://schemas.microsoft.com/office/drawing/2014/main" id="{4C6287B7-C8CF-9F1B-B9C6-95CD26F325C7}"/>
              </a:ext>
            </a:extLst>
          </p:cNvPr>
          <p:cNvSpPr txBox="1"/>
          <p:nvPr/>
        </p:nvSpPr>
        <p:spPr>
          <a:xfrm>
            <a:off x="7981950" y="5262608"/>
            <a:ext cx="2844800" cy="369332"/>
          </a:xfrm>
          <a:prstGeom prst="rect">
            <a:avLst/>
          </a:prstGeom>
          <a:noFill/>
        </p:spPr>
        <p:txBody>
          <a:bodyPr wrap="square" rtlCol="0">
            <a:spAutoFit/>
          </a:bodyPr>
          <a:lstStyle/>
          <a:p>
            <a:pPr algn="ctr"/>
            <a:r>
              <a:rPr lang="zh-CN" altLang="en-US" dirty="0">
                <a:latin typeface="微软雅黑" panose="020B0503020204020204" pitchFamily="34" charset="-122"/>
                <a:ea typeface="微软雅黑" panose="020B0503020204020204" pitchFamily="34" charset="-122"/>
              </a:rPr>
              <a:t>静稳定但是动不稳定</a:t>
            </a:r>
          </a:p>
        </p:txBody>
      </p:sp>
    </p:spTree>
    <p:extLst>
      <p:ext uri="{BB962C8B-B14F-4D97-AF65-F5344CB8AC3E}">
        <p14:creationId xmlns:p14="http://schemas.microsoft.com/office/powerpoint/2010/main" val="2444191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1000"/>
                                        <p:tgtEl>
                                          <p:spTgt spid="18"/>
                                        </p:tgtEl>
                                      </p:cBhvr>
                                    </p:animEffect>
                                    <p:anim calcmode="lin" valueType="num">
                                      <p:cBhvr>
                                        <p:cTn id="13" dur="1000" fill="hold"/>
                                        <p:tgtEl>
                                          <p:spTgt spid="18"/>
                                        </p:tgtEl>
                                        <p:attrNameLst>
                                          <p:attrName>ppt_x</p:attrName>
                                        </p:attrNameLst>
                                      </p:cBhvr>
                                      <p:tavLst>
                                        <p:tav tm="0">
                                          <p:val>
                                            <p:strVal val="#ppt_x"/>
                                          </p:val>
                                        </p:tav>
                                        <p:tav tm="100000">
                                          <p:val>
                                            <p:strVal val="#ppt_x"/>
                                          </p:val>
                                        </p:tav>
                                      </p:tavLst>
                                    </p:anim>
                                    <p:anim calcmode="lin" valueType="num">
                                      <p:cBhvr>
                                        <p:cTn id="14"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fade">
                                      <p:cBhvr>
                                        <p:cTn id="19" dur="500"/>
                                        <p:tgtEl>
                                          <p:spTgt spid="22"/>
                                        </p:tgtEl>
                                      </p:cBhvr>
                                    </p:animEffec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fade">
                                      <p:cBhvr>
                                        <p:cTn id="24" dur="1000"/>
                                        <p:tgtEl>
                                          <p:spTgt spid="24"/>
                                        </p:tgtEl>
                                      </p:cBhvr>
                                    </p:animEffect>
                                    <p:anim calcmode="lin" valueType="num">
                                      <p:cBhvr>
                                        <p:cTn id="25" dur="1000" fill="hold"/>
                                        <p:tgtEl>
                                          <p:spTgt spid="24"/>
                                        </p:tgtEl>
                                        <p:attrNameLst>
                                          <p:attrName>ppt_x</p:attrName>
                                        </p:attrNameLst>
                                      </p:cBhvr>
                                      <p:tavLst>
                                        <p:tav tm="0">
                                          <p:val>
                                            <p:strVal val="#ppt_x"/>
                                          </p:val>
                                        </p:tav>
                                        <p:tav tm="100000">
                                          <p:val>
                                            <p:strVal val="#ppt_x"/>
                                          </p:val>
                                        </p:tav>
                                      </p:tavLst>
                                    </p:anim>
                                    <p:anim calcmode="lin" valueType="num">
                                      <p:cBhvr>
                                        <p:cTn id="26"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500"/>
                                        <p:tgtEl>
                                          <p:spTgt spid="23"/>
                                        </p:tgtEl>
                                      </p:cBhvr>
                                    </p:animEffect>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25"/>
                                        </p:tgtEl>
                                        <p:attrNameLst>
                                          <p:attrName>style.visibility</p:attrName>
                                        </p:attrNameLst>
                                      </p:cBhvr>
                                      <p:to>
                                        <p:strVal val="visible"/>
                                      </p:to>
                                    </p:set>
                                    <p:animEffect transition="in" filter="fade">
                                      <p:cBhvr>
                                        <p:cTn id="36" dur="1000"/>
                                        <p:tgtEl>
                                          <p:spTgt spid="25"/>
                                        </p:tgtEl>
                                      </p:cBhvr>
                                    </p:animEffect>
                                    <p:anim calcmode="lin" valueType="num">
                                      <p:cBhvr>
                                        <p:cTn id="37" dur="1000" fill="hold"/>
                                        <p:tgtEl>
                                          <p:spTgt spid="25"/>
                                        </p:tgtEl>
                                        <p:attrNameLst>
                                          <p:attrName>ppt_x</p:attrName>
                                        </p:attrNameLst>
                                      </p:cBhvr>
                                      <p:tavLst>
                                        <p:tav tm="0">
                                          <p:val>
                                            <p:strVal val="#ppt_x"/>
                                          </p:val>
                                        </p:tav>
                                        <p:tav tm="100000">
                                          <p:val>
                                            <p:strVal val="#ppt_x"/>
                                          </p:val>
                                        </p:tav>
                                      </p:tavLst>
                                    </p:anim>
                                    <p:anim calcmode="lin" valueType="num">
                                      <p:cBhvr>
                                        <p:cTn id="38"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fade">
                                      <p:cBhvr>
                                        <p:cTn id="43" dur="500"/>
                                        <p:tgtEl>
                                          <p:spTgt spid="2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7"/>
                                        </p:tgtEl>
                                        <p:attrNameLst>
                                          <p:attrName>style.visibility</p:attrName>
                                        </p:attrNameLst>
                                      </p:cBhvr>
                                      <p:to>
                                        <p:strVal val="visible"/>
                                      </p:to>
                                    </p:set>
                                    <p:animEffect transition="in" filter="fade">
                                      <p:cBhvr>
                                        <p:cTn id="46" dur="500"/>
                                        <p:tgtEl>
                                          <p:spTgt spid="27"/>
                                        </p:tgtEl>
                                      </p:cBhvr>
                                    </p:animEffect>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grpId="0" nodeType="clickEffect">
                                  <p:stCondLst>
                                    <p:cond delay="0"/>
                                  </p:stCondLst>
                                  <p:childTnLst>
                                    <p:set>
                                      <p:cBhvr>
                                        <p:cTn id="50" dur="1" fill="hold">
                                          <p:stCondLst>
                                            <p:cond delay="0"/>
                                          </p:stCondLst>
                                        </p:cTn>
                                        <p:tgtEl>
                                          <p:spTgt spid="30"/>
                                        </p:tgtEl>
                                        <p:attrNameLst>
                                          <p:attrName>style.visibility</p:attrName>
                                        </p:attrNameLst>
                                      </p:cBhvr>
                                      <p:to>
                                        <p:strVal val="visible"/>
                                      </p:to>
                                    </p:set>
                                    <p:animEffect transition="in" filter="fade">
                                      <p:cBhvr>
                                        <p:cTn id="51" dur="1000"/>
                                        <p:tgtEl>
                                          <p:spTgt spid="30"/>
                                        </p:tgtEl>
                                      </p:cBhvr>
                                    </p:animEffect>
                                    <p:anim calcmode="lin" valueType="num">
                                      <p:cBhvr>
                                        <p:cTn id="52" dur="1000" fill="hold"/>
                                        <p:tgtEl>
                                          <p:spTgt spid="30"/>
                                        </p:tgtEl>
                                        <p:attrNameLst>
                                          <p:attrName>ppt_x</p:attrName>
                                        </p:attrNameLst>
                                      </p:cBhvr>
                                      <p:tavLst>
                                        <p:tav tm="0">
                                          <p:val>
                                            <p:strVal val="#ppt_x"/>
                                          </p:val>
                                        </p:tav>
                                        <p:tav tm="100000">
                                          <p:val>
                                            <p:strVal val="#ppt_x"/>
                                          </p:val>
                                        </p:tav>
                                      </p:tavLst>
                                    </p:anim>
                                    <p:anim calcmode="lin" valueType="num">
                                      <p:cBhvr>
                                        <p:cTn id="53"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0" presetClass="path" presetSubtype="0" accel="50000" decel="50000" fill="hold" grpId="1" nodeType="clickEffect">
                                  <p:stCondLst>
                                    <p:cond delay="0"/>
                                  </p:stCondLst>
                                  <p:childTnLst>
                                    <p:animMotion origin="layout" path="M -0.00078 -0.00602 L -0.02369 0.05602 L -0.06797 0.01898 L -0.09244 0.03472 L -0.12734 0.16898 L -0.12682 0.16806 " pathEditMode="relative" ptsTypes="AAAAAA">
                                      <p:cBhvr>
                                        <p:cTn id="57" dur="2000" fill="hold"/>
                                        <p:tgtEl>
                                          <p:spTgt spid="30"/>
                                        </p:tgtEl>
                                        <p:attrNameLst>
                                          <p:attrName>ppt_x</p:attrName>
                                          <p:attrName>ppt_y</p:attrName>
                                        </p:attrNameLst>
                                      </p:cBhvr>
                                    </p:animMotion>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grpId="0" nodeType="clickEffect">
                                  <p:stCondLst>
                                    <p:cond delay="0"/>
                                  </p:stCondLst>
                                  <p:childTnLst>
                                    <p:set>
                                      <p:cBhvr>
                                        <p:cTn id="61" dur="1" fill="hold">
                                          <p:stCondLst>
                                            <p:cond delay="0"/>
                                          </p:stCondLst>
                                        </p:cTn>
                                        <p:tgtEl>
                                          <p:spTgt spid="32"/>
                                        </p:tgtEl>
                                        <p:attrNameLst>
                                          <p:attrName>style.visibility</p:attrName>
                                        </p:attrNameLst>
                                      </p:cBhvr>
                                      <p:to>
                                        <p:strVal val="visible"/>
                                      </p:to>
                                    </p:set>
                                    <p:animEffect transition="in" filter="fade">
                                      <p:cBhvr>
                                        <p:cTn id="62" dur="1000"/>
                                        <p:tgtEl>
                                          <p:spTgt spid="32"/>
                                        </p:tgtEl>
                                      </p:cBhvr>
                                    </p:animEffect>
                                    <p:anim calcmode="lin" valueType="num">
                                      <p:cBhvr>
                                        <p:cTn id="63" dur="1000" fill="hold"/>
                                        <p:tgtEl>
                                          <p:spTgt spid="32"/>
                                        </p:tgtEl>
                                        <p:attrNameLst>
                                          <p:attrName>ppt_x</p:attrName>
                                        </p:attrNameLst>
                                      </p:cBhvr>
                                      <p:tavLst>
                                        <p:tav tm="0">
                                          <p:val>
                                            <p:strVal val="#ppt_x"/>
                                          </p:val>
                                        </p:tav>
                                        <p:tav tm="100000">
                                          <p:val>
                                            <p:strVal val="#ppt_x"/>
                                          </p:val>
                                        </p:tav>
                                      </p:tavLst>
                                    </p:anim>
                                    <p:anim calcmode="lin" valueType="num">
                                      <p:cBhvr>
                                        <p:cTn id="64"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1" grpId="0" animBg="1"/>
      <p:bldP spid="22" grpId="0" animBg="1"/>
      <p:bldP spid="23" grpId="0" animBg="1"/>
      <p:bldP spid="24" grpId="0"/>
      <p:bldP spid="25" grpId="0"/>
      <p:bldP spid="27" grpId="0" animBg="1"/>
      <p:bldP spid="28" grpId="0" animBg="1"/>
      <p:bldP spid="30" grpId="0" animBg="1"/>
      <p:bldP spid="30" grpId="1" animBg="1"/>
      <p:bldP spid="3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618C5-8F94-89ED-C495-8E1A1AAAC4AA}"/>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AC1B322D-8F97-AFBE-8812-2534E0EA2878}"/>
              </a:ext>
            </a:extLst>
          </p:cNvPr>
          <p:cNvPicPr>
            <a:picLocks noChangeAspect="1"/>
          </p:cNvPicPr>
          <p:nvPr/>
        </p:nvPicPr>
        <p:blipFill>
          <a:blip r:embed="rId3"/>
          <a:stretch>
            <a:fillRect/>
          </a:stretch>
        </p:blipFill>
        <p:spPr>
          <a:xfrm>
            <a:off x="11419972" y="99001"/>
            <a:ext cx="513560" cy="513560"/>
          </a:xfrm>
          <a:prstGeom prst="rect">
            <a:avLst/>
          </a:prstGeom>
        </p:spPr>
      </p:pic>
      <p:sp>
        <p:nvSpPr>
          <p:cNvPr id="5" name="文本框 4">
            <a:extLst>
              <a:ext uri="{FF2B5EF4-FFF2-40B4-BE49-F238E27FC236}">
                <a16:creationId xmlns:a16="http://schemas.microsoft.com/office/drawing/2014/main" id="{48409FBA-8B7D-1DF3-FE8D-DA134E48A15E}"/>
              </a:ext>
            </a:extLst>
          </p:cNvPr>
          <p:cNvSpPr txBox="1"/>
          <p:nvPr/>
        </p:nvSpPr>
        <p:spPr>
          <a:xfrm>
            <a:off x="10280223" y="274007"/>
            <a:ext cx="1653309" cy="338554"/>
          </a:xfrm>
          <a:prstGeom prst="rect">
            <a:avLst/>
          </a:prstGeom>
          <a:noFill/>
        </p:spPr>
        <p:txBody>
          <a:bodyPr wrap="square" rtlCol="0">
            <a:spAutoFit/>
          </a:bodyPr>
          <a:lstStyle/>
          <a:p>
            <a:r>
              <a:rPr lang="zh-CN" altLang="en-US" sz="1600" b="1" dirty="0">
                <a:solidFill>
                  <a:srgbClr val="0070C0"/>
                </a:solidFill>
                <a:latin typeface="微软雅黑" panose="020B0503020204020204" pitchFamily="34" charset="-122"/>
                <a:ea typeface="微软雅黑" panose="020B0503020204020204" pitchFamily="34" charset="-122"/>
              </a:rPr>
              <a:t>酸沙柠檬</a:t>
            </a:r>
          </a:p>
        </p:txBody>
      </p:sp>
      <p:sp>
        <p:nvSpPr>
          <p:cNvPr id="6" name="矩形 5">
            <a:extLst>
              <a:ext uri="{FF2B5EF4-FFF2-40B4-BE49-F238E27FC236}">
                <a16:creationId xmlns:a16="http://schemas.microsoft.com/office/drawing/2014/main" id="{67B96890-C39D-9DBB-73F2-637DC35BA7C5}"/>
              </a:ext>
            </a:extLst>
          </p:cNvPr>
          <p:cNvSpPr/>
          <p:nvPr/>
        </p:nvSpPr>
        <p:spPr>
          <a:xfrm>
            <a:off x="9517283" y="704440"/>
            <a:ext cx="2416249" cy="83127"/>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a:extLst>
              <a:ext uri="{FF2B5EF4-FFF2-40B4-BE49-F238E27FC236}">
                <a16:creationId xmlns:a16="http://schemas.microsoft.com/office/drawing/2014/main" id="{DC3F9C34-F811-07E8-2BFE-EE82A6568E15}"/>
              </a:ext>
            </a:extLst>
          </p:cNvPr>
          <p:cNvSpPr txBox="1"/>
          <p:nvPr/>
        </p:nvSpPr>
        <p:spPr>
          <a:xfrm>
            <a:off x="432973" y="443284"/>
            <a:ext cx="2844800" cy="369332"/>
          </a:xfrm>
          <a:prstGeom prst="rect">
            <a:avLst/>
          </a:prstGeom>
          <a:solidFill>
            <a:srgbClr val="0070C0"/>
          </a:solidFill>
        </p:spPr>
        <p:txBody>
          <a:bodyPr wrap="square" rtlCol="0">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rPr>
              <a:t>稳定性与抗扰能力</a:t>
            </a:r>
          </a:p>
        </p:txBody>
      </p:sp>
      <p:pic>
        <p:nvPicPr>
          <p:cNvPr id="3" name="图片 2">
            <a:extLst>
              <a:ext uri="{FF2B5EF4-FFF2-40B4-BE49-F238E27FC236}">
                <a16:creationId xmlns:a16="http://schemas.microsoft.com/office/drawing/2014/main" id="{94BB09D0-B5FE-C1B2-7773-C88C8A0981EB}"/>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8772" b="89474" l="6854" r="93458">
                        <a14:foregroundMark x1="13084" y1="39474" x2="13084" y2="39474"/>
                        <a14:foregroundMark x1="31776" y1="62281" x2="31776" y2="62281"/>
                        <a14:foregroundMark x1="53894" y1="68421" x2="53894" y2="68421"/>
                        <a14:foregroundMark x1="75078" y1="61404" x2="75078" y2="61404"/>
                        <a14:foregroundMark x1="78505" y1="69298" x2="78505" y2="69298"/>
                        <a14:foregroundMark x1="80997" y1="64035" x2="80997" y2="64035"/>
                        <a14:foregroundMark x1="85981" y1="71053" x2="85981" y2="71053"/>
                        <a14:foregroundMark x1="14330" y1="51754" x2="14330" y2="51754"/>
                        <a14:foregroundMark x1="6854" y1="31579" x2="6854" y2="31579"/>
                        <a14:foregroundMark x1="93458" y1="71930" x2="93458" y2="71930"/>
                      </a14:backgroundRemoval>
                    </a14:imgEffect>
                  </a14:imgLayer>
                </a14:imgProps>
              </a:ext>
            </a:extLst>
          </a:blip>
          <a:stretch>
            <a:fillRect/>
          </a:stretch>
        </p:blipFill>
        <p:spPr>
          <a:xfrm>
            <a:off x="432973" y="2804575"/>
            <a:ext cx="3057143" cy="1085714"/>
          </a:xfrm>
          <a:prstGeom prst="rect">
            <a:avLst/>
          </a:prstGeom>
        </p:spPr>
      </p:pic>
      <p:sp>
        <p:nvSpPr>
          <p:cNvPr id="12" name="文本框 11">
            <a:extLst>
              <a:ext uri="{FF2B5EF4-FFF2-40B4-BE49-F238E27FC236}">
                <a16:creationId xmlns:a16="http://schemas.microsoft.com/office/drawing/2014/main" id="{E89AE5DC-111F-A5A1-04E7-BFA38680B4B4}"/>
              </a:ext>
            </a:extLst>
          </p:cNvPr>
          <p:cNvSpPr txBox="1"/>
          <p:nvPr/>
        </p:nvSpPr>
        <p:spPr>
          <a:xfrm>
            <a:off x="2402542" y="2606933"/>
            <a:ext cx="292213" cy="307777"/>
          </a:xfrm>
          <a:prstGeom prst="rect">
            <a:avLst/>
          </a:prstGeom>
          <a:noFill/>
        </p:spPr>
        <p:txBody>
          <a:bodyPr wrap="square" rtlCol="0">
            <a:spAutoFit/>
          </a:bodyPr>
          <a:lstStyle/>
          <a:p>
            <a:r>
              <a:rPr lang="en-US" altLang="zh-CN" sz="1400" b="1" dirty="0"/>
              <a:t>L</a:t>
            </a:r>
            <a:endParaRPr lang="zh-CN" altLang="en-US" sz="1400" b="1" dirty="0"/>
          </a:p>
        </p:txBody>
      </p:sp>
      <p:sp>
        <p:nvSpPr>
          <p:cNvPr id="13" name="文本框 12">
            <a:extLst>
              <a:ext uri="{FF2B5EF4-FFF2-40B4-BE49-F238E27FC236}">
                <a16:creationId xmlns:a16="http://schemas.microsoft.com/office/drawing/2014/main" id="{89CE5117-93BE-6A5D-1B3A-11D262B4E03A}"/>
              </a:ext>
            </a:extLst>
          </p:cNvPr>
          <p:cNvSpPr txBox="1"/>
          <p:nvPr/>
        </p:nvSpPr>
        <p:spPr>
          <a:xfrm>
            <a:off x="2402542" y="4224795"/>
            <a:ext cx="292213" cy="307777"/>
          </a:xfrm>
          <a:prstGeom prst="rect">
            <a:avLst/>
          </a:prstGeom>
          <a:noFill/>
        </p:spPr>
        <p:txBody>
          <a:bodyPr wrap="square" rtlCol="0">
            <a:spAutoFit/>
          </a:bodyPr>
          <a:lstStyle/>
          <a:p>
            <a:r>
              <a:rPr lang="en-US" altLang="zh-CN" sz="1400" b="1" dirty="0"/>
              <a:t>D</a:t>
            </a:r>
            <a:endParaRPr lang="zh-CN" altLang="en-US" sz="1400" b="1" dirty="0"/>
          </a:p>
        </p:txBody>
      </p:sp>
      <p:cxnSp>
        <p:nvCxnSpPr>
          <p:cNvPr id="15" name="直接箭头连接符 14">
            <a:extLst>
              <a:ext uri="{FF2B5EF4-FFF2-40B4-BE49-F238E27FC236}">
                <a16:creationId xmlns:a16="http://schemas.microsoft.com/office/drawing/2014/main" id="{EA862C7B-1279-5CB1-8668-104583ED4BA5}"/>
              </a:ext>
            </a:extLst>
          </p:cNvPr>
          <p:cNvCxnSpPr>
            <a:cxnSpLocks/>
          </p:cNvCxnSpPr>
          <p:nvPr/>
        </p:nvCxnSpPr>
        <p:spPr>
          <a:xfrm flipH="1" flipV="1">
            <a:off x="2960781" y="3997944"/>
            <a:ext cx="961891" cy="32094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9" name="箭头: 上 18">
            <a:extLst>
              <a:ext uri="{FF2B5EF4-FFF2-40B4-BE49-F238E27FC236}">
                <a16:creationId xmlns:a16="http://schemas.microsoft.com/office/drawing/2014/main" id="{7E31A4E6-E401-F873-52F1-01B247180A01}"/>
              </a:ext>
            </a:extLst>
          </p:cNvPr>
          <p:cNvSpPr/>
          <p:nvPr/>
        </p:nvSpPr>
        <p:spPr>
          <a:xfrm>
            <a:off x="2313250" y="2804575"/>
            <a:ext cx="89292" cy="731912"/>
          </a:xfrm>
          <a:prstGeom prst="up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0" name="箭头: 上 19">
            <a:extLst>
              <a:ext uri="{FF2B5EF4-FFF2-40B4-BE49-F238E27FC236}">
                <a16:creationId xmlns:a16="http://schemas.microsoft.com/office/drawing/2014/main" id="{8397E4CB-8A2B-62BF-0FFA-C761BCD439CF}"/>
              </a:ext>
            </a:extLst>
          </p:cNvPr>
          <p:cNvSpPr/>
          <p:nvPr/>
        </p:nvSpPr>
        <p:spPr>
          <a:xfrm rot="10800000">
            <a:off x="2322570" y="3536487"/>
            <a:ext cx="89292" cy="731912"/>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0" name="直接连接符 39">
            <a:extLst>
              <a:ext uri="{FF2B5EF4-FFF2-40B4-BE49-F238E27FC236}">
                <a16:creationId xmlns:a16="http://schemas.microsoft.com/office/drawing/2014/main" id="{3BDD1311-F186-4A56-ECF2-8C4950D3CB2A}"/>
              </a:ext>
            </a:extLst>
          </p:cNvPr>
          <p:cNvCxnSpPr>
            <a:cxnSpLocks/>
          </p:cNvCxnSpPr>
          <p:nvPr/>
        </p:nvCxnSpPr>
        <p:spPr>
          <a:xfrm>
            <a:off x="2960781" y="4335931"/>
            <a:ext cx="1218615" cy="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43" name="弧形 42">
            <a:extLst>
              <a:ext uri="{FF2B5EF4-FFF2-40B4-BE49-F238E27FC236}">
                <a16:creationId xmlns:a16="http://schemas.microsoft.com/office/drawing/2014/main" id="{D9DE4118-BA9C-0C1C-87A2-6621F8C50628}"/>
              </a:ext>
            </a:extLst>
          </p:cNvPr>
          <p:cNvSpPr/>
          <p:nvPr/>
        </p:nvSpPr>
        <p:spPr>
          <a:xfrm rot="16200000">
            <a:off x="3466837" y="4246347"/>
            <a:ext cx="495294" cy="416376"/>
          </a:xfrm>
          <a:prstGeom prst="arc">
            <a:avLst>
              <a:gd name="adj1" fmla="val 18123480"/>
              <a:gd name="adj2" fmla="val 20391642"/>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44" name="文本框 43">
                <a:extLst>
                  <a:ext uri="{FF2B5EF4-FFF2-40B4-BE49-F238E27FC236}">
                    <a16:creationId xmlns:a16="http://schemas.microsoft.com/office/drawing/2014/main" id="{49C59F2E-C353-F1FD-F018-6202AD425B29}"/>
                  </a:ext>
                </a:extLst>
              </p:cNvPr>
              <p:cNvSpPr txBox="1"/>
              <p:nvPr/>
            </p:nvSpPr>
            <p:spPr>
              <a:xfrm>
                <a:off x="3129857" y="4058932"/>
                <a:ext cx="20736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𝛼</m:t>
                      </m:r>
                    </m:oMath>
                  </m:oMathPara>
                </a14:m>
                <a:endParaRPr lang="zh-CN" altLang="en-US" dirty="0"/>
              </a:p>
            </p:txBody>
          </p:sp>
        </mc:Choice>
        <mc:Fallback xmlns="">
          <p:sp>
            <p:nvSpPr>
              <p:cNvPr id="44" name="文本框 43">
                <a:extLst>
                  <a:ext uri="{FF2B5EF4-FFF2-40B4-BE49-F238E27FC236}">
                    <a16:creationId xmlns:a16="http://schemas.microsoft.com/office/drawing/2014/main" id="{92BDDC73-358B-2781-9871-A2C3A4A1E11D}"/>
                  </a:ext>
                </a:extLst>
              </p:cNvPr>
              <p:cNvSpPr txBox="1">
                <a:spLocks noRot="1" noChangeAspect="1" noMove="1" noResize="1" noEditPoints="1" noAdjustHandles="1" noChangeArrowheads="1" noChangeShapeType="1" noTextEdit="1"/>
              </p:cNvSpPr>
              <p:nvPr/>
            </p:nvSpPr>
            <p:spPr>
              <a:xfrm>
                <a:off x="3129857" y="4058932"/>
                <a:ext cx="207364" cy="276999"/>
              </a:xfrm>
              <a:prstGeom prst="rect">
                <a:avLst/>
              </a:prstGeom>
              <a:blipFill>
                <a:blip r:embed="rId6"/>
                <a:stretch>
                  <a:fillRect l="-14706" r="-11765"/>
                </a:stretch>
              </a:blipFill>
            </p:spPr>
            <p:txBody>
              <a:bodyPr/>
              <a:lstStyle/>
              <a:p>
                <a:r>
                  <a:rPr lang="zh-CN" altLang="en-US">
                    <a:noFill/>
                  </a:rPr>
                  <a:t> </a:t>
                </a:r>
              </a:p>
            </p:txBody>
          </p:sp>
        </mc:Fallback>
      </mc:AlternateContent>
      <p:cxnSp>
        <p:nvCxnSpPr>
          <p:cNvPr id="45" name="直接箭头连接符 44">
            <a:extLst>
              <a:ext uri="{FF2B5EF4-FFF2-40B4-BE49-F238E27FC236}">
                <a16:creationId xmlns:a16="http://schemas.microsoft.com/office/drawing/2014/main" id="{FE113785-09D6-7FDE-005F-7985A8318178}"/>
              </a:ext>
            </a:extLst>
          </p:cNvPr>
          <p:cNvCxnSpPr>
            <a:cxnSpLocks/>
          </p:cNvCxnSpPr>
          <p:nvPr/>
        </p:nvCxnSpPr>
        <p:spPr>
          <a:xfrm flipH="1" flipV="1">
            <a:off x="3111099" y="3839049"/>
            <a:ext cx="739906" cy="47793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F893EEFA-A192-3AF2-4E0A-D8C60CA053E8}"/>
              </a:ext>
            </a:extLst>
          </p:cNvPr>
          <p:cNvCxnSpPr>
            <a:cxnSpLocks/>
          </p:cNvCxnSpPr>
          <p:nvPr/>
        </p:nvCxnSpPr>
        <p:spPr>
          <a:xfrm>
            <a:off x="2960781" y="4335931"/>
            <a:ext cx="1218615" cy="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48" name="弧形 47">
            <a:extLst>
              <a:ext uri="{FF2B5EF4-FFF2-40B4-BE49-F238E27FC236}">
                <a16:creationId xmlns:a16="http://schemas.microsoft.com/office/drawing/2014/main" id="{B89D4550-C22E-6690-2D5F-8A4A0688625C}"/>
              </a:ext>
            </a:extLst>
          </p:cNvPr>
          <p:cNvSpPr/>
          <p:nvPr/>
        </p:nvSpPr>
        <p:spPr>
          <a:xfrm rot="16200000">
            <a:off x="3440231" y="4236890"/>
            <a:ext cx="495294" cy="416376"/>
          </a:xfrm>
          <a:prstGeom prst="arc">
            <a:avLst>
              <a:gd name="adj1" fmla="val 18123480"/>
              <a:gd name="adj2" fmla="val 21018102"/>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49" name="文本框 48">
                <a:extLst>
                  <a:ext uri="{FF2B5EF4-FFF2-40B4-BE49-F238E27FC236}">
                    <a16:creationId xmlns:a16="http://schemas.microsoft.com/office/drawing/2014/main" id="{5CAA8084-F6B0-BBB0-7343-BB9AED2F8C62}"/>
                  </a:ext>
                </a:extLst>
              </p:cNvPr>
              <p:cNvSpPr txBox="1"/>
              <p:nvPr/>
            </p:nvSpPr>
            <p:spPr>
              <a:xfrm>
                <a:off x="2728205" y="4049460"/>
                <a:ext cx="76578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𝛼</m:t>
                      </m:r>
                      <m:r>
                        <a:rPr lang="en-US" altLang="zh-CN" b="0" i="1" smtClean="0">
                          <a:latin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m:t>
                      </m:r>
                      <m:r>
                        <a:rPr lang="zh-CN" altLang="en-US" i="1">
                          <a:latin typeface="Cambria Math" panose="02040503050406030204" pitchFamily="18" charset="0"/>
                        </a:rPr>
                        <m:t>𝛼</m:t>
                      </m:r>
                    </m:oMath>
                  </m:oMathPara>
                </a14:m>
                <a:endParaRPr lang="zh-CN" altLang="en-US" dirty="0"/>
              </a:p>
            </p:txBody>
          </p:sp>
        </mc:Choice>
        <mc:Fallback xmlns="">
          <p:sp>
            <p:nvSpPr>
              <p:cNvPr id="49" name="文本框 48">
                <a:extLst>
                  <a:ext uri="{FF2B5EF4-FFF2-40B4-BE49-F238E27FC236}">
                    <a16:creationId xmlns:a16="http://schemas.microsoft.com/office/drawing/2014/main" id="{FCC515E6-68EE-3E8B-6218-CF2375A5A3C2}"/>
                  </a:ext>
                </a:extLst>
              </p:cNvPr>
              <p:cNvSpPr txBox="1">
                <a:spLocks noRot="1" noChangeAspect="1" noMove="1" noResize="1" noEditPoints="1" noAdjustHandles="1" noChangeArrowheads="1" noChangeShapeType="1" noTextEdit="1"/>
              </p:cNvSpPr>
              <p:nvPr/>
            </p:nvSpPr>
            <p:spPr>
              <a:xfrm>
                <a:off x="2728205" y="4049460"/>
                <a:ext cx="765787" cy="276999"/>
              </a:xfrm>
              <a:prstGeom prst="rect">
                <a:avLst/>
              </a:prstGeom>
              <a:blipFill>
                <a:blip r:embed="rId7"/>
                <a:stretch>
                  <a:fillRect l="-3200" r="-4000" b="-6522"/>
                </a:stretch>
              </a:blipFill>
            </p:spPr>
            <p:txBody>
              <a:bodyPr/>
              <a:lstStyle/>
              <a:p>
                <a:r>
                  <a:rPr lang="zh-CN" altLang="en-US">
                    <a:noFill/>
                  </a:rPr>
                  <a:t> </a:t>
                </a:r>
              </a:p>
            </p:txBody>
          </p:sp>
        </mc:Fallback>
      </mc:AlternateContent>
      <p:sp>
        <p:nvSpPr>
          <p:cNvPr id="53" name="左大括号 52">
            <a:extLst>
              <a:ext uri="{FF2B5EF4-FFF2-40B4-BE49-F238E27FC236}">
                <a16:creationId xmlns:a16="http://schemas.microsoft.com/office/drawing/2014/main" id="{C7290640-7BE9-5A96-3D3E-9BA303845E2F}"/>
              </a:ext>
            </a:extLst>
          </p:cNvPr>
          <p:cNvSpPr/>
          <p:nvPr/>
        </p:nvSpPr>
        <p:spPr>
          <a:xfrm>
            <a:off x="4011000" y="1696801"/>
            <a:ext cx="637428" cy="387095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54" name="图片 53">
            <a:extLst>
              <a:ext uri="{FF2B5EF4-FFF2-40B4-BE49-F238E27FC236}">
                <a16:creationId xmlns:a16="http://schemas.microsoft.com/office/drawing/2014/main" id="{6217A2C8-31A4-D896-BFD1-C5CE8D6DDAF2}"/>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8772" b="89474" l="6854" r="93458">
                        <a14:foregroundMark x1="13084" y1="39474" x2="13084" y2="39474"/>
                        <a14:foregroundMark x1="31776" y1="62281" x2="31776" y2="62281"/>
                        <a14:foregroundMark x1="53894" y1="68421" x2="53894" y2="68421"/>
                        <a14:foregroundMark x1="75078" y1="61404" x2="75078" y2="61404"/>
                        <a14:foregroundMark x1="78505" y1="69298" x2="78505" y2="69298"/>
                        <a14:foregroundMark x1="80997" y1="64035" x2="80997" y2="64035"/>
                        <a14:foregroundMark x1="85981" y1="71053" x2="85981" y2="71053"/>
                        <a14:foregroundMark x1="14330" y1="51754" x2="14330" y2="51754"/>
                        <a14:foregroundMark x1="6854" y1="31579" x2="6854" y2="31579"/>
                        <a14:foregroundMark x1="93458" y1="71930" x2="93458" y2="71930"/>
                      </a14:backgroundRemoval>
                    </a14:imgEffect>
                  </a14:imgLayer>
                </a14:imgProps>
              </a:ext>
            </a:extLst>
          </a:blip>
          <a:stretch>
            <a:fillRect/>
          </a:stretch>
        </p:blipFill>
        <p:spPr>
          <a:xfrm rot="1043913">
            <a:off x="4600903" y="1376444"/>
            <a:ext cx="3057143" cy="1085714"/>
          </a:xfrm>
          <a:prstGeom prst="rect">
            <a:avLst/>
          </a:prstGeom>
        </p:spPr>
      </p:pic>
      <p:sp>
        <p:nvSpPr>
          <p:cNvPr id="55" name="箭头: 上 54">
            <a:extLst>
              <a:ext uri="{FF2B5EF4-FFF2-40B4-BE49-F238E27FC236}">
                <a16:creationId xmlns:a16="http://schemas.microsoft.com/office/drawing/2014/main" id="{5FD158ED-E7E2-1CCD-9C2E-1BC7F7D721B6}"/>
              </a:ext>
            </a:extLst>
          </p:cNvPr>
          <p:cNvSpPr/>
          <p:nvPr/>
        </p:nvSpPr>
        <p:spPr>
          <a:xfrm>
            <a:off x="5978657" y="1736708"/>
            <a:ext cx="89292" cy="383511"/>
          </a:xfrm>
          <a:prstGeom prst="up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56" name="文本框 55">
            <a:extLst>
              <a:ext uri="{FF2B5EF4-FFF2-40B4-BE49-F238E27FC236}">
                <a16:creationId xmlns:a16="http://schemas.microsoft.com/office/drawing/2014/main" id="{E316E84D-D713-E64C-C1A6-64D70095123E}"/>
              </a:ext>
            </a:extLst>
          </p:cNvPr>
          <p:cNvSpPr txBox="1"/>
          <p:nvPr/>
        </p:nvSpPr>
        <p:spPr>
          <a:xfrm>
            <a:off x="5731091" y="1402202"/>
            <a:ext cx="397720" cy="307777"/>
          </a:xfrm>
          <a:prstGeom prst="rect">
            <a:avLst/>
          </a:prstGeom>
          <a:noFill/>
        </p:spPr>
        <p:txBody>
          <a:bodyPr wrap="square" rtlCol="0">
            <a:spAutoFit/>
          </a:bodyPr>
          <a:lstStyle/>
          <a:p>
            <a:r>
              <a:rPr lang="en-US" altLang="zh-CN" sz="1400" b="1" dirty="0"/>
              <a:t>ΔL</a:t>
            </a:r>
            <a:endParaRPr lang="zh-CN" altLang="en-US" sz="1400" b="1" dirty="0"/>
          </a:p>
        </p:txBody>
      </p:sp>
      <p:sp>
        <p:nvSpPr>
          <p:cNvPr id="57" name="文本框 56">
            <a:extLst>
              <a:ext uri="{FF2B5EF4-FFF2-40B4-BE49-F238E27FC236}">
                <a16:creationId xmlns:a16="http://schemas.microsoft.com/office/drawing/2014/main" id="{4B66997E-4341-6884-0FEB-D66052EB019A}"/>
              </a:ext>
            </a:extLst>
          </p:cNvPr>
          <p:cNvSpPr txBox="1"/>
          <p:nvPr/>
        </p:nvSpPr>
        <p:spPr>
          <a:xfrm>
            <a:off x="6375319" y="1260799"/>
            <a:ext cx="292213" cy="307777"/>
          </a:xfrm>
          <a:prstGeom prst="rect">
            <a:avLst/>
          </a:prstGeom>
          <a:noFill/>
        </p:spPr>
        <p:txBody>
          <a:bodyPr wrap="square" rtlCol="0">
            <a:spAutoFit/>
          </a:bodyPr>
          <a:lstStyle/>
          <a:p>
            <a:r>
              <a:rPr lang="en-US" altLang="zh-CN" sz="1400" b="1" dirty="0"/>
              <a:t>L</a:t>
            </a:r>
            <a:endParaRPr lang="zh-CN" altLang="en-US" sz="1400" b="1" dirty="0"/>
          </a:p>
        </p:txBody>
      </p:sp>
      <p:sp>
        <p:nvSpPr>
          <p:cNvPr id="58" name="文本框 57">
            <a:extLst>
              <a:ext uri="{FF2B5EF4-FFF2-40B4-BE49-F238E27FC236}">
                <a16:creationId xmlns:a16="http://schemas.microsoft.com/office/drawing/2014/main" id="{ECA5848B-73C0-ED14-29DD-FF27057D5F01}"/>
              </a:ext>
            </a:extLst>
          </p:cNvPr>
          <p:cNvSpPr txBox="1"/>
          <p:nvPr/>
        </p:nvSpPr>
        <p:spPr>
          <a:xfrm>
            <a:off x="6375319" y="2878661"/>
            <a:ext cx="292213" cy="307777"/>
          </a:xfrm>
          <a:prstGeom prst="rect">
            <a:avLst/>
          </a:prstGeom>
          <a:noFill/>
        </p:spPr>
        <p:txBody>
          <a:bodyPr wrap="square" rtlCol="0">
            <a:spAutoFit/>
          </a:bodyPr>
          <a:lstStyle/>
          <a:p>
            <a:r>
              <a:rPr lang="en-US" altLang="zh-CN" sz="1400" b="1" dirty="0"/>
              <a:t>D</a:t>
            </a:r>
            <a:endParaRPr lang="zh-CN" altLang="en-US" sz="1400" b="1" dirty="0"/>
          </a:p>
        </p:txBody>
      </p:sp>
      <p:sp>
        <p:nvSpPr>
          <p:cNvPr id="59" name="箭头: 上 58">
            <a:extLst>
              <a:ext uri="{FF2B5EF4-FFF2-40B4-BE49-F238E27FC236}">
                <a16:creationId xmlns:a16="http://schemas.microsoft.com/office/drawing/2014/main" id="{6AAD0339-5657-6514-7602-586F2BB8F6ED}"/>
              </a:ext>
            </a:extLst>
          </p:cNvPr>
          <p:cNvSpPr/>
          <p:nvPr/>
        </p:nvSpPr>
        <p:spPr>
          <a:xfrm>
            <a:off x="6286027" y="1458441"/>
            <a:ext cx="89292" cy="731912"/>
          </a:xfrm>
          <a:prstGeom prst="up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0" name="箭头: 上 59">
            <a:extLst>
              <a:ext uri="{FF2B5EF4-FFF2-40B4-BE49-F238E27FC236}">
                <a16:creationId xmlns:a16="http://schemas.microsoft.com/office/drawing/2014/main" id="{625D7052-0236-7401-D599-7CD6237B1309}"/>
              </a:ext>
            </a:extLst>
          </p:cNvPr>
          <p:cNvSpPr/>
          <p:nvPr/>
        </p:nvSpPr>
        <p:spPr>
          <a:xfrm rot="10800000">
            <a:off x="6295347" y="2190353"/>
            <a:ext cx="89292" cy="731912"/>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1" name="图片 60">
            <a:extLst>
              <a:ext uri="{FF2B5EF4-FFF2-40B4-BE49-F238E27FC236}">
                <a16:creationId xmlns:a16="http://schemas.microsoft.com/office/drawing/2014/main" id="{C9D593B8-F758-3D1C-3ABD-70B0F80241C5}"/>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8772" b="89474" l="6854" r="93458">
                        <a14:foregroundMark x1="13084" y1="39474" x2="13084" y2="39474"/>
                        <a14:foregroundMark x1="31776" y1="62281" x2="31776" y2="62281"/>
                        <a14:foregroundMark x1="53894" y1="68421" x2="53894" y2="68421"/>
                        <a14:foregroundMark x1="75078" y1="61404" x2="75078" y2="61404"/>
                        <a14:foregroundMark x1="78505" y1="69298" x2="78505" y2="69298"/>
                        <a14:foregroundMark x1="80997" y1="64035" x2="80997" y2="64035"/>
                        <a14:foregroundMark x1="85981" y1="71053" x2="85981" y2="71053"/>
                        <a14:foregroundMark x1="14330" y1="51754" x2="14330" y2="51754"/>
                        <a14:foregroundMark x1="6854" y1="31579" x2="6854" y2="31579"/>
                        <a14:foregroundMark x1="93458" y1="71930" x2="93458" y2="71930"/>
                      </a14:backgroundRemoval>
                    </a14:imgEffect>
                  </a14:imgLayer>
                </a14:imgProps>
              </a:ext>
            </a:extLst>
          </a:blip>
          <a:stretch>
            <a:fillRect/>
          </a:stretch>
        </p:blipFill>
        <p:spPr>
          <a:xfrm rot="20593497">
            <a:off x="4539377" y="4268830"/>
            <a:ext cx="3057143" cy="1085714"/>
          </a:xfrm>
          <a:prstGeom prst="rect">
            <a:avLst/>
          </a:prstGeom>
        </p:spPr>
      </p:pic>
      <p:sp>
        <p:nvSpPr>
          <p:cNvPr id="62" name="箭头: 上 61">
            <a:extLst>
              <a:ext uri="{FF2B5EF4-FFF2-40B4-BE49-F238E27FC236}">
                <a16:creationId xmlns:a16="http://schemas.microsoft.com/office/drawing/2014/main" id="{7E7ACBD0-CB79-9994-F0A2-8620E14C6093}"/>
              </a:ext>
            </a:extLst>
          </p:cNvPr>
          <p:cNvSpPr/>
          <p:nvPr/>
        </p:nvSpPr>
        <p:spPr>
          <a:xfrm>
            <a:off x="6550880" y="4447648"/>
            <a:ext cx="89292" cy="383511"/>
          </a:xfrm>
          <a:prstGeom prst="up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3" name="文本框 62">
            <a:extLst>
              <a:ext uri="{FF2B5EF4-FFF2-40B4-BE49-F238E27FC236}">
                <a16:creationId xmlns:a16="http://schemas.microsoft.com/office/drawing/2014/main" id="{401A9B2A-461D-F3AC-CFED-D1E43720E709}"/>
              </a:ext>
            </a:extLst>
          </p:cNvPr>
          <p:cNvSpPr txBox="1"/>
          <p:nvPr/>
        </p:nvSpPr>
        <p:spPr>
          <a:xfrm>
            <a:off x="6639995" y="4159246"/>
            <a:ext cx="397720" cy="307777"/>
          </a:xfrm>
          <a:prstGeom prst="rect">
            <a:avLst/>
          </a:prstGeom>
          <a:noFill/>
        </p:spPr>
        <p:txBody>
          <a:bodyPr wrap="square" rtlCol="0">
            <a:spAutoFit/>
          </a:bodyPr>
          <a:lstStyle/>
          <a:p>
            <a:r>
              <a:rPr lang="en-US" altLang="zh-CN" sz="1400" b="1" dirty="0"/>
              <a:t>ΔL</a:t>
            </a:r>
            <a:endParaRPr lang="zh-CN" altLang="en-US" sz="1400" b="1" dirty="0"/>
          </a:p>
        </p:txBody>
      </p:sp>
      <p:sp>
        <p:nvSpPr>
          <p:cNvPr id="64" name="文本框 63">
            <a:extLst>
              <a:ext uri="{FF2B5EF4-FFF2-40B4-BE49-F238E27FC236}">
                <a16:creationId xmlns:a16="http://schemas.microsoft.com/office/drawing/2014/main" id="{1BFFB376-4300-B862-3827-08E4434DA6B4}"/>
              </a:ext>
            </a:extLst>
          </p:cNvPr>
          <p:cNvSpPr txBox="1"/>
          <p:nvPr/>
        </p:nvSpPr>
        <p:spPr>
          <a:xfrm>
            <a:off x="6258667" y="4125310"/>
            <a:ext cx="292213" cy="307777"/>
          </a:xfrm>
          <a:prstGeom prst="rect">
            <a:avLst/>
          </a:prstGeom>
          <a:noFill/>
        </p:spPr>
        <p:txBody>
          <a:bodyPr wrap="square" rtlCol="0">
            <a:spAutoFit/>
          </a:bodyPr>
          <a:lstStyle/>
          <a:p>
            <a:r>
              <a:rPr lang="en-US" altLang="zh-CN" sz="1400" b="1" dirty="0"/>
              <a:t>L</a:t>
            </a:r>
            <a:endParaRPr lang="zh-CN" altLang="en-US" sz="1400" b="1" dirty="0"/>
          </a:p>
        </p:txBody>
      </p:sp>
      <p:sp>
        <p:nvSpPr>
          <p:cNvPr id="65" name="文本框 64">
            <a:extLst>
              <a:ext uri="{FF2B5EF4-FFF2-40B4-BE49-F238E27FC236}">
                <a16:creationId xmlns:a16="http://schemas.microsoft.com/office/drawing/2014/main" id="{F676346B-43C2-07B0-5134-ED939F4508EC}"/>
              </a:ext>
            </a:extLst>
          </p:cNvPr>
          <p:cNvSpPr txBox="1"/>
          <p:nvPr/>
        </p:nvSpPr>
        <p:spPr>
          <a:xfrm>
            <a:off x="6258667" y="5743172"/>
            <a:ext cx="292213" cy="307777"/>
          </a:xfrm>
          <a:prstGeom prst="rect">
            <a:avLst/>
          </a:prstGeom>
          <a:noFill/>
        </p:spPr>
        <p:txBody>
          <a:bodyPr wrap="square" rtlCol="0">
            <a:spAutoFit/>
          </a:bodyPr>
          <a:lstStyle/>
          <a:p>
            <a:r>
              <a:rPr lang="en-US" altLang="zh-CN" sz="1400" b="1" dirty="0"/>
              <a:t>D</a:t>
            </a:r>
            <a:endParaRPr lang="zh-CN" altLang="en-US" sz="1400" b="1" dirty="0"/>
          </a:p>
        </p:txBody>
      </p:sp>
      <p:sp>
        <p:nvSpPr>
          <p:cNvPr id="66" name="箭头: 上 65">
            <a:extLst>
              <a:ext uri="{FF2B5EF4-FFF2-40B4-BE49-F238E27FC236}">
                <a16:creationId xmlns:a16="http://schemas.microsoft.com/office/drawing/2014/main" id="{8894A67D-B090-1C48-E5EE-6470FF087A72}"/>
              </a:ext>
            </a:extLst>
          </p:cNvPr>
          <p:cNvSpPr/>
          <p:nvPr/>
        </p:nvSpPr>
        <p:spPr>
          <a:xfrm>
            <a:off x="6169375" y="4322952"/>
            <a:ext cx="89292" cy="731912"/>
          </a:xfrm>
          <a:prstGeom prst="up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7" name="箭头: 上 66">
            <a:extLst>
              <a:ext uri="{FF2B5EF4-FFF2-40B4-BE49-F238E27FC236}">
                <a16:creationId xmlns:a16="http://schemas.microsoft.com/office/drawing/2014/main" id="{B84E1E41-32CD-8412-093C-B3273373A122}"/>
              </a:ext>
            </a:extLst>
          </p:cNvPr>
          <p:cNvSpPr/>
          <p:nvPr/>
        </p:nvSpPr>
        <p:spPr>
          <a:xfrm rot="10800000">
            <a:off x="6178695" y="5054864"/>
            <a:ext cx="89292" cy="731912"/>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8" name="图片 67">
            <a:extLst>
              <a:ext uri="{FF2B5EF4-FFF2-40B4-BE49-F238E27FC236}">
                <a16:creationId xmlns:a16="http://schemas.microsoft.com/office/drawing/2014/main" id="{92C94D65-C70C-26D6-D270-0564FD4A8117}"/>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161119" y="1764663"/>
            <a:ext cx="3761843" cy="3346812"/>
          </a:xfrm>
          <a:prstGeom prst="rect">
            <a:avLst/>
          </a:prstGeom>
          <a:noFill/>
          <a:ln>
            <a:noFill/>
          </a:ln>
        </p:spPr>
      </p:pic>
      <p:sp>
        <p:nvSpPr>
          <p:cNvPr id="72" name="流程图: 接点 71">
            <a:extLst>
              <a:ext uri="{FF2B5EF4-FFF2-40B4-BE49-F238E27FC236}">
                <a16:creationId xmlns:a16="http://schemas.microsoft.com/office/drawing/2014/main" id="{AE782F0C-0610-65DA-105E-D59BA384AF8F}"/>
              </a:ext>
            </a:extLst>
          </p:cNvPr>
          <p:cNvSpPr/>
          <p:nvPr/>
        </p:nvSpPr>
        <p:spPr>
          <a:xfrm>
            <a:off x="9193384" y="2839106"/>
            <a:ext cx="200025" cy="200025"/>
          </a:xfrm>
          <a:prstGeom prst="flowChartConnector">
            <a:avLst/>
          </a:prstGeom>
          <a:no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6" name="直接箭头连接符 75">
            <a:extLst>
              <a:ext uri="{FF2B5EF4-FFF2-40B4-BE49-F238E27FC236}">
                <a16:creationId xmlns:a16="http://schemas.microsoft.com/office/drawing/2014/main" id="{50CF0509-23CC-B914-C3F2-88A449D5DAF9}"/>
              </a:ext>
            </a:extLst>
          </p:cNvPr>
          <p:cNvCxnSpPr/>
          <p:nvPr/>
        </p:nvCxnSpPr>
        <p:spPr>
          <a:xfrm>
            <a:off x="9346842" y="3039131"/>
            <a:ext cx="262467" cy="269875"/>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77" name="流程图: 接点 76">
            <a:extLst>
              <a:ext uri="{FF2B5EF4-FFF2-40B4-BE49-F238E27FC236}">
                <a16:creationId xmlns:a16="http://schemas.microsoft.com/office/drawing/2014/main" id="{BE68702C-DD9C-D581-5309-BDF970D1E1FE}"/>
              </a:ext>
            </a:extLst>
          </p:cNvPr>
          <p:cNvSpPr/>
          <p:nvPr/>
        </p:nvSpPr>
        <p:spPr>
          <a:xfrm>
            <a:off x="9562741" y="3259873"/>
            <a:ext cx="200025" cy="200025"/>
          </a:xfrm>
          <a:prstGeom prst="flowChartConnector">
            <a:avLst/>
          </a:prstGeom>
          <a:no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79" name="文本框 78">
                <a:extLst>
                  <a:ext uri="{FF2B5EF4-FFF2-40B4-BE49-F238E27FC236}">
                    <a16:creationId xmlns:a16="http://schemas.microsoft.com/office/drawing/2014/main" id="{19D82181-F580-1CF0-58AA-178DDFA77789}"/>
                  </a:ext>
                </a:extLst>
              </p:cNvPr>
              <p:cNvSpPr txBox="1"/>
              <p:nvPr/>
            </p:nvSpPr>
            <p:spPr>
              <a:xfrm>
                <a:off x="5076294" y="3253403"/>
                <a:ext cx="227545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type m:val="lin"/>
                          <m:ctrlPr>
                            <a:rPr lang="en-US" altLang="zh-CN" i="1" smtClean="0">
                              <a:latin typeface="Cambria Math" panose="02040503050406030204" pitchFamily="18" charset="0"/>
                            </a:rPr>
                          </m:ctrlPr>
                        </m:fPr>
                        <m:num>
                          <m:r>
                            <a:rPr lang="zh-CN" altLang="en-US"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𝐶</m:t>
                              </m:r>
                            </m:e>
                            <m:sub>
                              <m:r>
                                <a:rPr lang="en-US" altLang="zh-CN" i="1">
                                  <a:latin typeface="Cambria Math" panose="02040503050406030204" pitchFamily="18" charset="0"/>
                                </a:rPr>
                                <m:t>𝑚</m:t>
                              </m:r>
                            </m:sub>
                          </m:sSub>
                        </m:num>
                        <m:den>
                          <m:r>
                            <a:rPr lang="zh-CN" altLang="en-US" i="1">
                              <a:latin typeface="Cambria Math" panose="02040503050406030204" pitchFamily="18" charset="0"/>
                            </a:rPr>
                            <m:t>𝜕</m:t>
                          </m:r>
                          <m:r>
                            <a:rPr lang="zh-CN" altLang="en-US" i="1" smtClean="0">
                              <a:latin typeface="Cambria Math" panose="02040503050406030204" pitchFamily="18" charset="0"/>
                            </a:rPr>
                            <m:t>𝛼</m:t>
                          </m:r>
                        </m:den>
                      </m:f>
                      <m:r>
                        <a:rPr lang="en-US" altLang="zh-CN" i="1" smtClean="0">
                          <a:latin typeface="Cambria Math" panose="02040503050406030204" pitchFamily="18" charset="0"/>
                          <a:ea typeface="Cambria Math" panose="02040503050406030204" pitchFamily="18" charset="0"/>
                        </a:rPr>
                        <m:t>&lt;</m:t>
                      </m:r>
                      <m:r>
                        <a:rPr lang="en-US" altLang="zh-CN" b="0" i="1" smtClean="0">
                          <a:latin typeface="Cambria Math" panose="02040503050406030204" pitchFamily="18" charset="0"/>
                          <a:ea typeface="Cambria Math" panose="02040503050406030204" pitchFamily="18" charset="0"/>
                        </a:rPr>
                        <m:t>0</m:t>
                      </m:r>
                    </m:oMath>
                  </m:oMathPara>
                </a14:m>
                <a:endParaRPr lang="zh-CN" altLang="en-US" dirty="0"/>
              </a:p>
            </p:txBody>
          </p:sp>
        </mc:Choice>
        <mc:Fallback xmlns="">
          <p:sp>
            <p:nvSpPr>
              <p:cNvPr id="79" name="文本框 78">
                <a:extLst>
                  <a:ext uri="{FF2B5EF4-FFF2-40B4-BE49-F238E27FC236}">
                    <a16:creationId xmlns:a16="http://schemas.microsoft.com/office/drawing/2014/main" id="{AB89491B-7542-DB42-60EE-CC2E99AA0EB3}"/>
                  </a:ext>
                </a:extLst>
              </p:cNvPr>
              <p:cNvSpPr txBox="1">
                <a:spLocks noRot="1" noChangeAspect="1" noMove="1" noResize="1" noEditPoints="1" noAdjustHandles="1" noChangeArrowheads="1" noChangeShapeType="1" noTextEdit="1"/>
              </p:cNvSpPr>
              <p:nvPr/>
            </p:nvSpPr>
            <p:spPr>
              <a:xfrm>
                <a:off x="5076294" y="3253403"/>
                <a:ext cx="2275454" cy="369332"/>
              </a:xfrm>
              <a:prstGeom prst="rect">
                <a:avLst/>
              </a:prstGeom>
              <a:blipFill>
                <a:blip r:embed="rId9"/>
                <a:stretch>
                  <a:fillRect t="-118333" b="-18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0" name="文本框 79">
                <a:extLst>
                  <a:ext uri="{FF2B5EF4-FFF2-40B4-BE49-F238E27FC236}">
                    <a16:creationId xmlns:a16="http://schemas.microsoft.com/office/drawing/2014/main" id="{6AA89923-19E4-55C4-9B75-07F28A2614A7}"/>
                  </a:ext>
                </a:extLst>
              </p:cNvPr>
              <p:cNvSpPr txBox="1"/>
              <p:nvPr/>
            </p:nvSpPr>
            <p:spPr>
              <a:xfrm>
                <a:off x="5076294" y="6240740"/>
                <a:ext cx="227545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type m:val="lin"/>
                          <m:ctrlPr>
                            <a:rPr lang="en-US" altLang="zh-CN" i="1" smtClean="0">
                              <a:latin typeface="Cambria Math" panose="02040503050406030204" pitchFamily="18" charset="0"/>
                            </a:rPr>
                          </m:ctrlPr>
                        </m:fPr>
                        <m:num>
                          <m:r>
                            <a:rPr lang="zh-CN" altLang="en-US"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𝐶</m:t>
                              </m:r>
                            </m:e>
                            <m:sub>
                              <m:r>
                                <a:rPr lang="en-US" altLang="zh-CN" i="1">
                                  <a:latin typeface="Cambria Math" panose="02040503050406030204" pitchFamily="18" charset="0"/>
                                </a:rPr>
                                <m:t>𝑚</m:t>
                              </m:r>
                            </m:sub>
                          </m:sSub>
                        </m:num>
                        <m:den>
                          <m:r>
                            <a:rPr lang="zh-CN" altLang="en-US" i="1">
                              <a:latin typeface="Cambria Math" panose="02040503050406030204" pitchFamily="18" charset="0"/>
                            </a:rPr>
                            <m:t>𝜕</m:t>
                          </m:r>
                          <m:r>
                            <a:rPr lang="zh-CN" altLang="en-US" i="1" smtClean="0">
                              <a:latin typeface="Cambria Math" panose="02040503050406030204" pitchFamily="18" charset="0"/>
                            </a:rPr>
                            <m:t>𝛼</m:t>
                          </m:r>
                        </m:den>
                      </m:f>
                      <m:r>
                        <a:rPr lang="en-US" altLang="zh-CN" b="0" i="1" smtClean="0">
                          <a:latin typeface="Cambria Math" panose="02040503050406030204" pitchFamily="18" charset="0"/>
                        </a:rPr>
                        <m:t>&gt;</m:t>
                      </m:r>
                      <m:r>
                        <a:rPr lang="en-US" altLang="zh-CN" b="0" i="1" smtClean="0">
                          <a:latin typeface="Cambria Math" panose="02040503050406030204" pitchFamily="18" charset="0"/>
                          <a:ea typeface="Cambria Math" panose="02040503050406030204" pitchFamily="18" charset="0"/>
                        </a:rPr>
                        <m:t>0</m:t>
                      </m:r>
                    </m:oMath>
                  </m:oMathPara>
                </a14:m>
                <a:endParaRPr lang="zh-CN" altLang="en-US" dirty="0"/>
              </a:p>
            </p:txBody>
          </p:sp>
        </mc:Choice>
        <mc:Fallback xmlns="">
          <p:sp>
            <p:nvSpPr>
              <p:cNvPr id="80" name="文本框 79">
                <a:extLst>
                  <a:ext uri="{FF2B5EF4-FFF2-40B4-BE49-F238E27FC236}">
                    <a16:creationId xmlns:a16="http://schemas.microsoft.com/office/drawing/2014/main" id="{911894DE-B107-8A7E-7D61-35E8FF630BA8}"/>
                  </a:ext>
                </a:extLst>
              </p:cNvPr>
              <p:cNvSpPr txBox="1">
                <a:spLocks noRot="1" noChangeAspect="1" noMove="1" noResize="1" noEditPoints="1" noAdjustHandles="1" noChangeArrowheads="1" noChangeShapeType="1" noTextEdit="1"/>
              </p:cNvSpPr>
              <p:nvPr/>
            </p:nvSpPr>
            <p:spPr>
              <a:xfrm>
                <a:off x="5076294" y="6240740"/>
                <a:ext cx="2275454" cy="369332"/>
              </a:xfrm>
              <a:prstGeom prst="rect">
                <a:avLst/>
              </a:prstGeom>
              <a:blipFill>
                <a:blip r:embed="rId10"/>
                <a:stretch>
                  <a:fillRect t="-118333" b="-18000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80989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15"/>
                                        </p:tgtEl>
                                      </p:cBhvr>
                                    </p:animEffect>
                                    <p:set>
                                      <p:cBhvr>
                                        <p:cTn id="7" dur="1" fill="hold">
                                          <p:stCondLst>
                                            <p:cond delay="499"/>
                                          </p:stCondLst>
                                        </p:cTn>
                                        <p:tgtEl>
                                          <p:spTgt spid="15"/>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9" dur="500"/>
                                        <p:tgtEl>
                                          <p:spTgt spid="40"/>
                                        </p:tgtEl>
                                      </p:cBhvr>
                                    </p:animEffect>
                                    <p:set>
                                      <p:cBhvr>
                                        <p:cTn id="10" dur="1" fill="hold">
                                          <p:stCondLst>
                                            <p:cond delay="499"/>
                                          </p:stCondLst>
                                        </p:cTn>
                                        <p:tgtEl>
                                          <p:spTgt spid="40"/>
                                        </p:tgtEl>
                                        <p:attrNameLst>
                                          <p:attrName>style.visibility</p:attrName>
                                        </p:attrNameLst>
                                      </p:cBhvr>
                                      <p:to>
                                        <p:strVal val="hidden"/>
                                      </p:to>
                                    </p:set>
                                  </p:childTnLst>
                                </p:cTn>
                              </p:par>
                              <p:par>
                                <p:cTn id="11" presetID="10" presetClass="exit" presetSubtype="0" fill="hold" grpId="0" nodeType="withEffect">
                                  <p:stCondLst>
                                    <p:cond delay="0"/>
                                  </p:stCondLst>
                                  <p:childTnLst>
                                    <p:animEffect transition="out" filter="fade">
                                      <p:cBhvr>
                                        <p:cTn id="12" dur="500"/>
                                        <p:tgtEl>
                                          <p:spTgt spid="43"/>
                                        </p:tgtEl>
                                      </p:cBhvr>
                                    </p:animEffect>
                                    <p:set>
                                      <p:cBhvr>
                                        <p:cTn id="13" dur="1" fill="hold">
                                          <p:stCondLst>
                                            <p:cond delay="499"/>
                                          </p:stCondLst>
                                        </p:cTn>
                                        <p:tgtEl>
                                          <p:spTgt spid="43"/>
                                        </p:tgtEl>
                                        <p:attrNameLst>
                                          <p:attrName>style.visibility</p:attrName>
                                        </p:attrNameLst>
                                      </p:cBhvr>
                                      <p:to>
                                        <p:strVal val="hidden"/>
                                      </p:to>
                                    </p:set>
                                  </p:childTnLst>
                                </p:cTn>
                              </p:par>
                              <p:par>
                                <p:cTn id="14" presetID="10" presetClass="exit" presetSubtype="0" fill="hold" grpId="0" nodeType="withEffect">
                                  <p:stCondLst>
                                    <p:cond delay="0"/>
                                  </p:stCondLst>
                                  <p:childTnLst>
                                    <p:animEffect transition="out" filter="fade">
                                      <p:cBhvr>
                                        <p:cTn id="15" dur="500"/>
                                        <p:tgtEl>
                                          <p:spTgt spid="44"/>
                                        </p:tgtEl>
                                      </p:cBhvr>
                                    </p:animEffect>
                                    <p:set>
                                      <p:cBhvr>
                                        <p:cTn id="16" dur="1" fill="hold">
                                          <p:stCondLst>
                                            <p:cond delay="499"/>
                                          </p:stCondLst>
                                        </p:cTn>
                                        <p:tgtEl>
                                          <p:spTgt spid="44"/>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45"/>
                                        </p:tgtEl>
                                        <p:attrNameLst>
                                          <p:attrName>style.visibility</p:attrName>
                                        </p:attrNameLst>
                                      </p:cBhvr>
                                      <p:to>
                                        <p:strVal val="visible"/>
                                      </p:to>
                                    </p:set>
                                    <p:anim calcmode="lin" valueType="num">
                                      <p:cBhvr additive="base">
                                        <p:cTn id="21" dur="500" fill="hold"/>
                                        <p:tgtEl>
                                          <p:spTgt spid="45"/>
                                        </p:tgtEl>
                                        <p:attrNameLst>
                                          <p:attrName>ppt_x</p:attrName>
                                        </p:attrNameLst>
                                      </p:cBhvr>
                                      <p:tavLst>
                                        <p:tav tm="0">
                                          <p:val>
                                            <p:strVal val="#ppt_x"/>
                                          </p:val>
                                        </p:tav>
                                        <p:tav tm="100000">
                                          <p:val>
                                            <p:strVal val="#ppt_x"/>
                                          </p:val>
                                        </p:tav>
                                      </p:tavLst>
                                    </p:anim>
                                    <p:anim calcmode="lin" valueType="num">
                                      <p:cBhvr additive="base">
                                        <p:cTn id="22" dur="500" fill="hold"/>
                                        <p:tgtEl>
                                          <p:spTgt spid="45"/>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47"/>
                                        </p:tgtEl>
                                        <p:attrNameLst>
                                          <p:attrName>style.visibility</p:attrName>
                                        </p:attrNameLst>
                                      </p:cBhvr>
                                      <p:to>
                                        <p:strVal val="visible"/>
                                      </p:to>
                                    </p:set>
                                    <p:anim calcmode="lin" valueType="num">
                                      <p:cBhvr additive="base">
                                        <p:cTn id="25" dur="500" fill="hold"/>
                                        <p:tgtEl>
                                          <p:spTgt spid="47"/>
                                        </p:tgtEl>
                                        <p:attrNameLst>
                                          <p:attrName>ppt_x</p:attrName>
                                        </p:attrNameLst>
                                      </p:cBhvr>
                                      <p:tavLst>
                                        <p:tav tm="0">
                                          <p:val>
                                            <p:strVal val="#ppt_x"/>
                                          </p:val>
                                        </p:tav>
                                        <p:tav tm="100000">
                                          <p:val>
                                            <p:strVal val="#ppt_x"/>
                                          </p:val>
                                        </p:tav>
                                      </p:tavLst>
                                    </p:anim>
                                    <p:anim calcmode="lin" valueType="num">
                                      <p:cBhvr additive="base">
                                        <p:cTn id="26" dur="500" fill="hold"/>
                                        <p:tgtEl>
                                          <p:spTgt spid="47"/>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48"/>
                                        </p:tgtEl>
                                        <p:attrNameLst>
                                          <p:attrName>style.visibility</p:attrName>
                                        </p:attrNameLst>
                                      </p:cBhvr>
                                      <p:to>
                                        <p:strVal val="visible"/>
                                      </p:to>
                                    </p:set>
                                    <p:anim calcmode="lin" valueType="num">
                                      <p:cBhvr additive="base">
                                        <p:cTn id="29" dur="500" fill="hold"/>
                                        <p:tgtEl>
                                          <p:spTgt spid="48"/>
                                        </p:tgtEl>
                                        <p:attrNameLst>
                                          <p:attrName>ppt_x</p:attrName>
                                        </p:attrNameLst>
                                      </p:cBhvr>
                                      <p:tavLst>
                                        <p:tav tm="0">
                                          <p:val>
                                            <p:strVal val="#ppt_x"/>
                                          </p:val>
                                        </p:tav>
                                        <p:tav tm="100000">
                                          <p:val>
                                            <p:strVal val="#ppt_x"/>
                                          </p:val>
                                        </p:tav>
                                      </p:tavLst>
                                    </p:anim>
                                    <p:anim calcmode="lin" valueType="num">
                                      <p:cBhvr additive="base">
                                        <p:cTn id="30" dur="500" fill="hold"/>
                                        <p:tgtEl>
                                          <p:spTgt spid="48"/>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49"/>
                                        </p:tgtEl>
                                        <p:attrNameLst>
                                          <p:attrName>style.visibility</p:attrName>
                                        </p:attrNameLst>
                                      </p:cBhvr>
                                      <p:to>
                                        <p:strVal val="visible"/>
                                      </p:to>
                                    </p:set>
                                    <p:anim calcmode="lin" valueType="num">
                                      <p:cBhvr additive="base">
                                        <p:cTn id="33" dur="500" fill="hold"/>
                                        <p:tgtEl>
                                          <p:spTgt spid="49"/>
                                        </p:tgtEl>
                                        <p:attrNameLst>
                                          <p:attrName>ppt_x</p:attrName>
                                        </p:attrNameLst>
                                      </p:cBhvr>
                                      <p:tavLst>
                                        <p:tav tm="0">
                                          <p:val>
                                            <p:strVal val="#ppt_x"/>
                                          </p:val>
                                        </p:tav>
                                        <p:tav tm="100000">
                                          <p:val>
                                            <p:strVal val="#ppt_x"/>
                                          </p:val>
                                        </p:tav>
                                      </p:tavLst>
                                    </p:anim>
                                    <p:anim calcmode="lin" valueType="num">
                                      <p:cBhvr additive="base">
                                        <p:cTn id="34" dur="500" fill="hold"/>
                                        <p:tgtEl>
                                          <p:spTgt spid="49"/>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55"/>
                                        </p:tgtEl>
                                        <p:attrNameLst>
                                          <p:attrName>style.visibility</p:attrName>
                                        </p:attrNameLst>
                                      </p:cBhvr>
                                      <p:to>
                                        <p:strVal val="visible"/>
                                      </p:to>
                                    </p:set>
                                    <p:anim calcmode="lin" valueType="num">
                                      <p:cBhvr additive="base">
                                        <p:cTn id="39" dur="500" fill="hold"/>
                                        <p:tgtEl>
                                          <p:spTgt spid="55"/>
                                        </p:tgtEl>
                                        <p:attrNameLst>
                                          <p:attrName>ppt_x</p:attrName>
                                        </p:attrNameLst>
                                      </p:cBhvr>
                                      <p:tavLst>
                                        <p:tav tm="0">
                                          <p:val>
                                            <p:strVal val="#ppt_x"/>
                                          </p:val>
                                        </p:tav>
                                        <p:tav tm="100000">
                                          <p:val>
                                            <p:strVal val="#ppt_x"/>
                                          </p:val>
                                        </p:tav>
                                      </p:tavLst>
                                    </p:anim>
                                    <p:anim calcmode="lin" valueType="num">
                                      <p:cBhvr additive="base">
                                        <p:cTn id="40" dur="500" fill="hold"/>
                                        <p:tgtEl>
                                          <p:spTgt spid="55"/>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56"/>
                                        </p:tgtEl>
                                        <p:attrNameLst>
                                          <p:attrName>style.visibility</p:attrName>
                                        </p:attrNameLst>
                                      </p:cBhvr>
                                      <p:to>
                                        <p:strVal val="visible"/>
                                      </p:to>
                                    </p:set>
                                    <p:anim calcmode="lin" valueType="num">
                                      <p:cBhvr additive="base">
                                        <p:cTn id="43" dur="500" fill="hold"/>
                                        <p:tgtEl>
                                          <p:spTgt spid="56"/>
                                        </p:tgtEl>
                                        <p:attrNameLst>
                                          <p:attrName>ppt_x</p:attrName>
                                        </p:attrNameLst>
                                      </p:cBhvr>
                                      <p:tavLst>
                                        <p:tav tm="0">
                                          <p:val>
                                            <p:strVal val="#ppt_x"/>
                                          </p:val>
                                        </p:tav>
                                        <p:tav tm="100000">
                                          <p:val>
                                            <p:strVal val="#ppt_x"/>
                                          </p:val>
                                        </p:tav>
                                      </p:tavLst>
                                    </p:anim>
                                    <p:anim calcmode="lin" valueType="num">
                                      <p:cBhvr additive="base">
                                        <p:cTn id="44" dur="500" fill="hold"/>
                                        <p:tgtEl>
                                          <p:spTgt spid="56"/>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57"/>
                                        </p:tgtEl>
                                        <p:attrNameLst>
                                          <p:attrName>style.visibility</p:attrName>
                                        </p:attrNameLst>
                                      </p:cBhvr>
                                      <p:to>
                                        <p:strVal val="visible"/>
                                      </p:to>
                                    </p:set>
                                    <p:anim calcmode="lin" valueType="num">
                                      <p:cBhvr additive="base">
                                        <p:cTn id="47" dur="500" fill="hold"/>
                                        <p:tgtEl>
                                          <p:spTgt spid="57"/>
                                        </p:tgtEl>
                                        <p:attrNameLst>
                                          <p:attrName>ppt_x</p:attrName>
                                        </p:attrNameLst>
                                      </p:cBhvr>
                                      <p:tavLst>
                                        <p:tav tm="0">
                                          <p:val>
                                            <p:strVal val="#ppt_x"/>
                                          </p:val>
                                        </p:tav>
                                        <p:tav tm="100000">
                                          <p:val>
                                            <p:strVal val="#ppt_x"/>
                                          </p:val>
                                        </p:tav>
                                      </p:tavLst>
                                    </p:anim>
                                    <p:anim calcmode="lin" valueType="num">
                                      <p:cBhvr additive="base">
                                        <p:cTn id="48" dur="500" fill="hold"/>
                                        <p:tgtEl>
                                          <p:spTgt spid="57"/>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58"/>
                                        </p:tgtEl>
                                        <p:attrNameLst>
                                          <p:attrName>style.visibility</p:attrName>
                                        </p:attrNameLst>
                                      </p:cBhvr>
                                      <p:to>
                                        <p:strVal val="visible"/>
                                      </p:to>
                                    </p:set>
                                    <p:anim calcmode="lin" valueType="num">
                                      <p:cBhvr additive="base">
                                        <p:cTn id="51" dur="500" fill="hold"/>
                                        <p:tgtEl>
                                          <p:spTgt spid="58"/>
                                        </p:tgtEl>
                                        <p:attrNameLst>
                                          <p:attrName>ppt_x</p:attrName>
                                        </p:attrNameLst>
                                      </p:cBhvr>
                                      <p:tavLst>
                                        <p:tav tm="0">
                                          <p:val>
                                            <p:strVal val="#ppt_x"/>
                                          </p:val>
                                        </p:tav>
                                        <p:tav tm="100000">
                                          <p:val>
                                            <p:strVal val="#ppt_x"/>
                                          </p:val>
                                        </p:tav>
                                      </p:tavLst>
                                    </p:anim>
                                    <p:anim calcmode="lin" valueType="num">
                                      <p:cBhvr additive="base">
                                        <p:cTn id="52" dur="500" fill="hold"/>
                                        <p:tgtEl>
                                          <p:spTgt spid="58"/>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59"/>
                                        </p:tgtEl>
                                        <p:attrNameLst>
                                          <p:attrName>style.visibility</p:attrName>
                                        </p:attrNameLst>
                                      </p:cBhvr>
                                      <p:to>
                                        <p:strVal val="visible"/>
                                      </p:to>
                                    </p:set>
                                    <p:anim calcmode="lin" valueType="num">
                                      <p:cBhvr additive="base">
                                        <p:cTn id="55" dur="500" fill="hold"/>
                                        <p:tgtEl>
                                          <p:spTgt spid="59"/>
                                        </p:tgtEl>
                                        <p:attrNameLst>
                                          <p:attrName>ppt_x</p:attrName>
                                        </p:attrNameLst>
                                      </p:cBhvr>
                                      <p:tavLst>
                                        <p:tav tm="0">
                                          <p:val>
                                            <p:strVal val="#ppt_x"/>
                                          </p:val>
                                        </p:tav>
                                        <p:tav tm="100000">
                                          <p:val>
                                            <p:strVal val="#ppt_x"/>
                                          </p:val>
                                        </p:tav>
                                      </p:tavLst>
                                    </p:anim>
                                    <p:anim calcmode="lin" valueType="num">
                                      <p:cBhvr additive="base">
                                        <p:cTn id="56" dur="500" fill="hold"/>
                                        <p:tgtEl>
                                          <p:spTgt spid="59"/>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60"/>
                                        </p:tgtEl>
                                        <p:attrNameLst>
                                          <p:attrName>style.visibility</p:attrName>
                                        </p:attrNameLst>
                                      </p:cBhvr>
                                      <p:to>
                                        <p:strVal val="visible"/>
                                      </p:to>
                                    </p:set>
                                    <p:anim calcmode="lin" valueType="num">
                                      <p:cBhvr additive="base">
                                        <p:cTn id="59" dur="500" fill="hold"/>
                                        <p:tgtEl>
                                          <p:spTgt spid="60"/>
                                        </p:tgtEl>
                                        <p:attrNameLst>
                                          <p:attrName>ppt_x</p:attrName>
                                        </p:attrNameLst>
                                      </p:cBhvr>
                                      <p:tavLst>
                                        <p:tav tm="0">
                                          <p:val>
                                            <p:strVal val="#ppt_x"/>
                                          </p:val>
                                        </p:tav>
                                        <p:tav tm="100000">
                                          <p:val>
                                            <p:strVal val="#ppt_x"/>
                                          </p:val>
                                        </p:tav>
                                      </p:tavLst>
                                    </p:anim>
                                    <p:anim calcmode="lin" valueType="num">
                                      <p:cBhvr additive="base">
                                        <p:cTn id="60" dur="500" fill="hold"/>
                                        <p:tgtEl>
                                          <p:spTgt spid="60"/>
                                        </p:tgtEl>
                                        <p:attrNameLst>
                                          <p:attrName>ppt_y</p:attrName>
                                        </p:attrNameLst>
                                      </p:cBhvr>
                                      <p:tavLst>
                                        <p:tav tm="0">
                                          <p:val>
                                            <p:strVal val="1+#ppt_h/2"/>
                                          </p:val>
                                        </p:tav>
                                        <p:tav tm="100000">
                                          <p:val>
                                            <p:strVal val="#ppt_y"/>
                                          </p:val>
                                        </p:tav>
                                      </p:tavLst>
                                    </p:anim>
                                  </p:childTnLst>
                                </p:cTn>
                              </p:par>
                              <p:par>
                                <p:cTn id="61" presetID="2" presetClass="entr" presetSubtype="4" fill="hold" nodeType="withEffect">
                                  <p:stCondLst>
                                    <p:cond delay="0"/>
                                  </p:stCondLst>
                                  <p:childTnLst>
                                    <p:set>
                                      <p:cBhvr>
                                        <p:cTn id="62" dur="1" fill="hold">
                                          <p:stCondLst>
                                            <p:cond delay="0"/>
                                          </p:stCondLst>
                                        </p:cTn>
                                        <p:tgtEl>
                                          <p:spTgt spid="54"/>
                                        </p:tgtEl>
                                        <p:attrNameLst>
                                          <p:attrName>style.visibility</p:attrName>
                                        </p:attrNameLst>
                                      </p:cBhvr>
                                      <p:to>
                                        <p:strVal val="visible"/>
                                      </p:to>
                                    </p:set>
                                    <p:anim calcmode="lin" valueType="num">
                                      <p:cBhvr additive="base">
                                        <p:cTn id="63" dur="500" fill="hold"/>
                                        <p:tgtEl>
                                          <p:spTgt spid="54"/>
                                        </p:tgtEl>
                                        <p:attrNameLst>
                                          <p:attrName>ppt_x</p:attrName>
                                        </p:attrNameLst>
                                      </p:cBhvr>
                                      <p:tavLst>
                                        <p:tav tm="0">
                                          <p:val>
                                            <p:strVal val="#ppt_x"/>
                                          </p:val>
                                        </p:tav>
                                        <p:tav tm="100000">
                                          <p:val>
                                            <p:strVal val="#ppt_x"/>
                                          </p:val>
                                        </p:tav>
                                      </p:tavLst>
                                    </p:anim>
                                    <p:anim calcmode="lin" valueType="num">
                                      <p:cBhvr additive="base">
                                        <p:cTn id="64" dur="500" fill="hold"/>
                                        <p:tgtEl>
                                          <p:spTgt spid="54"/>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61"/>
                                        </p:tgtEl>
                                        <p:attrNameLst>
                                          <p:attrName>style.visibility</p:attrName>
                                        </p:attrNameLst>
                                      </p:cBhvr>
                                      <p:to>
                                        <p:strVal val="visible"/>
                                      </p:to>
                                    </p:set>
                                    <p:animEffect transition="in" filter="fade">
                                      <p:cBhvr>
                                        <p:cTn id="69" dur="500"/>
                                        <p:tgtEl>
                                          <p:spTgt spid="61"/>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62"/>
                                        </p:tgtEl>
                                        <p:attrNameLst>
                                          <p:attrName>style.visibility</p:attrName>
                                        </p:attrNameLst>
                                      </p:cBhvr>
                                      <p:to>
                                        <p:strVal val="visible"/>
                                      </p:to>
                                    </p:set>
                                    <p:animEffect transition="in" filter="fade">
                                      <p:cBhvr>
                                        <p:cTn id="72" dur="500"/>
                                        <p:tgtEl>
                                          <p:spTgt spid="62"/>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63"/>
                                        </p:tgtEl>
                                        <p:attrNameLst>
                                          <p:attrName>style.visibility</p:attrName>
                                        </p:attrNameLst>
                                      </p:cBhvr>
                                      <p:to>
                                        <p:strVal val="visible"/>
                                      </p:to>
                                    </p:set>
                                    <p:animEffect transition="in" filter="fade">
                                      <p:cBhvr>
                                        <p:cTn id="75" dur="500"/>
                                        <p:tgtEl>
                                          <p:spTgt spid="63"/>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64"/>
                                        </p:tgtEl>
                                        <p:attrNameLst>
                                          <p:attrName>style.visibility</p:attrName>
                                        </p:attrNameLst>
                                      </p:cBhvr>
                                      <p:to>
                                        <p:strVal val="visible"/>
                                      </p:to>
                                    </p:set>
                                    <p:animEffect transition="in" filter="fade">
                                      <p:cBhvr>
                                        <p:cTn id="78" dur="500"/>
                                        <p:tgtEl>
                                          <p:spTgt spid="64"/>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65"/>
                                        </p:tgtEl>
                                        <p:attrNameLst>
                                          <p:attrName>style.visibility</p:attrName>
                                        </p:attrNameLst>
                                      </p:cBhvr>
                                      <p:to>
                                        <p:strVal val="visible"/>
                                      </p:to>
                                    </p:set>
                                    <p:animEffect transition="in" filter="fade">
                                      <p:cBhvr>
                                        <p:cTn id="81" dur="500"/>
                                        <p:tgtEl>
                                          <p:spTgt spid="65"/>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66"/>
                                        </p:tgtEl>
                                        <p:attrNameLst>
                                          <p:attrName>style.visibility</p:attrName>
                                        </p:attrNameLst>
                                      </p:cBhvr>
                                      <p:to>
                                        <p:strVal val="visible"/>
                                      </p:to>
                                    </p:set>
                                    <p:animEffect transition="in" filter="fade">
                                      <p:cBhvr>
                                        <p:cTn id="84" dur="500"/>
                                        <p:tgtEl>
                                          <p:spTgt spid="66"/>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67"/>
                                        </p:tgtEl>
                                        <p:attrNameLst>
                                          <p:attrName>style.visibility</p:attrName>
                                        </p:attrNameLst>
                                      </p:cBhvr>
                                      <p:to>
                                        <p:strVal val="visible"/>
                                      </p:to>
                                    </p:set>
                                    <p:animEffect transition="in" filter="fade">
                                      <p:cBhvr>
                                        <p:cTn id="87" dur="500"/>
                                        <p:tgtEl>
                                          <p:spTgt spid="67"/>
                                        </p:tgtEl>
                                      </p:cBhvr>
                                    </p:animEffect>
                                  </p:childTnLst>
                                </p:cTn>
                              </p:par>
                            </p:childTnLst>
                          </p:cTn>
                        </p:par>
                      </p:childTnLst>
                    </p:cTn>
                  </p:par>
                  <p:par>
                    <p:cTn id="88" fill="hold">
                      <p:stCondLst>
                        <p:cond delay="indefinite"/>
                      </p:stCondLst>
                      <p:childTnLst>
                        <p:par>
                          <p:cTn id="89" fill="hold">
                            <p:stCondLst>
                              <p:cond delay="0"/>
                            </p:stCondLst>
                            <p:childTnLst>
                              <p:par>
                                <p:cTn id="90" presetID="42" presetClass="entr" presetSubtype="0" fill="hold" nodeType="clickEffect">
                                  <p:stCondLst>
                                    <p:cond delay="0"/>
                                  </p:stCondLst>
                                  <p:childTnLst>
                                    <p:set>
                                      <p:cBhvr>
                                        <p:cTn id="91" dur="1" fill="hold">
                                          <p:stCondLst>
                                            <p:cond delay="0"/>
                                          </p:stCondLst>
                                        </p:cTn>
                                        <p:tgtEl>
                                          <p:spTgt spid="68"/>
                                        </p:tgtEl>
                                        <p:attrNameLst>
                                          <p:attrName>style.visibility</p:attrName>
                                        </p:attrNameLst>
                                      </p:cBhvr>
                                      <p:to>
                                        <p:strVal val="visible"/>
                                      </p:to>
                                    </p:set>
                                    <p:animEffect transition="in" filter="fade">
                                      <p:cBhvr>
                                        <p:cTn id="92" dur="1000"/>
                                        <p:tgtEl>
                                          <p:spTgt spid="68"/>
                                        </p:tgtEl>
                                      </p:cBhvr>
                                    </p:animEffect>
                                    <p:anim calcmode="lin" valueType="num">
                                      <p:cBhvr>
                                        <p:cTn id="93" dur="1000" fill="hold"/>
                                        <p:tgtEl>
                                          <p:spTgt spid="68"/>
                                        </p:tgtEl>
                                        <p:attrNameLst>
                                          <p:attrName>ppt_x</p:attrName>
                                        </p:attrNameLst>
                                      </p:cBhvr>
                                      <p:tavLst>
                                        <p:tav tm="0">
                                          <p:val>
                                            <p:strVal val="#ppt_x"/>
                                          </p:val>
                                        </p:tav>
                                        <p:tav tm="100000">
                                          <p:val>
                                            <p:strVal val="#ppt_x"/>
                                          </p:val>
                                        </p:tav>
                                      </p:tavLst>
                                    </p:anim>
                                    <p:anim calcmode="lin" valueType="num">
                                      <p:cBhvr>
                                        <p:cTn id="94" dur="1000" fill="hold"/>
                                        <p:tgtEl>
                                          <p:spTgt spid="68"/>
                                        </p:tgtEl>
                                        <p:attrNameLst>
                                          <p:attrName>ppt_y</p:attrName>
                                        </p:attrNameLst>
                                      </p:cBhvr>
                                      <p:tavLst>
                                        <p:tav tm="0">
                                          <p:val>
                                            <p:strVal val="#ppt_y+.1"/>
                                          </p:val>
                                        </p:tav>
                                        <p:tav tm="100000">
                                          <p:val>
                                            <p:strVal val="#ppt_y"/>
                                          </p:val>
                                        </p:tav>
                                      </p:tavLst>
                                    </p:anim>
                                  </p:childTnLst>
                                </p:cTn>
                              </p:par>
                            </p:childTnLst>
                          </p:cTn>
                        </p:par>
                      </p:childTnLst>
                    </p:cTn>
                  </p:par>
                  <p:par>
                    <p:cTn id="95" fill="hold">
                      <p:stCondLst>
                        <p:cond delay="indefinite"/>
                      </p:stCondLst>
                      <p:childTnLst>
                        <p:par>
                          <p:cTn id="96" fill="hold">
                            <p:stCondLst>
                              <p:cond delay="0"/>
                            </p:stCondLst>
                            <p:childTnLst>
                              <p:par>
                                <p:cTn id="97" presetID="10" presetClass="entr" presetSubtype="0" fill="hold" grpId="0" nodeType="clickEffect">
                                  <p:stCondLst>
                                    <p:cond delay="0"/>
                                  </p:stCondLst>
                                  <p:childTnLst>
                                    <p:set>
                                      <p:cBhvr>
                                        <p:cTn id="98" dur="1" fill="hold">
                                          <p:stCondLst>
                                            <p:cond delay="0"/>
                                          </p:stCondLst>
                                        </p:cTn>
                                        <p:tgtEl>
                                          <p:spTgt spid="72"/>
                                        </p:tgtEl>
                                        <p:attrNameLst>
                                          <p:attrName>style.visibility</p:attrName>
                                        </p:attrNameLst>
                                      </p:cBhvr>
                                      <p:to>
                                        <p:strVal val="visible"/>
                                      </p:to>
                                    </p:set>
                                    <p:animEffect transition="in" filter="fade">
                                      <p:cBhvr>
                                        <p:cTn id="99" dur="500"/>
                                        <p:tgtEl>
                                          <p:spTgt spid="72"/>
                                        </p:tgtEl>
                                      </p:cBhvr>
                                    </p:animEffect>
                                  </p:childTnLst>
                                </p:cTn>
                              </p:par>
                              <p:par>
                                <p:cTn id="100" presetID="10" presetClass="entr" presetSubtype="0" fill="hold" nodeType="withEffect">
                                  <p:stCondLst>
                                    <p:cond delay="0"/>
                                  </p:stCondLst>
                                  <p:childTnLst>
                                    <p:set>
                                      <p:cBhvr>
                                        <p:cTn id="101" dur="1" fill="hold">
                                          <p:stCondLst>
                                            <p:cond delay="0"/>
                                          </p:stCondLst>
                                        </p:cTn>
                                        <p:tgtEl>
                                          <p:spTgt spid="76"/>
                                        </p:tgtEl>
                                        <p:attrNameLst>
                                          <p:attrName>style.visibility</p:attrName>
                                        </p:attrNameLst>
                                      </p:cBhvr>
                                      <p:to>
                                        <p:strVal val="visible"/>
                                      </p:to>
                                    </p:set>
                                    <p:animEffect transition="in" filter="fade">
                                      <p:cBhvr>
                                        <p:cTn id="102" dur="500"/>
                                        <p:tgtEl>
                                          <p:spTgt spid="76"/>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77"/>
                                        </p:tgtEl>
                                        <p:attrNameLst>
                                          <p:attrName>style.visibility</p:attrName>
                                        </p:attrNameLst>
                                      </p:cBhvr>
                                      <p:to>
                                        <p:strVal val="visible"/>
                                      </p:to>
                                    </p:set>
                                    <p:animEffect transition="in" filter="fade">
                                      <p:cBhvr>
                                        <p:cTn id="105" dur="500"/>
                                        <p:tgtEl>
                                          <p:spTgt spid="77"/>
                                        </p:tgtEl>
                                      </p:cBhvr>
                                    </p:animEffect>
                                  </p:childTnLst>
                                </p:cTn>
                              </p:par>
                            </p:childTnLst>
                          </p:cTn>
                        </p:par>
                      </p:childTnLst>
                    </p:cTn>
                  </p:par>
                  <p:par>
                    <p:cTn id="106" fill="hold">
                      <p:stCondLst>
                        <p:cond delay="indefinite"/>
                      </p:stCondLst>
                      <p:childTnLst>
                        <p:par>
                          <p:cTn id="107" fill="hold">
                            <p:stCondLst>
                              <p:cond delay="0"/>
                            </p:stCondLst>
                            <p:childTnLst>
                              <p:par>
                                <p:cTn id="108" presetID="42" presetClass="entr" presetSubtype="0" fill="hold" grpId="0" nodeType="clickEffect">
                                  <p:stCondLst>
                                    <p:cond delay="0"/>
                                  </p:stCondLst>
                                  <p:childTnLst>
                                    <p:set>
                                      <p:cBhvr>
                                        <p:cTn id="109" dur="1" fill="hold">
                                          <p:stCondLst>
                                            <p:cond delay="0"/>
                                          </p:stCondLst>
                                        </p:cTn>
                                        <p:tgtEl>
                                          <p:spTgt spid="79"/>
                                        </p:tgtEl>
                                        <p:attrNameLst>
                                          <p:attrName>style.visibility</p:attrName>
                                        </p:attrNameLst>
                                      </p:cBhvr>
                                      <p:to>
                                        <p:strVal val="visible"/>
                                      </p:to>
                                    </p:set>
                                    <p:animEffect transition="in" filter="fade">
                                      <p:cBhvr>
                                        <p:cTn id="110" dur="1000"/>
                                        <p:tgtEl>
                                          <p:spTgt spid="79"/>
                                        </p:tgtEl>
                                      </p:cBhvr>
                                    </p:animEffect>
                                    <p:anim calcmode="lin" valueType="num">
                                      <p:cBhvr>
                                        <p:cTn id="111" dur="1000" fill="hold"/>
                                        <p:tgtEl>
                                          <p:spTgt spid="79"/>
                                        </p:tgtEl>
                                        <p:attrNameLst>
                                          <p:attrName>ppt_x</p:attrName>
                                        </p:attrNameLst>
                                      </p:cBhvr>
                                      <p:tavLst>
                                        <p:tav tm="0">
                                          <p:val>
                                            <p:strVal val="#ppt_x"/>
                                          </p:val>
                                        </p:tav>
                                        <p:tav tm="100000">
                                          <p:val>
                                            <p:strVal val="#ppt_x"/>
                                          </p:val>
                                        </p:tav>
                                      </p:tavLst>
                                    </p:anim>
                                    <p:anim calcmode="lin" valueType="num">
                                      <p:cBhvr>
                                        <p:cTn id="112" dur="1000" fill="hold"/>
                                        <p:tgtEl>
                                          <p:spTgt spid="79"/>
                                        </p:tgtEl>
                                        <p:attrNameLst>
                                          <p:attrName>ppt_y</p:attrName>
                                        </p:attrNameLst>
                                      </p:cBhvr>
                                      <p:tavLst>
                                        <p:tav tm="0">
                                          <p:val>
                                            <p:strVal val="#ppt_y+.1"/>
                                          </p:val>
                                        </p:tav>
                                        <p:tav tm="100000">
                                          <p:val>
                                            <p:strVal val="#ppt_y"/>
                                          </p:val>
                                        </p:tav>
                                      </p:tavLst>
                                    </p:anim>
                                  </p:childTnLst>
                                </p:cTn>
                              </p:par>
                              <p:par>
                                <p:cTn id="113" presetID="42" presetClass="entr" presetSubtype="0" fill="hold" grpId="0" nodeType="withEffect">
                                  <p:stCondLst>
                                    <p:cond delay="0"/>
                                  </p:stCondLst>
                                  <p:childTnLst>
                                    <p:set>
                                      <p:cBhvr>
                                        <p:cTn id="114" dur="1" fill="hold">
                                          <p:stCondLst>
                                            <p:cond delay="0"/>
                                          </p:stCondLst>
                                        </p:cTn>
                                        <p:tgtEl>
                                          <p:spTgt spid="80"/>
                                        </p:tgtEl>
                                        <p:attrNameLst>
                                          <p:attrName>style.visibility</p:attrName>
                                        </p:attrNameLst>
                                      </p:cBhvr>
                                      <p:to>
                                        <p:strVal val="visible"/>
                                      </p:to>
                                    </p:set>
                                    <p:animEffect transition="in" filter="fade">
                                      <p:cBhvr>
                                        <p:cTn id="115" dur="1000"/>
                                        <p:tgtEl>
                                          <p:spTgt spid="80"/>
                                        </p:tgtEl>
                                      </p:cBhvr>
                                    </p:animEffect>
                                    <p:anim calcmode="lin" valueType="num">
                                      <p:cBhvr>
                                        <p:cTn id="116" dur="1000" fill="hold"/>
                                        <p:tgtEl>
                                          <p:spTgt spid="80"/>
                                        </p:tgtEl>
                                        <p:attrNameLst>
                                          <p:attrName>ppt_x</p:attrName>
                                        </p:attrNameLst>
                                      </p:cBhvr>
                                      <p:tavLst>
                                        <p:tav tm="0">
                                          <p:val>
                                            <p:strVal val="#ppt_x"/>
                                          </p:val>
                                        </p:tav>
                                        <p:tav tm="100000">
                                          <p:val>
                                            <p:strVal val="#ppt_x"/>
                                          </p:val>
                                        </p:tav>
                                      </p:tavLst>
                                    </p:anim>
                                    <p:anim calcmode="lin" valueType="num">
                                      <p:cBhvr>
                                        <p:cTn id="117" dur="1000" fill="hold"/>
                                        <p:tgtEl>
                                          <p:spTgt spid="8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4" grpId="0"/>
      <p:bldP spid="48" grpId="0" animBg="1"/>
      <p:bldP spid="49" grpId="0"/>
      <p:bldP spid="55" grpId="0" animBg="1"/>
      <p:bldP spid="56" grpId="0"/>
      <p:bldP spid="57" grpId="0"/>
      <p:bldP spid="58" grpId="0"/>
      <p:bldP spid="59" grpId="0" animBg="1"/>
      <p:bldP spid="60" grpId="0" animBg="1"/>
      <p:bldP spid="62" grpId="0" animBg="1"/>
      <p:bldP spid="63" grpId="0"/>
      <p:bldP spid="64" grpId="0"/>
      <p:bldP spid="65" grpId="0"/>
      <p:bldP spid="66" grpId="0" animBg="1"/>
      <p:bldP spid="67" grpId="0" animBg="1"/>
      <p:bldP spid="72" grpId="0" animBg="1"/>
      <p:bldP spid="77" grpId="0" animBg="1"/>
      <p:bldP spid="79" grpId="0"/>
      <p:bldP spid="8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94A392-1838-BEBB-6959-3DB833D4612E}"/>
            </a:ext>
          </a:extLst>
        </p:cNvPr>
        <p:cNvGrpSpPr/>
        <p:nvPr/>
      </p:nvGrpSpPr>
      <p:grpSpPr>
        <a:xfrm>
          <a:off x="0" y="0"/>
          <a:ext cx="0" cy="0"/>
          <a:chOff x="0" y="0"/>
          <a:chExt cx="0" cy="0"/>
        </a:xfrm>
      </p:grpSpPr>
      <p:pic>
        <p:nvPicPr>
          <p:cNvPr id="5" name="图片 4">
            <a:extLst>
              <a:ext uri="{FF2B5EF4-FFF2-40B4-BE49-F238E27FC236}">
                <a16:creationId xmlns:a16="http://schemas.microsoft.com/office/drawing/2014/main" id="{7D711933-15AA-0894-B542-516FE8E8B9C6}"/>
              </a:ext>
            </a:extLst>
          </p:cNvPr>
          <p:cNvPicPr>
            <a:picLocks noChangeAspect="1"/>
          </p:cNvPicPr>
          <p:nvPr/>
        </p:nvPicPr>
        <p:blipFill>
          <a:blip r:embed="rId3"/>
          <a:stretch>
            <a:fillRect/>
          </a:stretch>
        </p:blipFill>
        <p:spPr>
          <a:xfrm>
            <a:off x="11419972" y="99001"/>
            <a:ext cx="513560" cy="513560"/>
          </a:xfrm>
          <a:prstGeom prst="rect">
            <a:avLst/>
          </a:prstGeom>
        </p:spPr>
      </p:pic>
      <p:sp>
        <p:nvSpPr>
          <p:cNvPr id="6" name="文本框 5">
            <a:extLst>
              <a:ext uri="{FF2B5EF4-FFF2-40B4-BE49-F238E27FC236}">
                <a16:creationId xmlns:a16="http://schemas.microsoft.com/office/drawing/2014/main" id="{F5D86703-46D0-CD21-3AFF-7F7C032E69A8}"/>
              </a:ext>
            </a:extLst>
          </p:cNvPr>
          <p:cNvSpPr txBox="1"/>
          <p:nvPr/>
        </p:nvSpPr>
        <p:spPr>
          <a:xfrm>
            <a:off x="10280223" y="274007"/>
            <a:ext cx="1653309" cy="338554"/>
          </a:xfrm>
          <a:prstGeom prst="rect">
            <a:avLst/>
          </a:prstGeom>
          <a:noFill/>
        </p:spPr>
        <p:txBody>
          <a:bodyPr wrap="square" rtlCol="0">
            <a:spAutoFit/>
          </a:bodyPr>
          <a:lstStyle/>
          <a:p>
            <a:r>
              <a:rPr lang="zh-CN" altLang="en-US" sz="1600" b="1" dirty="0">
                <a:solidFill>
                  <a:srgbClr val="0070C0"/>
                </a:solidFill>
                <a:latin typeface="微软雅黑" panose="020B0503020204020204" pitchFamily="34" charset="-122"/>
                <a:ea typeface="微软雅黑" panose="020B0503020204020204" pitchFamily="34" charset="-122"/>
              </a:rPr>
              <a:t>酸沙柠檬</a:t>
            </a:r>
          </a:p>
        </p:txBody>
      </p:sp>
      <p:sp>
        <p:nvSpPr>
          <p:cNvPr id="7" name="矩形 6">
            <a:extLst>
              <a:ext uri="{FF2B5EF4-FFF2-40B4-BE49-F238E27FC236}">
                <a16:creationId xmlns:a16="http://schemas.microsoft.com/office/drawing/2014/main" id="{9D6B0552-9FD2-65A0-1CFE-ABC1477583CD}"/>
              </a:ext>
            </a:extLst>
          </p:cNvPr>
          <p:cNvSpPr/>
          <p:nvPr/>
        </p:nvSpPr>
        <p:spPr>
          <a:xfrm>
            <a:off x="9517283" y="704440"/>
            <a:ext cx="2416249" cy="83127"/>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2FF0E5AB-A3B9-BB55-CE45-69A2A1C048C6}"/>
              </a:ext>
            </a:extLst>
          </p:cNvPr>
          <p:cNvSpPr txBox="1"/>
          <p:nvPr/>
        </p:nvSpPr>
        <p:spPr>
          <a:xfrm>
            <a:off x="0" y="2093328"/>
            <a:ext cx="12192000" cy="633187"/>
          </a:xfrm>
          <a:prstGeom prst="rect">
            <a:avLst/>
          </a:prstGeom>
          <a:noFill/>
        </p:spPr>
        <p:txBody>
          <a:bodyPr wrap="square" rtlCol="0">
            <a:spAutoFit/>
          </a:bodyPr>
          <a:lstStyle/>
          <a:p>
            <a:pPr algn="ctr">
              <a:lnSpc>
                <a:spcPct val="120000"/>
              </a:lnSpc>
            </a:pPr>
            <a:r>
              <a:rPr lang="zh-CN" altLang="en-US" sz="3200" b="1" dirty="0">
                <a:latin typeface="微软雅黑" panose="020B0503020204020204" pitchFamily="34" charset="-122"/>
                <a:ea typeface="微软雅黑" panose="020B0503020204020204" pitchFamily="34" charset="-122"/>
              </a:rPr>
              <a:t>谢 谢 观 看</a:t>
            </a:r>
          </a:p>
        </p:txBody>
      </p:sp>
      <p:sp>
        <p:nvSpPr>
          <p:cNvPr id="4" name="文本框 3">
            <a:extLst>
              <a:ext uri="{FF2B5EF4-FFF2-40B4-BE49-F238E27FC236}">
                <a16:creationId xmlns:a16="http://schemas.microsoft.com/office/drawing/2014/main" id="{D1542274-54C9-D736-453D-8729E1837CE9}"/>
              </a:ext>
            </a:extLst>
          </p:cNvPr>
          <p:cNvSpPr txBox="1"/>
          <p:nvPr/>
        </p:nvSpPr>
        <p:spPr>
          <a:xfrm>
            <a:off x="0" y="5463354"/>
            <a:ext cx="12192000" cy="338554"/>
          </a:xfrm>
          <a:prstGeom prst="rect">
            <a:avLst/>
          </a:prstGeom>
          <a:noFill/>
        </p:spPr>
        <p:txBody>
          <a:bodyPr wrap="square" rtlCol="0">
            <a:spAutoFit/>
          </a:bodyPr>
          <a:lstStyle/>
          <a:p>
            <a:pPr algn="ctr"/>
            <a:r>
              <a:rPr lang="zh-CN" altLang="en-US" sz="1600" dirty="0">
                <a:latin typeface="微软雅黑" panose="020B0503020204020204" pitchFamily="34" charset="-122"/>
                <a:ea typeface="微软雅黑" panose="020B0503020204020204" pitchFamily="34" charset="-122"/>
              </a:rPr>
              <a:t>酸沙柠檬出品</a:t>
            </a:r>
          </a:p>
        </p:txBody>
      </p:sp>
    </p:spTree>
    <p:extLst>
      <p:ext uri="{BB962C8B-B14F-4D97-AF65-F5344CB8AC3E}">
        <p14:creationId xmlns:p14="http://schemas.microsoft.com/office/powerpoint/2010/main" val="3175026087"/>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4215</TotalTime>
  <Words>4417</Words>
  <Application>Microsoft Office PowerPoint</Application>
  <PresentationFormat>宽屏</PresentationFormat>
  <Paragraphs>553</Paragraphs>
  <Slides>12</Slides>
  <Notes>12</Notes>
  <HiddenSlides>0</HiddenSlides>
  <MMClips>1</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12</vt:i4>
      </vt:variant>
    </vt:vector>
  </HeadingPairs>
  <TitlesOfParts>
    <vt:vector size="18" baseType="lpstr">
      <vt:lpstr>等线</vt:lpstr>
      <vt:lpstr>等线 Light</vt:lpstr>
      <vt:lpstr>微软雅黑</vt:lpstr>
      <vt:lpstr>Arial</vt:lpstr>
      <vt:lpstr>Cambria Math</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浩杰 冯</dc:creator>
  <cp:lastModifiedBy>浩杰 冯</cp:lastModifiedBy>
  <cp:revision>12</cp:revision>
  <dcterms:created xsi:type="dcterms:W3CDTF">2026-04-25T02:04:39Z</dcterms:created>
  <dcterms:modified xsi:type="dcterms:W3CDTF">2026-05-05T12:12:12Z</dcterms:modified>
</cp:coreProperties>
</file>